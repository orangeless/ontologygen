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61" r:id="rId11"/>
    <p:sldId id="262" r:id="rId12"/>
    <p:sldId id="257" r:id="rId7"/>
    <p:sldId id="263" r:id="rId13"/>
    <p:sldId id="264" r:id="rId14"/>
    <p:sldId id="265" r:id="rId15"/>
    <p:sldId id="266" r:id="rId16"/>
    <p:sldId id="267" r:id="rId17"/>
    <p:sldId id="258" r:id="rId8"/>
    <p:sldId id="268" r:id="rId18"/>
    <p:sldId id="259" r:id="rId9"/>
    <p:sldId id="269" r:id="rId19"/>
    <p:sldId id="260" r:id="rId10"/>
    <p:sldId id="273" r:id="rId23"/>
    <p:sldId id="274" r:id="rId24"/>
    <p:sldId id="270" r:id="rId20"/>
    <p:sldId id="271" r:id="rId21"/>
    <p:sldId id="272" r:id="rId22"/>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This project (WBA, DeepSeek V4 Flash)</a:t>
            </a:r>
          </a:p>
        </c:rich>
      </c:tx>
      <c:layout/>
      <c:overlay val="0"/>
    </c:title>
    <c:autoTitleDeleted val="0"/>
    <c:plotArea>
      <c:barChart>
        <c:barDir val="col"/>
        <c:grouping val="clustered"/>
        <c:ser>
          <c:idx val="0"/>
          <c:order val="0"/>
          <c:tx>
            <c:strRef>
              <c:f>Sheet1!$B$1</c:f>
              <c:strCache>
                <c:ptCount val="1"/>
                <c:pt idx="0">
                  <c:v>Processed SPARQL CQ coverage</c:v>
                </c:pt>
              </c:strCache>
            </c:strRef>
          </c:tx>
          <c:spPr>
            <a:solidFill>
              <a:srgbClr val="058DC7"/>
            </a:solidFill>
          </c:spPr>
          <c:cat>
            <c:strRef>
              <c:f>Sheet1!$A$2:$A$5</c:f>
              <c:strCache>
                <c:ptCount val="4"/>
                <c:pt idx="0">
                  <c:v>Technical Specification</c:v>
                </c:pt>
                <c:pt idx="1">
                  <c:v>Product Description</c:v>
                </c:pt>
                <c:pt idx="2">
                  <c:v>Price List</c:v>
                </c:pt>
                <c:pt idx="3">
                  <c:v>Service Levels</c:v>
                </c:pt>
              </c:strCache>
            </c:strRef>
          </c:cat>
          <c:val>
            <c:numRef>
              <c:f>Sheet1!$B$2:$B$5</c:f>
              <c:numCache>
                <c:formatCode>General</c:formatCode>
                <c:ptCount val="4"/>
                <c:pt idx="0">
                  <c:v>0.702</c:v>
                </c:pt>
                <c:pt idx="1">
                  <c:v>0.858</c:v>
                </c:pt>
                <c:pt idx="2">
                  <c:v>0.82</c:v>
                </c:pt>
                <c:pt idx="3">
                  <c:v>0.899</c:v>
                </c:pt>
              </c:numCache>
            </c:numRef>
          </c:val>
        </c:ser>
        <c:ser>
          <c:idx val="1"/>
          <c:order val="1"/>
          <c:tx>
            <c:strRef>
              <c:f>Sheet1!$C$1</c:f>
              <c:strCache>
                <c:ptCount val="1"/>
                <c:pt idx="0">
                  <c:v>Raw judge score</c:v>
                </c:pt>
              </c:strCache>
            </c:strRef>
          </c:tx>
          <c:spPr>
            <a:solidFill>
              <a:srgbClr val="D9DEE3"/>
            </a:solidFill>
          </c:spPr>
          <c:cat>
            <c:strRef>
              <c:f>Sheet1!$A$2:$A$5</c:f>
              <c:strCache>
                <c:ptCount val="4"/>
                <c:pt idx="0">
                  <c:v>Technical Specification</c:v>
                </c:pt>
                <c:pt idx="1">
                  <c:v>Product Description</c:v>
                </c:pt>
                <c:pt idx="2">
                  <c:v>Price List</c:v>
                </c:pt>
                <c:pt idx="3">
                  <c:v>Service Levels</c:v>
                </c:pt>
              </c:strCache>
            </c:strRef>
          </c:cat>
          <c:val>
            <c:numRef>
              <c:f>Sheet1!$C$2:$C$5</c:f>
              <c:numCache>
                <c:formatCode>General</c:formatCode>
                <c:ptCount val="4"/>
                <c:pt idx="0">
                  <c:v>0.802</c:v>
                </c:pt>
                <c:pt idx="1">
                  <c:v>0.858</c:v>
                </c:pt>
                <c:pt idx="2">
                  <c:v>0.82</c:v>
                </c:pt>
                <c:pt idx="3">
                  <c:v>0.899</c:v>
                </c:pt>
              </c:numCache>
            </c:numRef>
          </c:val>
        </c:ser>
        <c:dLbls>
          <c:numFmt formatCode="0.00" sourceLinked="0"/>
          <c:txPr>
            <a:bodyPr/>
            <a:lstStyle/>
            <a:p>
              <a:pPr>
                <a:defRPr sz="850">
                  <a:solidFill>
                    <a:srgbClr val="222222"/>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0.25"/>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The paper (Table 4, insurance contracts)</a:t>
            </a:r>
          </a:p>
        </c:rich>
      </c:tx>
      <c:layout/>
      <c:overlay val="0"/>
    </c:title>
    <c:autoTitleDeleted val="0"/>
    <c:plotArea>
      <c:barChart>
        <c:barDir val="col"/>
        <c:grouping val="clustered"/>
        <c:ser>
          <c:idx val="0"/>
          <c:order val="0"/>
          <c:tx>
            <c:strRef>
              <c:f>Sheet1!$B$1</c:f>
              <c:strCache>
                <c:ptCount val="1"/>
                <c:pt idx="0">
                  <c:v>Direct · SPARQL</c:v>
                </c:pt>
              </c:strCache>
            </c:strRef>
          </c:tx>
          <c:spPr>
            <a:solidFill>
              <a:srgbClr val="D9DEE3"/>
            </a:solidFill>
          </c:spPr>
          <c:cat>
            <c:strRef>
              <c:f>Sheet1!$A$2:$A$3</c:f>
              <c:strCache>
                <c:ptCount val="2"/>
                <c:pt idx="0">
                  <c:v>Equivita</c:v>
                </c:pt>
                <c:pt idx="1">
                  <c:v>Sentinel</c:v>
                </c:pt>
              </c:strCache>
            </c:strRef>
          </c:cat>
          <c:val>
            <c:numRef>
              <c:f>Sheet1!$B$2:$B$3</c:f>
              <c:numCache>
                <c:formatCode>General</c:formatCode>
                <c:ptCount val="2"/>
                <c:pt idx="0">
                  <c:v>0.6304</c:v>
                </c:pt>
                <c:pt idx="1">
                  <c:v>0.4027</c:v>
                </c:pt>
              </c:numCache>
            </c:numRef>
          </c:val>
        </c:ser>
        <c:ser>
          <c:idx val="1"/>
          <c:order val="1"/>
          <c:tx>
            <c:strRef>
              <c:f>Sheet1!$C$1</c:f>
              <c:strCache>
                <c:ptCount val="1"/>
                <c:pt idx="0">
                  <c:v>Multi-agent · SPARQL</c:v>
                </c:pt>
              </c:strCache>
            </c:strRef>
          </c:tx>
          <c:spPr>
            <a:solidFill>
              <a:srgbClr val="058DC7"/>
            </a:solidFill>
          </c:spPr>
          <c:cat>
            <c:strRef>
              <c:f>Sheet1!$A$2:$A$3</c:f>
              <c:strCache>
                <c:ptCount val="2"/>
                <c:pt idx="0">
                  <c:v>Equivita</c:v>
                </c:pt>
                <c:pt idx="1">
                  <c:v>Sentinel</c:v>
                </c:pt>
              </c:strCache>
            </c:strRef>
          </c:cat>
          <c:val>
            <c:numRef>
              <c:f>Sheet1!$C$2:$C$3</c:f>
              <c:numCache>
                <c:formatCode>General</c:formatCode>
                <c:ptCount val="2"/>
                <c:pt idx="0">
                  <c:v>0.6196</c:v>
                </c:pt>
                <c:pt idx="1">
                  <c:v>0.4383</c:v>
                </c:pt>
              </c:numCache>
            </c:numRef>
          </c:val>
        </c:ser>
        <c:ser>
          <c:idx val="2"/>
          <c:order val="2"/>
          <c:tx>
            <c:strRef>
              <c:f>Sheet1!$D$1</c:f>
              <c:strCache>
                <c:ptCount val="1"/>
                <c:pt idx="0">
                  <c:v>Direct · RAG</c:v>
                </c:pt>
              </c:strCache>
            </c:strRef>
          </c:tx>
          <c:spPr>
            <a:solidFill>
              <a:srgbClr val="B8C4CE"/>
            </a:solidFill>
          </c:spPr>
          <c:cat>
            <c:strRef>
              <c:f>Sheet1!$A$2:$A$3</c:f>
              <c:strCache>
                <c:ptCount val="2"/>
                <c:pt idx="0">
                  <c:v>Equivita</c:v>
                </c:pt>
                <c:pt idx="1">
                  <c:v>Sentinel</c:v>
                </c:pt>
              </c:strCache>
            </c:strRef>
          </c:cat>
          <c:val>
            <c:numRef>
              <c:f>Sheet1!$D$2:$D$3</c:f>
              <c:numCache>
                <c:formatCode>General</c:formatCode>
                <c:ptCount val="2"/>
                <c:pt idx="0">
                  <c:v>0.5994</c:v>
                </c:pt>
                <c:pt idx="1">
                  <c:v>0.445</c:v>
                </c:pt>
              </c:numCache>
            </c:numRef>
          </c:val>
        </c:ser>
        <c:ser>
          <c:idx val="3"/>
          <c:order val="3"/>
          <c:tx>
            <c:strRef>
              <c:f>Sheet1!$E$1</c:f>
              <c:strCache>
                <c:ptCount val="1"/>
                <c:pt idx="0">
                  <c:v>Multi-agent · RAG</c:v>
                </c:pt>
              </c:strCache>
            </c:strRef>
          </c:tx>
          <c:spPr>
            <a:solidFill>
              <a:srgbClr val="50B432"/>
            </a:solidFill>
          </c:spPr>
          <c:cat>
            <c:strRef>
              <c:f>Sheet1!$A$2:$A$3</c:f>
              <c:strCache>
                <c:ptCount val="2"/>
                <c:pt idx="0">
                  <c:v>Equivita</c:v>
                </c:pt>
                <c:pt idx="1">
                  <c:v>Sentinel</c:v>
                </c:pt>
              </c:strCache>
            </c:strRef>
          </c:cat>
          <c:val>
            <c:numRef>
              <c:f>Sheet1!$E$2:$E$3</c:f>
              <c:numCache>
                <c:formatCode>General</c:formatCode>
                <c:ptCount val="2"/>
                <c:pt idx="0">
                  <c:v>0.7112</c:v>
                </c:pt>
                <c:pt idx="1">
                  <c:v>0.551</c:v>
                </c:pt>
              </c:numCache>
            </c:numRef>
          </c:val>
        </c:ser>
        <c:dLbls>
          <c:numFmt formatCode="0.00" sourceLinked="0"/>
          <c:txPr>
            <a:bodyPr/>
            <a:lstStyle/>
            <a:p>
              <a:pPr>
                <a:defRPr sz="850">
                  <a:solidFill>
                    <a:srgbClr val="222222"/>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0.25"/>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Score by whether the CQ's page made it in</a:t>
            </a:r>
          </a:p>
        </c:rich>
      </c:tx>
      <c:layout/>
      <c:overlay val="0"/>
    </c:title>
    <c:autoTitleDeleted val="0"/>
    <c:plotArea>
      <c:barChart>
        <c:barDir val="col"/>
        <c:grouping val="clustered"/>
        <c:ser>
          <c:idx val="0"/>
          <c:order val="0"/>
          <c:tx>
            <c:strRef>
              <c:f>Sheet1!$B$1</c:f>
              <c:strCache>
                <c:ptCount val="1"/>
                <c:pt idx="0">
                  <c:v>CQ's page is in the ontology</c:v>
                </c:pt>
              </c:strCache>
            </c:strRef>
          </c:tx>
          <c:spPr>
            <a:solidFill>
              <a:srgbClr val="058DC7"/>
            </a:solidFill>
          </c:spPr>
          <c:cat>
            <c:strRef>
              <c:f>Sheet1!$A$2:$A$5</c:f>
              <c:strCache>
                <c:ptCount val="4"/>
                <c:pt idx="0">
                  <c:v>Tech Spec</c:v>
                </c:pt>
                <c:pt idx="1">
                  <c:v>Product Desc.</c:v>
                </c:pt>
                <c:pt idx="2">
                  <c:v>Price List</c:v>
                </c:pt>
                <c:pt idx="3">
                  <c:v>Service Levels</c:v>
                </c:pt>
              </c:strCache>
            </c:strRef>
          </c:cat>
          <c:val>
            <c:numRef>
              <c:f>Sheet1!$B$2:$B$5</c:f>
              <c:numCache>
                <c:formatCode>General</c:formatCode>
                <c:ptCount val="4"/>
                <c:pt idx="0">
                  <c:v>0.942</c:v>
                </c:pt>
                <c:pt idx="1">
                  <c:v>0.943</c:v>
                </c:pt>
                <c:pt idx="2">
                  <c:v>0.827</c:v>
                </c:pt>
                <c:pt idx="3">
                  <c:v>0.899</c:v>
                </c:pt>
              </c:numCache>
            </c:numRef>
          </c:val>
        </c:ser>
        <c:ser>
          <c:idx val="1"/>
          <c:order val="1"/>
          <c:tx>
            <c:strRef>
              <c:f>Sheet1!$C$1</c:f>
              <c:strCache>
                <c:ptCount val="1"/>
                <c:pt idx="0">
                  <c:v>CQ's page failed / added nothing</c:v>
                </c:pt>
              </c:strCache>
            </c:strRef>
          </c:tx>
          <c:spPr>
            <a:solidFill>
              <a:srgbClr val="ED561B"/>
            </a:solidFill>
          </c:spPr>
          <c:cat>
            <c:strRef>
              <c:f>Sheet1!$A$2:$A$5</c:f>
              <c:strCache>
                <c:ptCount val="4"/>
                <c:pt idx="0">
                  <c:v>Tech Spec</c:v>
                </c:pt>
                <c:pt idx="1">
                  <c:v>Product Desc.</c:v>
                </c:pt>
                <c:pt idx="2">
                  <c:v>Price List</c:v>
                </c:pt>
                <c:pt idx="3">
                  <c:v>Service Levels</c:v>
                </c:pt>
              </c:strCache>
            </c:strRef>
          </c:cat>
          <c:val>
            <c:numRef>
              <c:f>Sheet1!$C$2:$C$5</c:f>
              <c:numCache>
                <c:formatCode>General</c:formatCode>
                <c:ptCount val="4"/>
                <c:pt idx="0">
                  <c:v>0.094</c:v>
                </c:pt>
                <c:pt idx="1">
                  <c:v>0.554</c:v>
                </c:pt>
                <c:pt idx="2">
                  <c:v>0.792</c:v>
                </c:pt>
              </c:numCache>
            </c:numRef>
          </c:val>
        </c:ser>
        <c:dLbls>
          <c:numFmt formatCode="0.00" sourceLinked="0"/>
          <c:txPr>
            <a:bodyPr/>
            <a:lstStyle/>
            <a:p>
              <a:pPr>
                <a:defRPr sz="850">
                  <a:solidFill>
                    <a:srgbClr val="222222"/>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0.25"/>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Outcome of the sampled questions (count)</a:t>
            </a:r>
          </a:p>
        </c:rich>
      </c:tx>
      <c:layout/>
      <c:overlay val="0"/>
    </c:title>
    <c:autoTitleDeleted val="0"/>
    <c:plotArea>
      <c:barChart>
        <c:barDir val="col"/>
        <c:grouping val="stacked"/>
        <c:ser>
          <c:idx val="0"/>
          <c:order val="0"/>
          <c:tx>
            <c:strRef>
              <c:f>Sheet1!$B$1</c:f>
              <c:strCache>
                <c:ptCount val="1"/>
                <c:pt idx="0">
                  <c:v>Fully correct</c:v>
                </c:pt>
              </c:strCache>
            </c:strRef>
          </c:tx>
          <c:spPr>
            <a:solidFill>
              <a:srgbClr val="50B432"/>
            </a:solidFill>
          </c:spPr>
          <c:cat>
            <c:strRef>
              <c:f>Sheet1!$A$2:$A$5</c:f>
              <c:strCache>
                <c:ptCount val="4"/>
                <c:pt idx="0">
                  <c:v>Tech Spec</c:v>
                </c:pt>
                <c:pt idx="1">
                  <c:v>Product Desc.</c:v>
                </c:pt>
                <c:pt idx="2">
                  <c:v>Price List</c:v>
                </c:pt>
                <c:pt idx="3">
                  <c:v>Service Levels</c:v>
                </c:pt>
              </c:strCache>
            </c:strRef>
          </c:cat>
          <c:val>
            <c:numRef>
              <c:f>Sheet1!$B$2:$B$5</c:f>
              <c:numCache>
                <c:formatCode>General</c:formatCode>
                <c:ptCount val="4"/>
                <c:pt idx="0">
                  <c:v>39</c:v>
                </c:pt>
                <c:pt idx="1">
                  <c:v>49</c:v>
                </c:pt>
                <c:pt idx="2">
                  <c:v>47</c:v>
                </c:pt>
                <c:pt idx="3">
                  <c:v>51</c:v>
                </c:pt>
              </c:numCache>
            </c:numRef>
          </c:val>
        </c:ser>
        <c:ser>
          <c:idx val="1"/>
          <c:order val="1"/>
          <c:tx>
            <c:strRef>
              <c:f>Sheet1!$C$1</c:f>
              <c:strCache>
                <c:ptCount val="1"/>
                <c:pt idx="0">
                  <c:v>Partly correct</c:v>
                </c:pt>
              </c:strCache>
            </c:strRef>
          </c:tx>
          <c:spPr>
            <a:solidFill>
              <a:srgbClr val="058DC7"/>
            </a:solidFill>
          </c:spPr>
          <c:cat>
            <c:strRef>
              <c:f>Sheet1!$A$2:$A$5</c:f>
              <c:strCache>
                <c:ptCount val="4"/>
                <c:pt idx="0">
                  <c:v>Tech Spec</c:v>
                </c:pt>
                <c:pt idx="1">
                  <c:v>Product Desc.</c:v>
                </c:pt>
                <c:pt idx="2">
                  <c:v>Price List</c:v>
                </c:pt>
                <c:pt idx="3">
                  <c:v>Service Levels</c:v>
                </c:pt>
              </c:strCache>
            </c:strRef>
          </c:cat>
          <c:val>
            <c:numRef>
              <c:f>Sheet1!$C$2:$C$5</c:f>
              <c:numCache>
                <c:formatCode>General</c:formatCode>
                <c:ptCount val="4"/>
                <c:pt idx="0">
                  <c:v>5</c:v>
                </c:pt>
                <c:pt idx="1">
                  <c:v>5</c:v>
                </c:pt>
                <c:pt idx="2">
                  <c:v>5</c:v>
                </c:pt>
                <c:pt idx="3">
                  <c:v>6</c:v>
                </c:pt>
              </c:numCache>
            </c:numRef>
          </c:val>
        </c:ser>
        <c:ser>
          <c:idx val="2"/>
          <c:order val="2"/>
          <c:tx>
            <c:strRef>
              <c:f>Sheet1!$D$1</c:f>
              <c:strCache>
                <c:ptCount val="1"/>
                <c:pt idx="0">
                  <c:v>Wrong or no answer</c:v>
                </c:pt>
              </c:strCache>
            </c:strRef>
          </c:tx>
          <c:spPr>
            <a:solidFill>
              <a:srgbClr val="ED561B"/>
            </a:solidFill>
          </c:spPr>
          <c:cat>
            <c:strRef>
              <c:f>Sheet1!$A$2:$A$5</c:f>
              <c:strCache>
                <c:ptCount val="4"/>
                <c:pt idx="0">
                  <c:v>Tech Spec</c:v>
                </c:pt>
                <c:pt idx="1">
                  <c:v>Product Desc.</c:v>
                </c:pt>
                <c:pt idx="2">
                  <c:v>Price List</c:v>
                </c:pt>
                <c:pt idx="3">
                  <c:v>Service Levels</c:v>
                </c:pt>
              </c:strCache>
            </c:strRef>
          </c:cat>
          <c:val>
            <c:numRef>
              <c:f>Sheet1!$D$2:$D$5</c:f>
              <c:numCache>
                <c:formatCode>General</c:formatCode>
                <c:ptCount val="4"/>
                <c:pt idx="0">
                  <c:v>16</c:v>
                </c:pt>
                <c:pt idx="1">
                  <c:v>6</c:v>
                </c:pt>
                <c:pt idx="2">
                  <c:v>8</c:v>
                </c:pt>
                <c:pt idx="3">
                  <c:v>3</c:v>
                </c:pt>
              </c:numCache>
            </c:numRef>
          </c:val>
        </c:ser>
        <c:dLbls>
          <c:numFmt formatCode="0;;;" sourceLinked="0"/>
          <c:txPr>
            <a:bodyPr/>
            <a:lstStyle/>
            <a:p>
              <a:pPr>
                <a:defRPr sz="85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10.0"/>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Pages chosen for each document, and what happened</a:t>
            </a:r>
          </a:p>
        </c:rich>
      </c:tx>
      <c:layout/>
      <c:overlay val="0"/>
    </c:title>
    <c:autoTitleDeleted val="0"/>
    <c:plotArea>
      <c:barChart>
        <c:barDir val="col"/>
        <c:grouping val="stacked"/>
        <c:ser>
          <c:idx val="0"/>
          <c:order val="0"/>
          <c:tx>
            <c:strRef>
              <c:f>Sheet1!$B$1</c:f>
              <c:strCache>
                <c:ptCount val="1"/>
                <c:pt idx="0">
                  <c:v>In the ontology</c:v>
                </c:pt>
              </c:strCache>
            </c:strRef>
          </c:tx>
          <c:spPr>
            <a:solidFill>
              <a:srgbClr val="50B432"/>
            </a:solidFill>
          </c:spPr>
          <c:cat>
            <c:strRef>
              <c:f>Sheet1!$A$2:$A$5</c:f>
              <c:strCache>
                <c:ptCount val="4"/>
                <c:pt idx="0">
                  <c:v>Tech Spec</c:v>
                </c:pt>
                <c:pt idx="1">
                  <c:v>Product Desc.</c:v>
                </c:pt>
                <c:pt idx="2">
                  <c:v>Price List</c:v>
                </c:pt>
                <c:pt idx="3">
                  <c:v>Service Levels</c:v>
                </c:pt>
              </c:strCache>
            </c:strRef>
          </c:cat>
          <c:val>
            <c:numRef>
              <c:f>Sheet1!$B$2:$B$5</c:f>
              <c:numCache>
                <c:formatCode>General</c:formatCode>
                <c:ptCount val="4"/>
                <c:pt idx="0">
                  <c:v>22</c:v>
                </c:pt>
                <c:pt idx="1">
                  <c:v>10</c:v>
                </c:pt>
                <c:pt idx="2">
                  <c:v>9</c:v>
                </c:pt>
                <c:pt idx="3">
                  <c:v>5</c:v>
                </c:pt>
              </c:numCache>
            </c:numRef>
          </c:val>
        </c:ser>
        <c:ser>
          <c:idx val="1"/>
          <c:order val="1"/>
          <c:tx>
            <c:strRef>
              <c:f>Sheet1!$C$1</c:f>
              <c:strCache>
                <c:ptCount val="1"/>
                <c:pt idx="0">
                  <c:v>Failed</c:v>
                </c:pt>
              </c:strCache>
            </c:strRef>
          </c:tx>
          <c:spPr>
            <a:solidFill>
              <a:srgbClr val="ED561B"/>
            </a:solidFill>
          </c:spPr>
          <c:cat>
            <c:strRef>
              <c:f>Sheet1!$A$2:$A$5</c:f>
              <c:strCache>
                <c:ptCount val="4"/>
                <c:pt idx="0">
                  <c:v>Tech Spec</c:v>
                </c:pt>
                <c:pt idx="1">
                  <c:v>Product Desc.</c:v>
                </c:pt>
                <c:pt idx="2">
                  <c:v>Price List</c:v>
                </c:pt>
                <c:pt idx="3">
                  <c:v>Service Levels</c:v>
                </c:pt>
              </c:strCache>
            </c:strRef>
          </c:cat>
          <c:val>
            <c:numRef>
              <c:f>Sheet1!$C$2:$C$5</c:f>
              <c:numCache>
                <c:formatCode>General</c:formatCode>
                <c:ptCount val="4"/>
                <c:pt idx="0">
                  <c:v>3</c:v>
                </c:pt>
                <c:pt idx="1">
                  <c:v>0</c:v>
                </c:pt>
                <c:pt idx="2">
                  <c:v>1</c:v>
                </c:pt>
                <c:pt idx="3">
                  <c:v>0</c:v>
                </c:pt>
              </c:numCache>
            </c:numRef>
          </c:val>
        </c:ser>
        <c:ser>
          <c:idx val="2"/>
          <c:order val="2"/>
          <c:tx>
            <c:strRef>
              <c:f>Sheet1!$D$1</c:f>
              <c:strCache>
                <c:ptCount val="1"/>
                <c:pt idx="0">
                  <c:v>Ran, added nothing</c:v>
                </c:pt>
              </c:strCache>
            </c:strRef>
          </c:tx>
          <c:spPr>
            <a:solidFill>
              <a:srgbClr val="9AA5B1"/>
            </a:solidFill>
          </c:spPr>
          <c:cat>
            <c:strRef>
              <c:f>Sheet1!$A$2:$A$5</c:f>
              <c:strCache>
                <c:ptCount val="4"/>
                <c:pt idx="0">
                  <c:v>Tech Spec</c:v>
                </c:pt>
                <c:pt idx="1">
                  <c:v>Product Desc.</c:v>
                </c:pt>
                <c:pt idx="2">
                  <c:v>Price List</c:v>
                </c:pt>
                <c:pt idx="3">
                  <c:v>Service Levels</c:v>
                </c:pt>
              </c:strCache>
            </c:strRef>
          </c:cat>
          <c:val>
            <c:numRef>
              <c:f>Sheet1!$D$2:$D$5</c:f>
              <c:numCache>
                <c:formatCode>General</c:formatCode>
                <c:ptCount val="4"/>
                <c:pt idx="0">
                  <c:v>0</c:v>
                </c:pt>
                <c:pt idx="1">
                  <c:v>1</c:v>
                </c:pt>
                <c:pt idx="2">
                  <c:v>0</c:v>
                </c:pt>
                <c:pt idx="3">
                  <c:v>0</c:v>
                </c:pt>
              </c:numCache>
            </c:numRef>
          </c:val>
        </c:ser>
        <c:dLbls>
          <c:numFmt formatCode="0;;;" sourceLinked="0"/>
          <c:txPr>
            <a:bodyPr/>
            <a:lstStyle/>
            <a:p>
              <a:pPr>
                <a:defRPr sz="85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5.0"/>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What the documents added to the reference ontology</a:t>
            </a:r>
          </a:p>
        </c:rich>
      </c:tx>
      <c:layout/>
      <c:overlay val="0"/>
    </c:title>
    <c:autoTitleDeleted val="0"/>
    <c:plotArea>
      <c:barChart>
        <c:barDir val="col"/>
        <c:grouping val="clustered"/>
        <c:ser>
          <c:idx val="0"/>
          <c:order val="0"/>
          <c:tx>
            <c:strRef>
              <c:f>Sheet1!$B$1</c:f>
              <c:strCache>
                <c:ptCount val="1"/>
                <c:pt idx="0">
                  <c:v>New classes</c:v>
                </c:pt>
              </c:strCache>
            </c:strRef>
          </c:tx>
          <c:spPr>
            <a:solidFill>
              <a:srgbClr val="058DC7"/>
            </a:solidFill>
          </c:spPr>
          <c:cat>
            <c:strRef>
              <c:f>Sheet1!$A$2:$A$5</c:f>
              <c:strCache>
                <c:ptCount val="4"/>
                <c:pt idx="0">
                  <c:v>Tech Spec</c:v>
                </c:pt>
                <c:pt idx="1">
                  <c:v>Product Desc.</c:v>
                </c:pt>
                <c:pt idx="2">
                  <c:v>Price List</c:v>
                </c:pt>
                <c:pt idx="3">
                  <c:v>Service Levels</c:v>
                </c:pt>
              </c:strCache>
            </c:strRef>
          </c:cat>
          <c:val>
            <c:numRef>
              <c:f>Sheet1!$B$2:$B$5</c:f>
              <c:numCache>
                <c:formatCode>General</c:formatCode>
                <c:ptCount val="4"/>
                <c:pt idx="0">
                  <c:v>179</c:v>
                </c:pt>
                <c:pt idx="1">
                  <c:v>65</c:v>
                </c:pt>
                <c:pt idx="2">
                  <c:v>76</c:v>
                </c:pt>
                <c:pt idx="3">
                  <c:v>47</c:v>
                </c:pt>
              </c:numCache>
            </c:numRef>
          </c:val>
        </c:ser>
        <c:ser>
          <c:idx val="1"/>
          <c:order val="1"/>
          <c:tx>
            <c:strRef>
              <c:f>Sheet1!$C$1</c:f>
              <c:strCache>
                <c:ptCount val="1"/>
                <c:pt idx="0">
                  <c:v>New properties</c:v>
                </c:pt>
              </c:strCache>
            </c:strRef>
          </c:tx>
          <c:spPr>
            <a:solidFill>
              <a:srgbClr val="ED561B"/>
            </a:solidFill>
          </c:spPr>
          <c:cat>
            <c:strRef>
              <c:f>Sheet1!$A$2:$A$5</c:f>
              <c:strCache>
                <c:ptCount val="4"/>
                <c:pt idx="0">
                  <c:v>Tech Spec</c:v>
                </c:pt>
                <c:pt idx="1">
                  <c:v>Product Desc.</c:v>
                </c:pt>
                <c:pt idx="2">
                  <c:v>Price List</c:v>
                </c:pt>
                <c:pt idx="3">
                  <c:v>Service Levels</c:v>
                </c:pt>
              </c:strCache>
            </c:strRef>
          </c:cat>
          <c:val>
            <c:numRef>
              <c:f>Sheet1!$C$2:$C$5</c:f>
              <c:numCache>
                <c:formatCode>General</c:formatCode>
                <c:ptCount val="4"/>
                <c:pt idx="0">
                  <c:v>349</c:v>
                </c:pt>
                <c:pt idx="1">
                  <c:v>150</c:v>
                </c:pt>
                <c:pt idx="2">
                  <c:v>114</c:v>
                </c:pt>
                <c:pt idx="3">
                  <c:v>72</c:v>
                </c:pt>
              </c:numCache>
            </c:numRef>
          </c:val>
        </c:ser>
        <c:ser>
          <c:idx val="2"/>
          <c:order val="2"/>
          <c:tx>
            <c:strRef>
              <c:f>Sheet1!$D$1</c:f>
              <c:strCache>
                <c:ptCount val="1"/>
                <c:pt idx="0">
                  <c:v>Facts (individuals)</c:v>
                </c:pt>
              </c:strCache>
            </c:strRef>
          </c:tx>
          <c:spPr>
            <a:solidFill>
              <a:srgbClr val="50B432"/>
            </a:solidFill>
          </c:spPr>
          <c:cat>
            <c:strRef>
              <c:f>Sheet1!$A$2:$A$5</c:f>
              <c:strCache>
                <c:ptCount val="4"/>
                <c:pt idx="0">
                  <c:v>Tech Spec</c:v>
                </c:pt>
                <c:pt idx="1">
                  <c:v>Product Desc.</c:v>
                </c:pt>
                <c:pt idx="2">
                  <c:v>Price List</c:v>
                </c:pt>
                <c:pt idx="3">
                  <c:v>Service Levels</c:v>
                </c:pt>
              </c:strCache>
            </c:strRef>
          </c:cat>
          <c:val>
            <c:numRef>
              <c:f>Sheet1!$D$2:$D$5</c:f>
              <c:numCache>
                <c:formatCode>General</c:formatCode>
                <c:ptCount val="4"/>
                <c:pt idx="0">
                  <c:v>597</c:v>
                </c:pt>
                <c:pt idx="1">
                  <c:v>257</c:v>
                </c:pt>
                <c:pt idx="2">
                  <c:v>332</c:v>
                </c:pt>
                <c:pt idx="3">
                  <c:v>80</c:v>
                </c:pt>
              </c:numCache>
            </c:numRef>
          </c:val>
        </c:ser>
        <c:dLbls>
          <c:numFmt formatCode="0" sourceLinked="0"/>
          <c:txPr>
            <a:bodyPr/>
            <a:lstStyle/>
            <a:p>
              <a:pPr>
                <a:defRPr sz="850">
                  <a:solidFill>
                    <a:srgbClr val="222222"/>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100.0"/>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title>
      <c:tx>
        <c:rich>
          <a:bodyPr/>
          <a:lstStyle/>
          <a:p>
            <a:r>
              <a:rPr sz="1100" b="1">
                <a:solidFill>
                  <a:srgbClr val="222222"/>
                </a:solidFill>
                <a:latin typeface="Arial"/>
              </a:rPr>
              <a:t>Input tokens per page vs ontology size</a:t>
            </a:r>
          </a:p>
        </c:rich>
      </c:tx>
      <c:layout/>
      <c:overlay val="0"/>
    </c:title>
    <c:plotArea>
      <c:scatterChart>
        <c:scatterStyle val="lineMarker"/>
        <c:varyColors val="0"/>
        <c:ser>
          <c:idx val="0"/>
          <c:order val="0"/>
          <c:tx>
            <c:strRef>
              <c:f>Sheet1!$B$1</c:f>
              <c:strCache>
                <c:ptCount val="1"/>
                <c:pt idx="0">
                  <c:v>Page added content</c:v>
                </c:pt>
              </c:strCache>
            </c:strRef>
          </c:tx>
          <c:spPr>
            <a:ln w="47625">
              <a:noFill/>
            </a:ln>
          </c:spPr>
          <c:marker>
            <c:symbol val="circle"/>
            <c:size val="8"/>
            <c:spPr>
              <a:solidFill>
                <a:srgbClr val="058DC7"/>
              </a:solidFill>
              <a:ln>
                <a:solidFill>
                  <a:srgbClr val="FFFFFF"/>
                </a:solidFill>
              </a:ln>
            </c:spPr>
          </c:marker>
          <c:xVal>
            <c:numRef>
              <c:f>Sheet1!$A$2:$A$47</c:f>
              <c:numCache>
                <c:formatCode>General</c:formatCode>
                <c:ptCount val="46"/>
                <c:pt idx="0">
                  <c:v>617</c:v>
                </c:pt>
                <c:pt idx="1">
                  <c:v>851</c:v>
                </c:pt>
                <c:pt idx="2">
                  <c:v>1174</c:v>
                </c:pt>
                <c:pt idx="3">
                  <c:v>1370</c:v>
                </c:pt>
                <c:pt idx="4">
                  <c:v>1862</c:v>
                </c:pt>
                <c:pt idx="5">
                  <c:v>2391</c:v>
                </c:pt>
                <c:pt idx="6">
                  <c:v>2502</c:v>
                </c:pt>
                <c:pt idx="7">
                  <c:v>2919</c:v>
                </c:pt>
                <c:pt idx="8">
                  <c:v>3154</c:v>
                </c:pt>
                <c:pt idx="9">
                  <c:v>3343</c:v>
                </c:pt>
                <c:pt idx="10">
                  <c:v>3587</c:v>
                </c:pt>
                <c:pt idx="11">
                  <c:v>3674</c:v>
                </c:pt>
                <c:pt idx="12">
                  <c:v>4053</c:v>
                </c:pt>
                <c:pt idx="13">
                  <c:v>4290</c:v>
                </c:pt>
                <c:pt idx="14">
                  <c:v>4683</c:v>
                </c:pt>
                <c:pt idx="15">
                  <c:v>5109</c:v>
                </c:pt>
                <c:pt idx="16">
                  <c:v>5526</c:v>
                </c:pt>
                <c:pt idx="17">
                  <c:v>5840</c:v>
                </c:pt>
                <c:pt idx="18">
                  <c:v>5965</c:v>
                </c:pt>
                <c:pt idx="19">
                  <c:v>6661</c:v>
                </c:pt>
                <c:pt idx="20">
                  <c:v>7414</c:v>
                </c:pt>
                <c:pt idx="21">
                  <c:v>7727</c:v>
                </c:pt>
                <c:pt idx="22">
                  <c:v>617</c:v>
                </c:pt>
                <c:pt idx="23">
                  <c:v>819</c:v>
                </c:pt>
                <c:pt idx="24">
                  <c:v>1085</c:v>
                </c:pt>
                <c:pt idx="25">
                  <c:v>1412</c:v>
                </c:pt>
                <c:pt idx="26">
                  <c:v>1684</c:v>
                </c:pt>
                <c:pt idx="27">
                  <c:v>2122</c:v>
                </c:pt>
                <c:pt idx="28">
                  <c:v>2401</c:v>
                </c:pt>
                <c:pt idx="29">
                  <c:v>2669</c:v>
                </c:pt>
                <c:pt idx="30">
                  <c:v>2825</c:v>
                </c:pt>
                <c:pt idx="31">
                  <c:v>3096</c:v>
                </c:pt>
                <c:pt idx="32">
                  <c:v>617</c:v>
                </c:pt>
                <c:pt idx="33">
                  <c:v>1198</c:v>
                </c:pt>
                <c:pt idx="34">
                  <c:v>1414</c:v>
                </c:pt>
                <c:pt idx="35">
                  <c:v>1744</c:v>
                </c:pt>
                <c:pt idx="36">
                  <c:v>2019</c:v>
                </c:pt>
                <c:pt idx="37">
                  <c:v>2248</c:v>
                </c:pt>
                <c:pt idx="38">
                  <c:v>2450</c:v>
                </c:pt>
                <c:pt idx="39">
                  <c:v>2837</c:v>
                </c:pt>
                <c:pt idx="40">
                  <c:v>3144</c:v>
                </c:pt>
                <c:pt idx="41">
                  <c:v>617</c:v>
                </c:pt>
                <c:pt idx="42">
                  <c:v>796</c:v>
                </c:pt>
                <c:pt idx="43">
                  <c:v>1052</c:v>
                </c:pt>
                <c:pt idx="44">
                  <c:v>1324</c:v>
                </c:pt>
                <c:pt idx="45">
                  <c:v>1538</c:v>
                </c:pt>
              </c:numCache>
            </c:numRef>
          </c:xVal>
          <c:yVal>
            <c:numRef>
              <c:f>Sheet1!$B$2:$B$47</c:f>
              <c:numCache>
                <c:formatCode>General</c:formatCode>
                <c:ptCount val="46"/>
                <c:pt idx="0">
                  <c:v>0.388</c:v>
                </c:pt>
                <c:pt idx="1">
                  <c:v>0.592</c:v>
                </c:pt>
                <c:pt idx="2">
                  <c:v>0.365</c:v>
                </c:pt>
                <c:pt idx="3">
                  <c:v>0.439</c:v>
                </c:pt>
                <c:pt idx="4">
                  <c:v>0.775</c:v>
                </c:pt>
                <c:pt idx="5">
                  <c:v>0.456</c:v>
                </c:pt>
                <c:pt idx="6">
                  <c:v>0.436</c:v>
                </c:pt>
                <c:pt idx="7">
                  <c:v>0.596</c:v>
                </c:pt>
                <c:pt idx="8">
                  <c:v>0.393</c:v>
                </c:pt>
                <c:pt idx="9">
                  <c:v>1.165</c:v>
                </c:pt>
                <c:pt idx="10">
                  <c:v>0.443</c:v>
                </c:pt>
                <c:pt idx="11">
                  <c:v>0.649</c:v>
                </c:pt>
                <c:pt idx="12">
                  <c:v>0.936</c:v>
                </c:pt>
                <c:pt idx="13">
                  <c:v>0.94</c:v>
                </c:pt>
                <c:pt idx="14">
                  <c:v>0.911</c:v>
                </c:pt>
                <c:pt idx="15">
                  <c:v>2.223</c:v>
                </c:pt>
                <c:pt idx="16">
                  <c:v>1.054</c:v>
                </c:pt>
                <c:pt idx="17">
                  <c:v>0.727</c:v>
                </c:pt>
                <c:pt idx="18">
                  <c:v>0.762</c:v>
                </c:pt>
                <c:pt idx="19">
                  <c:v>1.091</c:v>
                </c:pt>
                <c:pt idx="20">
                  <c:v>0.92</c:v>
                </c:pt>
                <c:pt idx="21">
                  <c:v>1.215</c:v>
                </c:pt>
                <c:pt idx="22">
                  <c:v>0.182</c:v>
                </c:pt>
                <c:pt idx="23">
                  <c:v>0.204</c:v>
                </c:pt>
                <c:pt idx="24">
                  <c:v>0.191</c:v>
                </c:pt>
                <c:pt idx="25">
                  <c:v>0.311</c:v>
                </c:pt>
                <c:pt idx="26">
                  <c:v>0.385</c:v>
                </c:pt>
                <c:pt idx="27">
                  <c:v>0.43</c:v>
                </c:pt>
                <c:pt idx="28">
                  <c:v>0.506</c:v>
                </c:pt>
                <c:pt idx="29">
                  <c:v>1.079</c:v>
                </c:pt>
                <c:pt idx="30">
                  <c:v>0.348</c:v>
                </c:pt>
                <c:pt idx="31">
                  <c:v>0.378</c:v>
                </c:pt>
                <c:pt idx="32">
                  <c:v>0.922</c:v>
                </c:pt>
                <c:pt idx="33">
                  <c:v>0.426</c:v>
                </c:pt>
                <c:pt idx="34">
                  <c:v>0.564</c:v>
                </c:pt>
                <c:pt idx="35">
                  <c:v>0.414</c:v>
                </c:pt>
                <c:pt idx="36">
                  <c:v>0.955</c:v>
                </c:pt>
                <c:pt idx="37">
                  <c:v>0.715</c:v>
                </c:pt>
                <c:pt idx="38">
                  <c:v>0.464</c:v>
                </c:pt>
                <c:pt idx="39">
                  <c:v>0.622</c:v>
                </c:pt>
                <c:pt idx="40">
                  <c:v>0.627</c:v>
                </c:pt>
                <c:pt idx="41">
                  <c:v>0.361</c:v>
                </c:pt>
                <c:pt idx="42">
                  <c:v>1.126</c:v>
                </c:pt>
                <c:pt idx="43">
                  <c:v>0.24</c:v>
                </c:pt>
                <c:pt idx="44">
                  <c:v>0.286</c:v>
                </c:pt>
                <c:pt idx="45">
                  <c:v>1.825</c:v>
                </c:pt>
              </c:numCache>
            </c:numRef>
          </c:yVal>
          <c:smooth val="0"/>
        </c:ser>
        <c:ser>
          <c:idx val="1"/>
          <c:order val="1"/>
          <c:tx>
            <c:strRef>
              <c:f>Sheet1!$B$49</c:f>
              <c:strCache>
                <c:ptCount val="1"/>
                <c:pt idx="0">
                  <c:v>Page failed / added nothing</c:v>
                </c:pt>
              </c:strCache>
            </c:strRef>
          </c:tx>
          <c:spPr>
            <a:ln w="47625">
              <a:noFill/>
            </a:ln>
          </c:spPr>
          <c:marker>
            <c:symbol val="circle"/>
            <c:size val="8"/>
            <c:spPr>
              <a:solidFill>
                <a:srgbClr val="ED561B"/>
              </a:solidFill>
              <a:ln>
                <a:solidFill>
                  <a:srgbClr val="FFFFFF"/>
                </a:solidFill>
              </a:ln>
            </c:spPr>
          </c:marker>
          <c:xVal>
            <c:numRef>
              <c:f>Sheet1!$A$50:$A$54</c:f>
              <c:numCache>
                <c:formatCode>General</c:formatCode>
                <c:ptCount val="5"/>
                <c:pt idx="0">
                  <c:v>3674</c:v>
                </c:pt>
                <c:pt idx="1">
                  <c:v>5109</c:v>
                </c:pt>
                <c:pt idx="2">
                  <c:v>6661</c:v>
                </c:pt>
                <c:pt idx="3">
                  <c:v>1412</c:v>
                </c:pt>
                <c:pt idx="4">
                  <c:v>1744</c:v>
                </c:pt>
              </c:numCache>
            </c:numRef>
          </c:xVal>
          <c:yVal>
            <c:numRef>
              <c:f>Sheet1!$B$50:$B$54</c:f>
              <c:numCache>
                <c:formatCode>General</c:formatCode>
                <c:ptCount val="5"/>
                <c:pt idx="0">
                  <c:v>2.483</c:v>
                </c:pt>
                <c:pt idx="1">
                  <c:v>1.296</c:v>
                </c:pt>
                <c:pt idx="2">
                  <c:v>2.478</c:v>
                </c:pt>
                <c:pt idx="3">
                  <c:v>2.45</c:v>
                </c:pt>
                <c:pt idx="4">
                  <c:v>0.718</c:v>
                </c:pt>
              </c:numCache>
            </c:numRef>
          </c:yVal>
          <c:smooth val="0"/>
        </c:ser>
        <c:axId val="-2128940872"/>
        <c:axId val="-2129643912"/>
      </c:scatterChart>
      <c:valAx>
        <c:axId val="-2128940872"/>
        <c:scaling>
          <c:orientation val="minMax"/>
          <c:min val="0.0"/>
        </c:scaling>
        <c:delete val="0"/>
        <c:axPos val="b"/>
        <c:majorGridlines>
          <c:spPr>
            <a:ln>
              <a:solidFill>
                <a:srgbClr val="D9DEE3"/>
              </a:solidFill>
            </a:ln>
          </c:spPr>
        </c:majorGridlines>
        <c:title>
          <c:tx>
            <c:rich>
              <a:bodyPr/>
              <a:lstStyle/>
              <a:p>
                <a:r>
                  <a:rPr sz="900" b="0">
                    <a:solidFill>
                      <a:srgbClr val="666666"/>
                    </a:solidFill>
                    <a:latin typeface="Arial"/>
                  </a:rPr>
                  <a:t>Ontology size before the page (triples)</a:t>
                </a:r>
              </a:p>
            </c:rich>
          </c:tx>
          <c:layout/>
          <c:overlay val="0"/>
        </c:title>
        <c:numFmt formatCode="General" sourceLinked="1"/>
        <c:majorTickMark val="out"/>
        <c:minorTickMark val="none"/>
        <c:tickLblPos val="nextTo"/>
        <c:spPr>
          <a:ln>
            <a:solidFill>
              <a:srgbClr val="D9DEE3"/>
            </a:solidFill>
          </a:ln>
        </c:spPr>
        <c:txPr>
          <a:bodyPr/>
          <a:lstStyle/>
          <a:p>
            <a:pPr>
              <a:defRPr sz="900">
                <a:solidFill>
                  <a:srgbClr val="222222"/>
                </a:solidFill>
              </a:defRPr>
            </a:pPr>
          </a:p>
        </c:txPr>
        <c:crossAx val="-2129643912"/>
        <c:crosses val="autoZero"/>
        <c:crossBetween val="midCat"/>
      </c:valAx>
      <c:valAx>
        <c:axId val="-2129643912"/>
        <c:scaling>
          <c:orientation val="minMax"/>
          <c:min val="0.0"/>
        </c:scaling>
        <c:delete val="0"/>
        <c:axPos val="l"/>
        <c:majorGridlines>
          <c:spPr>
            <a:ln>
              <a:solidFill>
                <a:srgbClr val="D9DEE3"/>
              </a:solidFill>
            </a:ln>
          </c:spPr>
        </c:majorGridlines>
        <c:title>
          <c:tx>
            <c:rich>
              <a:bodyPr/>
              <a:lstStyle/>
              <a:p>
                <a:r>
                  <a:rPr sz="900" b="0">
                    <a:solidFill>
                      <a:srgbClr val="666666"/>
                    </a:solidFill>
                    <a:latin typeface="Arial"/>
                  </a:rPr>
                  <a:t>Input tokens for the page (millions)</a:t>
                </a:r>
              </a:p>
            </c:rich>
          </c:tx>
          <c:layout/>
          <c:overlay val="0"/>
        </c:title>
        <c:numFmt formatCode="General" sourceLinked="1"/>
        <c:majorTickMark val="out"/>
        <c:minorTickMark val="none"/>
        <c:tickLblPos val="nextTo"/>
        <c:spPr>
          <a:ln>
            <a:solidFill>
              <a:srgbClr val="D9DEE3"/>
            </a:solidFill>
          </a:ln>
        </c:spPr>
        <c:txPr>
          <a:bodyPr/>
          <a:lstStyle/>
          <a:p>
            <a:pPr>
              <a:defRPr sz="900">
                <a:solidFill>
                  <a:srgbClr val="222222"/>
                </a:solidFill>
              </a:defRPr>
            </a:pPr>
          </a:p>
        </c:txPr>
        <c:crossAx val="-2128940872"/>
        <c:crosses val="autoZero"/>
        <c:crossBetween val="midCat"/>
      </c:valAx>
    </c:plotArea>
    <c:legend>
      <c:legendPos val="b"/>
      <c:layout/>
      <c:overlay val="0"/>
      <c:txPr>
        <a:bodyPr/>
        <a:lstStyle/>
        <a:p>
          <a:pPr>
            <a:defRPr sz="900">
              <a:solidFill>
                <a:srgbClr val="222222"/>
              </a:solidFill>
            </a:defRPr>
          </a:pPr>
        </a:p>
      </c:txPr>
    </c:legend>
    <c:plotVisOnly val="1"/>
    <c:dispBlanksAs val="gap"/>
    <c:showDLblsOverMax val="0"/>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Where the input tokens went (millions)</a:t>
            </a:r>
          </a:p>
        </c:rich>
      </c:tx>
      <c:layout/>
      <c:overlay val="0"/>
    </c:title>
    <c:autoTitleDeleted val="0"/>
    <c:plotArea>
      <c:barChart>
        <c:barDir val="col"/>
        <c:grouping val="stacked"/>
        <c:ser>
          <c:idx val="0"/>
          <c:order val="0"/>
          <c:tx>
            <c:strRef>
              <c:f>Sheet1!$B$1</c:f>
              <c:strCache>
                <c:ptCount val="1"/>
                <c:pt idx="0">
                  <c:v>Pages that added content</c:v>
                </c:pt>
              </c:strCache>
            </c:strRef>
          </c:tx>
          <c:spPr>
            <a:solidFill>
              <a:srgbClr val="058DC7"/>
            </a:solidFill>
          </c:spPr>
          <c:cat>
            <c:strRef>
              <c:f>Sheet1!$A$2:$A$5</c:f>
              <c:strCache>
                <c:ptCount val="4"/>
                <c:pt idx="0">
                  <c:v>Tech Spec</c:v>
                </c:pt>
                <c:pt idx="1">
                  <c:v>Product Desc.</c:v>
                </c:pt>
                <c:pt idx="2">
                  <c:v>Price List</c:v>
                </c:pt>
                <c:pt idx="3">
                  <c:v>Service Levels</c:v>
                </c:pt>
              </c:strCache>
            </c:strRef>
          </c:cat>
          <c:val>
            <c:numRef>
              <c:f>Sheet1!$B$2:$B$5</c:f>
              <c:numCache>
                <c:formatCode>General</c:formatCode>
                <c:ptCount val="4"/>
                <c:pt idx="0">
                  <c:v>17.48</c:v>
                </c:pt>
                <c:pt idx="1">
                  <c:v>4.01</c:v>
                </c:pt>
                <c:pt idx="2">
                  <c:v>5.71</c:v>
                </c:pt>
                <c:pt idx="3">
                  <c:v>3.84</c:v>
                </c:pt>
              </c:numCache>
            </c:numRef>
          </c:val>
        </c:ser>
        <c:ser>
          <c:idx val="1"/>
          <c:order val="1"/>
          <c:tx>
            <c:strRef>
              <c:f>Sheet1!$C$1</c:f>
              <c:strCache>
                <c:ptCount val="1"/>
                <c:pt idx="0">
                  <c:v>Failed / empty pages</c:v>
                </c:pt>
              </c:strCache>
            </c:strRef>
          </c:tx>
          <c:spPr>
            <a:solidFill>
              <a:srgbClr val="ED561B"/>
            </a:solidFill>
          </c:spPr>
          <c:cat>
            <c:strRef>
              <c:f>Sheet1!$A$2:$A$5</c:f>
              <c:strCache>
                <c:ptCount val="4"/>
                <c:pt idx="0">
                  <c:v>Tech Spec</c:v>
                </c:pt>
                <c:pt idx="1">
                  <c:v>Product Desc.</c:v>
                </c:pt>
                <c:pt idx="2">
                  <c:v>Price List</c:v>
                </c:pt>
                <c:pt idx="3">
                  <c:v>Service Levels</c:v>
                </c:pt>
              </c:strCache>
            </c:strRef>
          </c:cat>
          <c:val>
            <c:numRef>
              <c:f>Sheet1!$C$2:$C$5</c:f>
              <c:numCache>
                <c:formatCode>General</c:formatCode>
                <c:ptCount val="4"/>
                <c:pt idx="0">
                  <c:v>6.26</c:v>
                </c:pt>
                <c:pt idx="1">
                  <c:v>2.45</c:v>
                </c:pt>
                <c:pt idx="2">
                  <c:v>0.72</c:v>
                </c:pt>
                <c:pt idx="3">
                  <c:v>0.0</c:v>
                </c:pt>
              </c:numCache>
            </c:numRef>
          </c:val>
        </c:ser>
        <c:dLbls>
          <c:numFmt formatCode="0.0;;;" sourceLinked="0"/>
          <c:txPr>
            <a:bodyPr/>
            <a:lstStyle/>
            <a:p>
              <a:pPr>
                <a:defRPr sz="85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5.0"/>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222222"/>
                </a:solidFill>
                <a:latin typeface="Arial"/>
              </a:rPr>
              <a:t>CQ coverage (average CQ score)</a:t>
            </a:r>
          </a:p>
        </c:rich>
      </c:tx>
      <c:layout/>
      <c:overlay val="0"/>
    </c:title>
    <c:autoTitleDeleted val="0"/>
    <c:plotArea>
      <c:barChart>
        <c:barDir val="col"/>
        <c:grouping val="clustered"/>
        <c:ser>
          <c:idx val="0"/>
          <c:order val="0"/>
          <c:tx>
            <c:strRef>
              <c:f>Sheet1!$B$1</c:f>
              <c:strCache>
                <c:ptCount val="1"/>
                <c:pt idx="0">
                  <c:v>Multi-agent (ours) · SPARQL</c:v>
                </c:pt>
              </c:strCache>
            </c:strRef>
          </c:tx>
          <c:spPr>
            <a:solidFill>
              <a:srgbClr val="058DC7"/>
            </a:solidFill>
          </c:spPr>
          <c:cat>
            <c:strRef>
              <c:f>Sheet1!$A$2:$A$5</c:f>
              <c:strCache>
                <c:ptCount val="4"/>
                <c:pt idx="0">
                  <c:v>Tech Spec</c:v>
                </c:pt>
                <c:pt idx="1">
                  <c:v>Product Desc.</c:v>
                </c:pt>
                <c:pt idx="2">
                  <c:v>Price List</c:v>
                </c:pt>
                <c:pt idx="3">
                  <c:v>Service Levels</c:v>
                </c:pt>
              </c:strCache>
            </c:strRef>
          </c:cat>
          <c:val>
            <c:numRef>
              <c:f>Sheet1!$B$2:$B$5</c:f>
              <c:numCache>
                <c:formatCode>General</c:formatCode>
                <c:ptCount val="4"/>
                <c:pt idx="0">
                  <c:v>0.702</c:v>
                </c:pt>
                <c:pt idx="1">
                  <c:v>0.858</c:v>
                </c:pt>
                <c:pt idx="2">
                  <c:v>0.82</c:v>
                </c:pt>
                <c:pt idx="3">
                  <c:v>0.899</c:v>
                </c:pt>
              </c:numCache>
            </c:numRef>
          </c:val>
        </c:ser>
        <c:ser>
          <c:idx val="1"/>
          <c:order val="1"/>
          <c:tx>
            <c:strRef>
              <c:f>Sheet1!$C$1</c:f>
              <c:strCache>
                <c:ptCount val="1"/>
                <c:pt idx="0">
                  <c:v>Multi-agent (ours) · RAG</c:v>
                </c:pt>
              </c:strCache>
            </c:strRef>
          </c:tx>
          <c:spPr>
            <a:solidFill>
              <a:srgbClr val="50B432"/>
            </a:solidFill>
          </c:spPr>
          <c:cat>
            <c:strRef>
              <c:f>Sheet1!$A$2:$A$5</c:f>
              <c:strCache>
                <c:ptCount val="4"/>
                <c:pt idx="0">
                  <c:v>Tech Spec</c:v>
                </c:pt>
                <c:pt idx="1">
                  <c:v>Product Desc.</c:v>
                </c:pt>
                <c:pt idx="2">
                  <c:v>Price List</c:v>
                </c:pt>
                <c:pt idx="3">
                  <c:v>Service Levels</c:v>
                </c:pt>
              </c:strCache>
            </c:strRef>
          </c:cat>
          <c:val>
            <c:numRef>
              <c:f>Sheet1!$C$2:$C$5</c:f>
              <c:numCache>
                <c:formatCode>General</c:formatCode>
                <c:ptCount val="4"/>
                <c:pt idx="0">
                  <c:v>0.6083</c:v>
                </c:pt>
                <c:pt idx="1">
                  <c:v>0.5917</c:v>
                </c:pt>
                <c:pt idx="2">
                  <c:v>0.3417</c:v>
                </c:pt>
                <c:pt idx="3">
                  <c:v>0.7333</c:v>
                </c:pt>
              </c:numCache>
            </c:numRef>
          </c:val>
        </c:ser>
        <c:dLbls>
          <c:numFmt formatCode="0.0000" sourceLinked="0"/>
          <c:txPr>
            <a:bodyPr/>
            <a:lstStyle/>
            <a:p>
              <a:pPr>
                <a:defRPr sz="850">
                  <a:solidFill>
                    <a:srgbClr val="222222"/>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900">
                <a:solidFill>
                  <a:srgbClr val="222222"/>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9DEE3"/>
              </a:solidFill>
            </a:ln>
          </c:spPr>
        </c:majorGridlines>
        <c:majorTickMark val="out"/>
        <c:minorTickMark val="none"/>
        <c:tickLblPos val="nextTo"/>
        <c:spPr>
          <a:ln>
            <a:noFill/>
          </a:ln>
        </c:spPr>
        <c:txPr>
          <a:bodyPr/>
          <a:lstStyle/>
          <a:p>
            <a:pPr>
              <a:defRPr sz="900">
                <a:solidFill>
                  <a:srgbClr val="222222"/>
                </a:solidFill>
              </a:defRPr>
            </a:pPr>
          </a:p>
        </c:txPr>
        <c:crossAx val="-2068027336"/>
        <c:crosses val="autoZero"/>
        <c:majorUnit val="0.2"/>
      </c:valAx>
    </c:plotArea>
    <c:legend>
      <c:legendPos val="b"/>
      <c:overlay val="0"/>
      <c:txPr>
        <a:bodyPr/>
        <a:lstStyle/>
        <a:p>
          <a:pPr>
            <a:defRPr sz="900">
              <a:solidFill>
                <a:srgbClr val="222222"/>
              </a:solidFill>
            </a:defRPr>
          </a:pPr>
        </a:p>
      </c:txPr>
    </c:legend>
    <c:dispBlanksAs val="gap"/>
  </c:chart>
  <c:spPr>
    <a:solidFill>
      <a:srgbClr val="FFFFFF"/>
    </a:solidFill>
    <a:ln>
      <a:noFill/>
    </a:ln>
  </c:spPr>
  <c:txPr>
    <a:bodyPr/>
    <a:lstStyle/>
    <a:p>
      <a:pPr>
        <a:defRPr sz="900">
          <a:solidFill>
            <a:srgbClr val="222222"/>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is the repo we are reproducing: a pipeline of five roles (question writer, domain expert, manager, coder, QA) that turns a PDF into an OWL/Turtle ontology page by page. The next slide explains it in plain words.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4081db853deb87c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4081db853deb87c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repo's other edited files are small fixes (Windows paths, OpenRouter endpoint, missing helper functions, two bugs) - listed in REPRODUCTION.md. Everything about the reference ontology is in the three files above.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4081db853deb87c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h4081db853deb87c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Numbers come from the files at build time. 'Accurate' here means two things: (1) values are on the source page (automatic check), (2) the paper's SPARQL + LLM-judge test on a sample. It does not mean a human has reviewed the ontology.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4081db853deb87c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h4081db853deb87c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Screenshots are of viewer_merged.html: the four ontologies merged into one (the viewer is a single HTML file).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4081db853deb87c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4081db853deb87c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paper has no bar chart; its Table 4 (CQ coverage) is drawn here as bars on the right. On the left is the same measure for our four ontologies. Our numbers are the pipeline's own final evaluation (agents/eval.py, 60 CQs per document, read from ontology/lite/reference/eval). If a score looks high: the questions were written from the same pages the ontology was built from, as in the paper.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Source: the paper, section 3.3 (multi-agent generator) and 3.4 (evaluation). Each page goes through the five roles. SRD = Semantic Requirements Document, TIP = Technical Implementation Plan, ODP = Ontology Design Pattern.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figure is the paper's Figure 2 (page 7 of the PDF), unchanged, with five numbered badges. 1 page selection, 2 reference ontology seeded into the file, 3 reference brief in every agent's prompt, 4 deterministic checks instead of the LLM QA agent (the 'lite' loop), 5 bounded repair (3 rounds, then restore + drop page). Source: Presentation/annotate_paper_figure.py. A more detailed drawing is in assets/pipeline_comparison.png.</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Mechanically: the file is seeded once (lines 1060-1070 of multi_agent.py), the same text is appended to each agent's prompt (five one-line calls), and the extension tags let us tell Farzad's terms from the ones the PDFs added.</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lines 241-257 and 270-275 of helper/reference.py. The text is plain English because the agents are LLMs: it is a prompt, not logic. An earlier version of rule 3 contained a real value from the PDFs (4000) as an example; that leaked an answer to one of our test questions and was removed.</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Line numbers are from the current agents/multi_agent.py. The code lines are cut straight out of the file; only the yellow ◂ labels were added here to say which agent each line belongs to.</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Why: the paper's LLM review loop is expensive and can loop for a very long time. In our first test the QA loops used ~1.4M tokens for 2 pages. The lite checks are plain Python, free, and stricter on numbers: a value that is not on the page is deleted. (Line numbers: grounding.py 205-224 build_feedback; 68-71 the numeric check; multi_agent.py 1159-1163 the strip_ungrounded call.)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Page numbers are PDF page numbers (page 1 = cover). 'Ran, added nothing' means the agent finished without writing any new triples (Product Description page 9). 'Failed' means the page could not be repaired and was rolled back.</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Facts = individuals (data about specific things) added by the documents, not counting Farzad's own 30 values. Price List: facts without a source clause are a known bug (a namespace mismatch made the check delete the clauses), see 'Known problems'.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Score = the paper's SPARQL + judge test, 'processed' (an empty query result counts as 0). Source: ontology/lite/reference/eval/*.json. Each CQ is matched to its PDF page through the CQ files (CQ page keys are 0-based, PDF pages 1-based).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from the run logs ([added] page=N triples=K). Right: counted on the four ontology files after normalising the Price List namespace; 'new' means not part of the reference seed (24 classes, 73 properties, scope core).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Tokens are per page of the final run, taken from the [usage] lines in the run logs (they are cumulative per process, so the script subtracts). Input tokens dominate because every agent call carries the whole ontology (the paper's design). List price: $0.091 per million input, $0.182 per million output tokens (DeepSeek V4 Flash on OpenRouter). Failed or empty pages are the ones where repair rounds kept running.</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Mirrors Table 1 of the paper. Words are counted on the chosen pages only (PyMuPDF text). CQs generated = all CQs of the chosen pages; evaluated = the sample sent to the SPARQL test.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Mirrors Table 4 of the paper (Sample / Metric / Direct Generation / Multi-Agent). Our SPARQL numbers are the pipeline's own final evaluation (60 CQs per document, empty query results set to 0). Direct generation was not run by us, so the column is empty rather than estimated.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Honest list. Each of these is visible in the files, none is hidden.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brains-group/towards_automated_ontology_generatio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hart" Target="../charts/char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9.xml"/><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39450"/>
            <a:ext cx="8520600" cy="102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Based on:</a:t>
            </a:r>
            <a:endParaRPr/>
          </a:p>
        </p:txBody>
      </p:sp>
      <p:sp>
        <p:nvSpPr>
          <p:cNvPr id="55" name="Google Shape;55;p13"/>
          <p:cNvSpPr txBox="1"/>
          <p:nvPr>
            <p:ph idx="1" type="subTitle"/>
          </p:nvPr>
        </p:nvSpPr>
        <p:spPr>
          <a:xfrm>
            <a:off x="311700" y="955750"/>
            <a:ext cx="8520600" cy="792600"/>
          </a:xfrm>
          <a:prstGeom prst="rect">
            <a:avLst/>
          </a:prstGeom>
        </p:spPr>
        <p:txBody>
          <a:bodyPr anchorCtr="0" anchor="t" bIns="91425" lIns="91425" spcFirstLastPara="1" rIns="91425" wrap="square" tIns="91425">
            <a:normAutofit fontScale="70000"/>
          </a:bodyPr>
          <a:lstStyle/>
          <a:p>
            <a:pPr indent="0" lvl="0" marL="0" rtl="0" algn="ctr">
              <a:spcBef>
                <a:spcPts val="0"/>
              </a:spcBef>
              <a:spcAft>
                <a:spcPts val="0"/>
              </a:spcAft>
              <a:buNone/>
            </a:pPr>
            <a:r>
              <a:rPr lang="en-GB" u="sng">
                <a:solidFill>
                  <a:schemeClr val="hlink"/>
                </a:solidFill>
                <a:hlinkClick r:id="rId3"/>
              </a:rPr>
              <a:t>https://github.com/brains-group/towards_automated_ontology_generation</a:t>
            </a:r>
            <a:endParaRPr/>
          </a:p>
          <a:p>
            <a:pPr indent="0" lvl="0" marL="0" rtl="0" algn="ctr">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555800" y="1386725"/>
            <a:ext cx="8104950" cy="3451976"/>
          </a:xfrm>
          <a:prstGeom prst="rect">
            <a:avLst/>
          </a:prstGeom>
          <a:noFill/>
          <a:ln>
            <a:noFill/>
          </a:ln>
        </p:spPr>
      </p:pic>
      <p:sp>
        <p:nvSpPr>
          <p:cNvPr id="57" name="Rectangle 56"/>
          <p:cNvSpPr/>
          <p:nvPr/>
        </p:nvSpPr>
        <p:spPr>
          <a:xfrm>
            <a:off x="557784" y="4873752"/>
            <a:ext cx="8101583"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666666"/>
                </a:solidFill>
                <a:latin typeface="Arial"/>
              </a:rPr>
              <a:t>Applied to the NBN Wholesale Broadband Agreement (WBA) documents  ·  model: DeepSeek V4 Flash</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109975" y="2285400"/>
            <a:ext cx="6849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Where the implementations differ</a:t>
            </a:r>
            <a:endParaRPr/>
          </a:p>
        </p:txBody>
      </p:sp>
      <p:sp>
        <p:nvSpPr>
          <p:cNvPr id="62" name="Google Shape;62;p14"/>
          <p:cNvSpPr txBox="1"/>
          <p:nvPr>
            <p:ph idx="1" type="body"/>
          </p:nvPr>
        </p:nvSpPr>
        <p:spPr>
          <a:xfrm>
            <a:off x="236050" y="753025"/>
            <a:ext cx="8520600" cy="1365000"/>
          </a:xfrm>
          <a:prstGeom prst="rect">
            <a:avLst/>
          </a:prstGeom>
        </p:spPr>
        <p:txBody>
          <a:bodyPr anchorCtr="0" anchor="t" bIns="91425" lIns="91425" spcFirstLastPara="1" rIns="91425" wrap="square" tIns="91425">
            <a:normAutofit/>
          </a:bodyPr>
          <a:lstStyle/>
          <a:p>
            <a:pPr indent="-171450" lvl="0" marL="171450" rtl="0" algn="l">
              <a:spcBef>
                <a:spcPts val="0"/>
              </a:spcBef>
              <a:spcAft>
                <a:spcPts val="400"/>
              </a:spcAft>
              <a:buClr>
                <a:schemeClr val="dk1"/>
              </a:buClr>
              <a:buSzPct val="100000"/>
              <a:buChar char="•"/>
            </a:pPr>
            <a:r>
              <a:rPr sz="1250" b="1" i="0">
                <a:solidFill>
                  <a:srgbClr val="222222"/>
                </a:solidFill>
                <a:latin typeface="Arial"/>
              </a:rPr>
              <a:t>The reference: </a:t>
            </a:r>
            <a:r>
              <a:rPr sz="1250" b="0" i="0">
                <a:solidFill>
                  <a:srgbClr val="222222"/>
                </a:solidFill>
                <a:latin typeface="Arial"/>
              </a:rPr>
              <a:t>Farzad's ontology (dart-project-main in Documents) is the NBN “skeleton”: NNI Group, CVC, AVC, Bearer, POI, Service Level…</a:t>
            </a:r>
            <a:endParaRPr>
              <a:solidFill>
                <a:schemeClr val="dk1"/>
              </a:solidFill>
            </a:endParaRPr>
          </a:p>
          <a:p>
            <a:pPr marL="171450" indent="-171450">
              <a:spcBef>
                <a:spcPts val="0"/>
              </a:spcBef>
              <a:spcAft>
                <a:spcPts val="400"/>
              </a:spcAft>
              <a:buChar char="•"/>
            </a:pPr>
            <a:r>
              <a:rPr sz="1250" b="0" i="0">
                <a:solidFill>
                  <a:srgbClr val="222222"/>
                </a:solidFill>
                <a:latin typeface="Arial"/>
              </a:rPr>
              <a:t>We give the model </a:t>
            </a:r>
            <a:r>
              <a:rPr sz="1250" b="1" i="0">
                <a:solidFill>
                  <a:srgbClr val="222222"/>
                </a:solidFill>
                <a:latin typeface="Arial"/>
              </a:rPr>
              <a:t>24 classes, 73 properties and 30 fixed values</a:t>
            </a:r>
            <a:r>
              <a:rPr sz="1250" b="0" i="0">
                <a:solidFill>
                  <a:srgbClr val="222222"/>
                </a:solidFill>
                <a:latin typeface="Arial"/>
              </a:rPr>
              <a:t> from it (Single / Diverse Chassis, 1 / 10 / 100 Gbps…).</a:t>
            </a:r>
          </a:p>
          <a:p>
            <a:pPr marL="171450" indent="-171450">
              <a:spcBef>
                <a:spcPts val="0"/>
              </a:spcBef>
              <a:spcAft>
                <a:spcPts val="400"/>
              </a:spcAft>
              <a:buChar char="•"/>
            </a:pPr>
            <a:r>
              <a:rPr sz="1250" b="1" i="0">
                <a:solidFill>
                  <a:srgbClr val="222222"/>
                </a:solidFill>
                <a:latin typeface="Arial"/>
              </a:rPr>
              <a:t>Why: </a:t>
            </a:r>
            <a:r>
              <a:rPr sz="1250" b="0" i="0">
                <a:solidFill>
                  <a:srgbClr val="222222"/>
                </a:solidFill>
                <a:latin typeface="Arial"/>
              </a:rPr>
              <a:t>the original repo starts from an empty file, so the model invents its own names. Now it must reuse these, and may add new things from the PDFs only if they are tagged with document + page.</a:t>
            </a:r>
          </a:p>
        </p:txBody>
      </p:sp>
      <p:sp>
        <p:nvSpPr>
          <p:cNvPr id="63" name="Google Shape;63;p14"/>
          <p:cNvSpPr txBox="1"/>
          <p:nvPr>
            <p:ph type="title"/>
          </p:nvPr>
        </p:nvSpPr>
        <p:spPr>
          <a:xfrm>
            <a:off x="236050" y="244450"/>
            <a:ext cx="3420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had to be added </a:t>
            </a:r>
            <a:endParaRPr/>
          </a:p>
        </p:txBody>
      </p:sp>
      <p:sp>
        <p:nvSpPr>
          <p:cNvPr id="64" name="Google Shape;64;p14"/>
          <p:cNvSpPr txBox="1"/>
          <p:nvPr>
            <p:ph idx="1" type="body"/>
          </p:nvPr>
        </p:nvSpPr>
        <p:spPr>
          <a:xfrm>
            <a:off x="236050" y="2858100"/>
            <a:ext cx="8520600" cy="1365000"/>
          </a:xfrm>
          <a:prstGeom prst="rect">
            <a:avLst/>
          </a:prstGeom>
        </p:spPr>
        <p:txBody>
          <a:bodyPr anchorCtr="0" anchor="t" bIns="91425" lIns="91425" spcFirstLastPara="1" rIns="91425" wrap="square" tIns="91425">
            <a:normAutofit/>
          </a:bodyPr>
          <a:lstStyle/>
          <a:p>
            <a:pPr indent="-171450" lvl="0" marL="171450" rtl="0" algn="l">
              <a:spcBef>
                <a:spcPts val="0"/>
              </a:spcBef>
              <a:spcAft>
                <a:spcPts val="400"/>
              </a:spcAft>
              <a:buChar char="•"/>
            </a:pPr>
            <a:r>
              <a:rPr sz="1050" b="1" i="0">
                <a:solidFill>
                  <a:srgbClr val="222222"/>
                </a:solidFill>
                <a:latin typeface="Consolas"/>
              </a:rPr>
              <a:t>helper/reference.py</a:t>
            </a:r>
            <a:r>
              <a:rPr sz="1250" b="0" i="0">
                <a:solidFill>
                  <a:srgbClr val="222222"/>
                </a:solidFill>
                <a:latin typeface="Arial"/>
              </a:rPr>
              <a:t> (new): loads the reference, writes it into the file, builds the text the agents get</a:t>
            </a:r>
            <a:endParaRPr>
              <a:solidFill>
                <a:schemeClr val="dk1"/>
              </a:solidFill>
            </a:endParaRPr>
          </a:p>
          <a:p>
            <a:pPr marL="171450" indent="-171450">
              <a:spcBef>
                <a:spcPts val="0"/>
              </a:spcBef>
              <a:spcAft>
                <a:spcPts val="400"/>
              </a:spcAft>
              <a:buChar char="•"/>
            </a:pPr>
            <a:r>
              <a:rPr sz="1050" b="1" i="0">
                <a:solidFill>
                  <a:srgbClr val="222222"/>
                </a:solidFill>
                <a:latin typeface="Consolas"/>
              </a:rPr>
              <a:t>agents/multi_agent.py</a:t>
            </a:r>
            <a:r>
              <a:rPr sz="1250" b="0" i="0">
                <a:solidFill>
                  <a:srgbClr val="222222"/>
                </a:solidFill>
                <a:latin typeface="Arial"/>
              </a:rPr>
              <a:t> (+235 / −29 lines): sends that text to all 5 agents, seeds the file, adds the “lite” checks</a:t>
            </a:r>
          </a:p>
          <a:p>
            <a:pPr marL="171450" indent="-171450">
              <a:spcBef>
                <a:spcPts val="0"/>
              </a:spcBef>
              <a:spcAft>
                <a:spcPts val="400"/>
              </a:spcAft>
              <a:buChar char="•"/>
            </a:pPr>
            <a:r>
              <a:rPr sz="1050" b="1" i="0">
                <a:solidFill>
                  <a:srgbClr val="222222"/>
                </a:solidFill>
                <a:latin typeface="Consolas"/>
              </a:rPr>
              <a:t>helper/grounding.py</a:t>
            </a:r>
            <a:r>
              <a:rPr sz="1250" b="0" i="0">
                <a:solidFill>
                  <a:srgbClr val="222222"/>
                </a:solidFill>
                <a:latin typeface="Arial"/>
              </a:rPr>
              <a:t> (new): checks every number against the PDF page</a:t>
            </a:r>
          </a:p>
          <a:p>
            <a:pPr marL="171450" indent="-171450">
              <a:spcBef>
                <a:spcPts val="0"/>
              </a:spcBef>
              <a:spcAft>
                <a:spcPts val="400"/>
              </a:spcAft>
              <a:buChar char="•"/>
            </a:pPr>
            <a:r>
              <a:rPr sz="1250" b="0" i="1">
                <a:solidFill>
                  <a:srgbClr val="666666"/>
                </a:solidFill>
                <a:latin typeface="Arial"/>
              </a:rPr>
              <a:t>Exact code on the next slides →</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Accuracy &amp; metrics</a:t>
            </a:r>
            <a:endParaRPr/>
          </a:p>
        </p:txBody>
      </p:sp>
      <p:sp>
        <p:nvSpPr>
          <p:cNvPr id="70" name="Google Shape;70;p15"/>
          <p:cNvSpPr txBox="1"/>
          <p:nvPr>
            <p:ph idx="1" type="body"/>
          </p:nvPr>
        </p:nvSpPr>
        <p:spPr>
          <a:xfrm>
            <a:off x="311700" y="960120"/>
            <a:ext cx="8520600" cy="2514600"/>
          </a:xfrm>
          <a:prstGeom prst="rect">
            <a:avLst/>
          </a:prstGeom>
        </p:spPr>
        <p:txBody>
          <a:bodyPr anchorCtr="0" anchor="t" bIns="91425" lIns="91425" spcFirstLastPara="1" rIns="91425" wrap="square" tIns="91425">
            <a:normAutofit/>
          </a:bodyPr>
          <a:lstStyle/>
          <a:p>
            <a:pPr indent="0" lvl="0" marL="0" rtl="0" algn="l">
              <a:spcBef>
                <a:spcPts val="0"/>
              </a:spcBef>
              <a:spcAft>
                <a:spcPts val="800"/>
              </a:spcAft>
              <a:buNone/>
            </a:pPr>
            <a:r>
              <a:rPr sz="1300" b="1" i="0">
                <a:solidFill>
                  <a:srgbClr val="058DC7"/>
                </a:solidFill>
                <a:latin typeface="Arial"/>
              </a:rPr>
              <a:t>How accurate is it?  </a:t>
            </a:r>
            <a:r>
              <a:rPr sz="1300" b="0" i="0">
                <a:solidFill>
                  <a:srgbClr val="222222"/>
                </a:solidFill>
                <a:latin typeface="Arial"/>
              </a:rPr>
              <a:t>Numbers, dates and durations are checked against the text of their own page; 73 that were not on the page were deleted (Price List excluded, see the last slide). SPARQL + judge test (paper's method): 186 of 240 sampled questions fully correct.</a:t>
            </a:r>
            <a:endParaRPr/>
          </a:p>
          <a:p>
            <a:pPr marL="0" indent="0">
              <a:spcBef>
                <a:spcPts val="0"/>
              </a:spcBef>
              <a:spcAft>
                <a:spcPts val="800"/>
              </a:spcAft>
              <a:buNone/>
            </a:pPr>
            <a:r>
              <a:rPr sz="1300" b="1" i="0">
                <a:solidFill>
                  <a:srgbClr val="058DC7"/>
                </a:solidFill>
                <a:latin typeface="Arial"/>
              </a:rPr>
              <a:t>How specific?  </a:t>
            </a:r>
            <a:r>
              <a:rPr sz="1300" b="0" i="0">
                <a:solidFill>
                  <a:srgbClr val="222222"/>
                </a:solidFill>
                <a:latin typeface="Arial"/>
              </a:rPr>
              <a:t>Each limit keeps its condition, value, unit and source, e.g. “Bearer Limit: 8 NNI Bearers for 1G/10G · section 6.1 · page 28”. So far, merged: 351 new classes, 651 new properties and 1239 facts.</a:t>
            </a:r>
          </a:p>
          <a:p>
            <a:pPr marL="0" indent="0">
              <a:spcBef>
                <a:spcPts val="0"/>
              </a:spcBef>
              <a:spcAft>
                <a:spcPts val="800"/>
              </a:spcAft>
              <a:buNone/>
            </a:pPr>
            <a:r>
              <a:rPr sz="1300" b="1" i="0">
                <a:solidFill>
                  <a:srgbClr val="058DC7"/>
                </a:solidFill>
                <a:latin typeface="Arial"/>
              </a:rPr>
              <a:t>What is included / left out?  </a:t>
            </a:r>
            <a:r>
              <a:rPr sz="1300" b="0" i="0">
                <a:solidFill>
                  <a:srgbClr val="222222"/>
                </a:solidFill>
                <a:latin typeface="Arial"/>
              </a:rPr>
              <a:t>Included: 4 documents, 46 key pages of the 51 chosen (out of 188 pages). Left out: 4 pages that failed, 1 that added nothing, and the other 50 PDFs. Price List facts mostly lack a source clause (bug, slide 'Known problems').</a:t>
            </a:r>
          </a:p>
        </p:txBody>
      </p:sp>
      <p:sp>
        <p:nvSpPr>
          <p:cNvPr id="71" name="Rounded Rectangle 70"/>
          <p:cNvSpPr/>
          <p:nvPr/>
        </p:nvSpPr>
        <p:spPr>
          <a:xfrm>
            <a:off x="310896" y="3611880"/>
            <a:ext cx="2029968" cy="11887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2400" b="1" i="0">
                <a:solidFill>
                  <a:srgbClr val="058DC7"/>
                </a:solidFill>
                <a:latin typeface="Arial"/>
              </a:rPr>
              <a:t>46 / 51</a:t>
            </a:r>
          </a:p>
          <a:p>
            <a:pPr algn="ctr">
              <a:spcAft>
                <a:spcPts val="0"/>
              </a:spcAft>
            </a:pPr>
            <a:r>
              <a:rPr sz="1050" b="0" i="0">
                <a:solidFill>
                  <a:srgbClr val="666666"/>
                </a:solidFill>
                <a:latin typeface="Arial"/>
              </a:rPr>
              <a:t>key pages in the ontology</a:t>
            </a:r>
          </a:p>
        </p:txBody>
      </p:sp>
      <p:sp>
        <p:nvSpPr>
          <p:cNvPr id="72" name="Rounded Rectangle 71"/>
          <p:cNvSpPr/>
          <p:nvPr/>
        </p:nvSpPr>
        <p:spPr>
          <a:xfrm>
            <a:off x="2478024" y="3611880"/>
            <a:ext cx="2029968" cy="11887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2400" b="1" i="0">
                <a:solidFill>
                  <a:srgbClr val="058DC7"/>
                </a:solidFill>
                <a:latin typeface="Arial"/>
              </a:rPr>
              <a:t>72%</a:t>
            </a:r>
          </a:p>
          <a:p>
            <a:pPr algn="ctr">
              <a:spcAft>
                <a:spcPts val="0"/>
              </a:spcAft>
            </a:pPr>
            <a:r>
              <a:rPr sz="1050" b="0" i="0">
                <a:solidFill>
                  <a:srgbClr val="666666"/>
                </a:solidFill>
                <a:latin typeface="Arial"/>
              </a:rPr>
              <a:t>facts with a source clause</a:t>
            </a:r>
          </a:p>
        </p:txBody>
      </p:sp>
      <p:sp>
        <p:nvSpPr>
          <p:cNvPr id="73" name="Rounded Rectangle 72"/>
          <p:cNvSpPr/>
          <p:nvPr/>
        </p:nvSpPr>
        <p:spPr>
          <a:xfrm>
            <a:off x="4645152" y="3611880"/>
            <a:ext cx="2029968" cy="11887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2400" b="1" i="0">
                <a:solidFill>
                  <a:srgbClr val="058DC7"/>
                </a:solidFill>
                <a:latin typeface="Arial"/>
              </a:rPr>
              <a:t>186 / 240</a:t>
            </a:r>
          </a:p>
          <a:p>
            <a:pPr algn="ctr">
              <a:spcAft>
                <a:spcPts val="0"/>
              </a:spcAft>
            </a:pPr>
            <a:r>
              <a:rPr sz="1050" b="0" i="0">
                <a:solidFill>
                  <a:srgbClr val="666666"/>
                </a:solidFill>
                <a:latin typeface="Arial"/>
              </a:rPr>
              <a:t>test questions fully correct</a:t>
            </a:r>
          </a:p>
        </p:txBody>
      </p:sp>
      <p:sp>
        <p:nvSpPr>
          <p:cNvPr id="74" name="Rounded Rectangle 73"/>
          <p:cNvSpPr/>
          <p:nvPr/>
        </p:nvSpPr>
        <p:spPr>
          <a:xfrm>
            <a:off x="6812280" y="3611880"/>
            <a:ext cx="2029968" cy="11887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2400" b="1" i="0">
                <a:solidFill>
                  <a:srgbClr val="ED561B"/>
                </a:solidFill>
                <a:latin typeface="Arial"/>
              </a:rPr>
              <a:t>32</a:t>
            </a:r>
          </a:p>
          <a:p>
            <a:pPr algn="ctr">
              <a:spcAft>
                <a:spcPts val="0"/>
              </a:spcAft>
            </a:pPr>
            <a:r>
              <a:rPr sz="1050" b="0" i="0">
                <a:solidFill>
                  <a:srgbClr val="666666"/>
                </a:solidFill>
                <a:latin typeface="Arial"/>
              </a:rPr>
              <a:t>near-duplicate class pairs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0896" y="228600"/>
            <a:ext cx="8522208" cy="566928"/>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sz="2600">
                <a:solidFill>
                  <a:srgbClr val="222222"/>
                </a:solidFill>
                <a:latin typeface="Arial"/>
              </a:rPr>
              <a:t>Screenshot of the system (1/2)</a:t>
            </a:r>
            <a:endParaRPr/>
          </a:p>
        </p:txBody>
      </p:sp>
      <p:pic>
        <p:nvPicPr>
          <p:cNvPr id="76" name="Picture 75" descr="shot_overview.png"/>
          <p:cNvPicPr>
            <a:picLocks noChangeAspect="1"/>
          </p:cNvPicPr>
          <p:nvPr/>
        </p:nvPicPr>
        <p:blipFill>
          <a:blip r:embed="rId3"/>
          <a:stretch>
            <a:fillRect/>
          </a:stretch>
        </p:blipFill>
        <p:spPr>
          <a:xfrm>
            <a:off x="310896" y="914400"/>
            <a:ext cx="4160520" cy="2420666"/>
          </a:xfrm>
          <a:prstGeom prst="rect">
            <a:avLst/>
          </a:prstGeom>
          <a:ln w="9525">
            <a:solidFill>
              <a:srgbClr val="D9DEE3"/>
            </a:solidFill>
          </a:ln>
        </p:spPr>
      </p:pic>
      <p:sp>
        <p:nvSpPr>
          <p:cNvPr id="77" name="Rectangle 76"/>
          <p:cNvSpPr/>
          <p:nvPr/>
        </p:nvSpPr>
        <p:spPr>
          <a:xfrm>
            <a:off x="310896" y="3362497"/>
            <a:ext cx="4160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666666"/>
                </a:solidFill>
                <a:latin typeface="Arial"/>
              </a:rPr>
              <a:t>Overview: totals, extension classes per document, reference classes</a:t>
            </a:r>
          </a:p>
        </p:txBody>
      </p:sp>
      <p:pic>
        <p:nvPicPr>
          <p:cNvPr id="78" name="Picture 77" descr="shot_graph.png"/>
          <p:cNvPicPr>
            <a:picLocks noChangeAspect="1"/>
          </p:cNvPicPr>
          <p:nvPr/>
        </p:nvPicPr>
        <p:blipFill>
          <a:blip r:embed="rId4"/>
          <a:stretch>
            <a:fillRect/>
          </a:stretch>
        </p:blipFill>
        <p:spPr>
          <a:xfrm>
            <a:off x="4672584" y="914400"/>
            <a:ext cx="4160520" cy="2420666"/>
          </a:xfrm>
          <a:prstGeom prst="rect">
            <a:avLst/>
          </a:prstGeom>
          <a:ln w="9525">
            <a:solidFill>
              <a:srgbClr val="D9DEE3"/>
            </a:solidFill>
          </a:ln>
        </p:spPr>
      </p:pic>
      <p:sp>
        <p:nvSpPr>
          <p:cNvPr id="79" name="Rectangle 78"/>
          <p:cNvSpPr/>
          <p:nvPr/>
        </p:nvSpPr>
        <p:spPr>
          <a:xfrm>
            <a:off x="4672584" y="3362497"/>
            <a:ext cx="4160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666666"/>
                </a:solidFill>
                <a:latin typeface="Arial"/>
              </a:rPr>
              <a:t>Graph: NNIGroup (blue = Farzad's terms, orange = added from the PDFs)</a:t>
            </a:r>
          </a:p>
        </p:txBody>
      </p:sp>
      <p:sp>
        <p:nvSpPr>
          <p:cNvPr id="80" name="Rounded Rectangle 79"/>
          <p:cNvSpPr/>
          <p:nvPr/>
        </p:nvSpPr>
        <p:spPr>
          <a:xfrm>
            <a:off x="310896" y="4023360"/>
            <a:ext cx="8522208" cy="77724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pPr>
            <a:r>
              <a:rPr sz="1100" b="1" i="0">
                <a:solidFill>
                  <a:srgbClr val="222222"/>
                </a:solidFill>
                <a:latin typeface="Arial"/>
              </a:rPr>
              <a:t>What you see: </a:t>
            </a:r>
            <a:r>
              <a:rPr sz="1100" b="0" i="0">
                <a:solidFill>
                  <a:srgbClr val="222222"/>
                </a:solidFill>
                <a:latin typeface="Arial"/>
              </a:rPr>
              <a:t>an offline web page (viewer/ontology_viewer.html: one file, no server). Blue = Farzad's terms, orange = what the PDFs added. Click a class to see its properties, parents and facts.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0896" y="228600"/>
            <a:ext cx="8522208" cy="566928"/>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sz="2600">
                <a:solidFill>
                  <a:srgbClr val="222222"/>
                </a:solidFill>
                <a:latin typeface="Arial"/>
              </a:rPr>
              <a:t>CQ coverage — the paper's Table 4 as bars</a:t>
            </a:r>
            <a:endParaRPr/>
          </a:p>
        </p:txBody>
      </p:sp>
      <p:graphicFrame>
        <p:nvGraphicFramePr>
          <p:cNvPr id="82" name="Chart 81"/>
          <p:cNvGraphicFramePr>
            <a:graphicFrameLocks noGrp="1"/>
          </p:cNvGraphicFramePr>
          <p:nvPr/>
        </p:nvGraphicFramePr>
        <p:xfrm>
          <a:off x="310896" y="868680"/>
          <a:ext cx="4297680" cy="2926080"/>
        </p:xfrm>
        <a:graphic>
          <a:graphicData uri="http://schemas.openxmlformats.org/drawingml/2006/chart">
            <c:chart r:id="rId3"/>
          </a:graphicData>
        </a:graphic>
      </p:graphicFrame>
      <p:graphicFrame>
        <p:nvGraphicFramePr>
          <p:cNvPr id="83" name="Chart 82"/>
          <p:cNvGraphicFramePr>
            <a:graphicFrameLocks noGrp="1"/>
          </p:cNvGraphicFramePr>
          <p:nvPr/>
        </p:nvGraphicFramePr>
        <p:xfrm>
          <a:off x="4754880" y="868680"/>
          <a:ext cx="4078224" cy="2926080"/>
        </p:xfrm>
        <a:graphic>
          <a:graphicData uri="http://schemas.openxmlformats.org/drawingml/2006/chart">
            <c:chart r:id="rId4"/>
          </a:graphicData>
        </a:graphic>
      </p:graphicFrame>
      <p:sp>
        <p:nvSpPr>
          <p:cNvPr id="84" name="Rounded Rectangle 83"/>
          <p:cNvSpPr/>
          <p:nvPr/>
        </p:nvSpPr>
        <p:spPr>
          <a:xfrm>
            <a:off x="310896" y="3840480"/>
            <a:ext cx="8522208" cy="1069848"/>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950" b="1" i="0">
                <a:solidFill>
                  <a:srgbClr val="222222"/>
                </a:solidFill>
                <a:latin typeface="Arial"/>
              </a:rPr>
              <a:t>How to read it: </a:t>
            </a:r>
            <a:r>
              <a:rPr sz="950" b="0" i="0">
                <a:solidFill>
                  <a:srgbClr val="222222"/>
                </a:solidFill>
                <a:latin typeface="Arial"/>
              </a:rPr>
              <a:t>same measure as the paper: an LLM writes SPARQL for each CQ, the query runs, a judge scores 0–1. “Processed” sets empty query results to 0, as the paper does. Ours: 60 CQs per document, sampled over all the pages chosen, including pages that failed (next slides split this up).</a:t>
            </a:r>
          </a:p>
          <a:p>
            <a:pPr algn="l">
              <a:spcAft>
                <a:spcPts val="200"/>
              </a:spcAft>
            </a:pPr>
            <a:r>
              <a:rPr sz="950" b="1" i="0">
                <a:solidFill>
                  <a:srgbClr val="ED561B"/>
                </a:solidFill>
                <a:latin typeface="Arial"/>
              </a:rPr>
              <a:t>Not a blind test: </a:t>
            </a:r>
            <a:r>
              <a:rPr sz="950" b="0" i="0">
                <a:solidFill>
                  <a:srgbClr val="222222"/>
                </a:solidFill>
                <a:latin typeface="Arial"/>
              </a:rPr>
              <a:t>those CQs were written from the same pages and given to the agents as requirements (as in the paper). Held-out reference questions (never shown to the agents, though some answers sit in the reference seed): Technical Specification 7 questions → 0.97; Service Levels 1 question → 0.00. Different documents, model and questions from the paper. The paper's RAG coverage for our ontologies is on the Table 4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The paper's pipeline in plain words</a:t>
            </a:r>
          </a:p>
        </p:txBody>
      </p:sp>
      <p:sp>
        <p:nvSpPr>
          <p:cNvPr id="3" name="Rounded Rectangle 2"/>
          <p:cNvSpPr/>
          <p:nvPr/>
        </p:nvSpPr>
        <p:spPr>
          <a:xfrm>
            <a:off x="310896" y="914400"/>
            <a:ext cx="1097280" cy="566928"/>
          </a:xfrm>
          <a:prstGeom prst="roundRect">
            <a:avLst>
              <a:gd name="adj" fmla="val 8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PDF page</a:t>
            </a:r>
          </a:p>
        </p:txBody>
      </p:sp>
      <p:sp>
        <p:nvSpPr>
          <p:cNvPr id="4" name="Rectangle 3"/>
          <p:cNvSpPr/>
          <p:nvPr/>
        </p:nvSpPr>
        <p:spPr>
          <a:xfrm>
            <a:off x="310896" y="1536192"/>
            <a:ext cx="109728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222222"/>
                </a:solidFill>
                <a:latin typeface="Arial"/>
              </a:rPr>
              <a:t>One page of the document at a time</a:t>
            </a:r>
          </a:p>
        </p:txBody>
      </p:sp>
      <p:cxnSp>
        <p:nvCxnSpPr>
          <p:cNvPr id="5" name="Connector 4"/>
          <p:cNvCxnSpPr/>
          <p:nvPr/>
        </p:nvCxnSpPr>
        <p:spPr>
          <a:xfrm>
            <a:off x="1417320" y="1197864"/>
            <a:ext cx="118872"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545336" y="914400"/>
            <a:ext cx="1097280" cy="566928"/>
          </a:xfrm>
          <a:prstGeom prst="roundRect">
            <a:avLst>
              <a:gd name="adj" fmla="val 8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① Question writer</a:t>
            </a:r>
          </a:p>
          <a:p>
            <a:pPr algn="ctr">
              <a:spcAft>
                <a:spcPts val="0"/>
              </a:spcAft>
            </a:pPr>
            <a:r>
              <a:rPr sz="800" b="0" i="0">
                <a:solidFill>
                  <a:srgbClr val="FFFFFF"/>
                </a:solidFill>
                <a:latin typeface="Arial"/>
              </a:rPr>
              <a:t>CQ generator</a:t>
            </a:r>
          </a:p>
        </p:txBody>
      </p:sp>
      <p:sp>
        <p:nvSpPr>
          <p:cNvPr id="7" name="Rectangle 6"/>
          <p:cNvSpPr/>
          <p:nvPr/>
        </p:nvSpPr>
        <p:spPr>
          <a:xfrm>
            <a:off x="1545336" y="1536192"/>
            <a:ext cx="109728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222222"/>
                </a:solidFill>
                <a:latin typeface="Arial"/>
              </a:rPr>
              <a:t>Writes test questions with the right answers, e.g. “Max NNI Bearers in a group?” → 8</a:t>
            </a:r>
          </a:p>
        </p:txBody>
      </p:sp>
      <p:cxnSp>
        <p:nvCxnSpPr>
          <p:cNvPr id="8" name="Connector 7"/>
          <p:cNvCxnSpPr/>
          <p:nvPr/>
        </p:nvCxnSpPr>
        <p:spPr>
          <a:xfrm>
            <a:off x="2651759" y="1197864"/>
            <a:ext cx="118873"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79775" y="914400"/>
            <a:ext cx="1097280" cy="566928"/>
          </a:xfrm>
          <a:prstGeom prst="roundRect">
            <a:avLst>
              <a:gd name="adj" fmla="val 8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② Analyst</a:t>
            </a:r>
          </a:p>
          <a:p>
            <a:pPr algn="ctr">
              <a:spcAft>
                <a:spcPts val="0"/>
              </a:spcAft>
            </a:pPr>
            <a:r>
              <a:rPr sz="800" b="0" i="0">
                <a:solidFill>
                  <a:srgbClr val="FFFFFF"/>
                </a:solidFill>
                <a:latin typeface="Arial"/>
              </a:rPr>
              <a:t>Domain Expert → SRD</a:t>
            </a:r>
          </a:p>
        </p:txBody>
      </p:sp>
      <p:sp>
        <p:nvSpPr>
          <p:cNvPr id="10" name="Rectangle 9"/>
          <p:cNvSpPr/>
          <p:nvPr/>
        </p:nvSpPr>
        <p:spPr>
          <a:xfrm>
            <a:off x="2779775" y="1536192"/>
            <a:ext cx="109728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222222"/>
                </a:solidFill>
                <a:latin typeface="Arial"/>
              </a:rPr>
              <a:t>Lists the concepts, links and numbers needed to answer the questions</a:t>
            </a:r>
          </a:p>
        </p:txBody>
      </p:sp>
      <p:cxnSp>
        <p:nvCxnSpPr>
          <p:cNvPr id="11" name="Connector 10"/>
          <p:cNvCxnSpPr/>
          <p:nvPr/>
        </p:nvCxnSpPr>
        <p:spPr>
          <a:xfrm>
            <a:off x="3886199" y="1197864"/>
            <a:ext cx="118873"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14215" y="914400"/>
            <a:ext cx="1097280" cy="566928"/>
          </a:xfrm>
          <a:prstGeom prst="roundRect">
            <a:avLst>
              <a:gd name="adj" fmla="val 8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③ Architect</a:t>
            </a:r>
          </a:p>
          <a:p>
            <a:pPr algn="ctr">
              <a:spcAft>
                <a:spcPts val="0"/>
              </a:spcAft>
            </a:pPr>
            <a:r>
              <a:rPr sz="800" b="0" i="0">
                <a:solidFill>
                  <a:srgbClr val="FFFFFF"/>
                </a:solidFill>
                <a:latin typeface="Arial"/>
              </a:rPr>
              <a:t>Manager → TIP</a:t>
            </a:r>
          </a:p>
        </p:txBody>
      </p:sp>
      <p:sp>
        <p:nvSpPr>
          <p:cNvPr id="13" name="Rectangle 12"/>
          <p:cNvSpPr/>
          <p:nvPr/>
        </p:nvSpPr>
        <p:spPr>
          <a:xfrm>
            <a:off x="4014215" y="1536192"/>
            <a:ext cx="109728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222222"/>
                </a:solidFill>
                <a:latin typeface="Arial"/>
              </a:rPr>
              <a:t>Plans how to model them with standard design patterns (ODPs)</a:t>
            </a:r>
          </a:p>
        </p:txBody>
      </p:sp>
      <p:cxnSp>
        <p:nvCxnSpPr>
          <p:cNvPr id="14" name="Connector 13"/>
          <p:cNvCxnSpPr/>
          <p:nvPr/>
        </p:nvCxnSpPr>
        <p:spPr>
          <a:xfrm>
            <a:off x="5120640" y="1197864"/>
            <a:ext cx="118872"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48655" y="914400"/>
            <a:ext cx="1097280" cy="566928"/>
          </a:xfrm>
          <a:prstGeom prst="roundRect">
            <a:avLst>
              <a:gd name="adj" fmla="val 8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④ Builder</a:t>
            </a:r>
          </a:p>
          <a:p>
            <a:pPr algn="ctr">
              <a:spcAft>
                <a:spcPts val="0"/>
              </a:spcAft>
            </a:pPr>
            <a:r>
              <a:rPr sz="800" b="0" i="0">
                <a:solidFill>
                  <a:srgbClr val="FFFFFF"/>
                </a:solidFill>
                <a:latin typeface="Arial"/>
              </a:rPr>
              <a:t>Coder (edits file)</a:t>
            </a:r>
          </a:p>
        </p:txBody>
      </p:sp>
      <p:sp>
        <p:nvSpPr>
          <p:cNvPr id="16" name="Rectangle 15"/>
          <p:cNvSpPr/>
          <p:nvPr/>
        </p:nvSpPr>
        <p:spPr>
          <a:xfrm>
            <a:off x="5248655" y="1536192"/>
            <a:ext cx="109728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222222"/>
                </a:solidFill>
                <a:latin typeface="Arial"/>
              </a:rPr>
              <a:t>Writes the Turtle (.ttl) triples into the ontology file</a:t>
            </a:r>
          </a:p>
        </p:txBody>
      </p:sp>
      <p:cxnSp>
        <p:nvCxnSpPr>
          <p:cNvPr id="17" name="Connector 16"/>
          <p:cNvCxnSpPr/>
          <p:nvPr/>
        </p:nvCxnSpPr>
        <p:spPr>
          <a:xfrm>
            <a:off x="6355079" y="1197864"/>
            <a:ext cx="118873"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83095" y="914400"/>
            <a:ext cx="1097280" cy="566928"/>
          </a:xfrm>
          <a:prstGeom prst="roundRect">
            <a:avLst>
              <a:gd name="adj" fmla="val 8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⑤ Inspector</a:t>
            </a:r>
          </a:p>
          <a:p>
            <a:pPr algn="ctr">
              <a:spcAft>
                <a:spcPts val="0"/>
              </a:spcAft>
            </a:pPr>
            <a:r>
              <a:rPr sz="800" b="0" i="0">
                <a:solidFill>
                  <a:srgbClr val="FFFFFF"/>
                </a:solidFill>
                <a:latin typeface="Arial"/>
              </a:rPr>
              <a:t>QA + QA-Coder</a:t>
            </a:r>
          </a:p>
        </p:txBody>
      </p:sp>
      <p:sp>
        <p:nvSpPr>
          <p:cNvPr id="19" name="Rectangle 18"/>
          <p:cNvSpPr/>
          <p:nvPr/>
        </p:nvSpPr>
        <p:spPr>
          <a:xfrm>
            <a:off x="6483095" y="1536192"/>
            <a:ext cx="109728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222222"/>
                </a:solidFill>
                <a:latin typeface="Arial"/>
              </a:rPr>
              <a:t>Three gates: design review, syntax check, logic (OWL) check. Sends fixes back</a:t>
            </a:r>
          </a:p>
        </p:txBody>
      </p:sp>
      <p:cxnSp>
        <p:nvCxnSpPr>
          <p:cNvPr id="20" name="Connector 19"/>
          <p:cNvCxnSpPr/>
          <p:nvPr/>
        </p:nvCxnSpPr>
        <p:spPr>
          <a:xfrm>
            <a:off x="7589519" y="1197864"/>
            <a:ext cx="118873"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17536" y="914400"/>
            <a:ext cx="1097280" cy="566928"/>
          </a:xfrm>
          <a:prstGeom prst="roundRect">
            <a:avLst>
              <a:gd name="adj" fmla="val 8000"/>
            </a:avLst>
          </a:prstGeom>
          <a:solidFill>
            <a:srgbClr val="50B4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ontology.ttl</a:t>
            </a:r>
          </a:p>
          <a:p>
            <a:pPr algn="ctr">
              <a:spcAft>
                <a:spcPts val="0"/>
              </a:spcAft>
            </a:pPr>
            <a:r>
              <a:rPr sz="800" b="0" i="0">
                <a:solidFill>
                  <a:srgbClr val="FFFFFF"/>
                </a:solidFill>
                <a:latin typeface="Arial"/>
              </a:rPr>
              <a:t>output</a:t>
            </a:r>
          </a:p>
        </p:txBody>
      </p:sp>
      <p:sp>
        <p:nvSpPr>
          <p:cNvPr id="22" name="Rectangle 21"/>
          <p:cNvSpPr/>
          <p:nvPr/>
        </p:nvSpPr>
        <p:spPr>
          <a:xfrm>
            <a:off x="7717536" y="1536192"/>
            <a:ext cx="109728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222222"/>
                </a:solidFill>
                <a:latin typeface="Arial"/>
              </a:rPr>
              <a:t>Grows page by page. The whole file is pasted into every prompt</a:t>
            </a:r>
          </a:p>
        </p:txBody>
      </p:sp>
      <p:sp>
        <p:nvSpPr>
          <p:cNvPr id="23" name="Rectangle 22"/>
          <p:cNvSpPr/>
          <p:nvPr/>
        </p:nvSpPr>
        <p:spPr>
          <a:xfrm>
            <a:off x="310896" y="3017520"/>
            <a:ext cx="852220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100" b="0" i="1">
                <a:solidFill>
                  <a:srgbClr val="666666"/>
                </a:solidFill>
                <a:latin typeface="Arial"/>
              </a:rPr>
              <a:t>Think of a small team: a question-writer, an analyst, an architect, a builder and an inspector, passing a document to each other.</a:t>
            </a:r>
          </a:p>
        </p:txBody>
      </p:sp>
      <p:sp>
        <p:nvSpPr>
          <p:cNvPr id="24" name="Rounded Rectangle 23"/>
          <p:cNvSpPr/>
          <p:nvPr/>
        </p:nvSpPr>
        <p:spPr>
          <a:xfrm>
            <a:off x="310896" y="3429000"/>
            <a:ext cx="4160520" cy="132588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65836" bIns="65836"/>
          <a:lstStyle/>
          <a:p>
            <a:pPr algn="l">
              <a:spcAft>
                <a:spcPts val="300"/>
              </a:spcAft>
            </a:pPr>
            <a:r>
              <a:rPr sz="1200" b="1" i="0">
                <a:solidFill>
                  <a:srgbClr val="058DC7"/>
                </a:solidFill>
                <a:latin typeface="Arial"/>
              </a:rPr>
              <a:t>Then it is tested (evaluation)</a:t>
            </a:r>
          </a:p>
          <a:p>
            <a:pPr algn="l">
              <a:spcAft>
                <a:spcPts val="300"/>
              </a:spcAft>
            </a:pPr>
            <a:r>
              <a:rPr sz="1200" b="0" i="0">
                <a:solidFill>
                  <a:srgbClr val="222222"/>
                </a:solidFill>
                <a:latin typeface="Arial"/>
              </a:rPr>
              <a:t>An LLM writes a SPARQL query for each question, the query runs on the ontology, and a judge scores the answer from 0 to 1. The average is the “CQ coverage”.</a:t>
            </a:r>
          </a:p>
        </p:txBody>
      </p:sp>
      <p:sp>
        <p:nvSpPr>
          <p:cNvPr id="25" name="Rounded Rectangle 24"/>
          <p:cNvSpPr/>
          <p:nvPr/>
        </p:nvSpPr>
        <p:spPr>
          <a:xfrm>
            <a:off x="4672584" y="3429000"/>
            <a:ext cx="4160520" cy="1325880"/>
          </a:xfrm>
          <a:prstGeom prst="roundRect">
            <a:avLst>
              <a:gd name="adj" fmla="val 8000"/>
            </a:avLst>
          </a:prstGeom>
          <a:solidFill>
            <a:srgbClr val="E6F5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65836" bIns="65836"/>
          <a:lstStyle/>
          <a:p>
            <a:pPr algn="l">
              <a:spcAft>
                <a:spcPts val="300"/>
              </a:spcAft>
            </a:pPr>
            <a:r>
              <a:rPr sz="1200" b="1" i="0">
                <a:solidFill>
                  <a:srgbClr val="50B432"/>
                </a:solidFill>
                <a:latin typeface="Arial"/>
              </a:rPr>
              <a:t>Paper vs this project</a:t>
            </a:r>
          </a:p>
          <a:p>
            <a:pPr algn="l">
              <a:spcAft>
                <a:spcPts val="300"/>
              </a:spcAft>
            </a:pPr>
            <a:r>
              <a:rPr sz="1200" b="0" i="0">
                <a:solidFill>
                  <a:srgbClr val="222222"/>
                </a:solidFill>
                <a:latin typeface="Arial"/>
              </a:rPr>
              <a:t>Paper: 2 life-insurance contracts, a 30B local model, starts from an empty file.</a:t>
            </a:r>
          </a:p>
          <a:p>
            <a:pPr algn="l">
              <a:spcAft>
                <a:spcPts val="300"/>
              </a:spcAft>
            </a:pPr>
            <a:r>
              <a:rPr sz="1200" b="0" i="0">
                <a:solidFill>
                  <a:srgbClr val="222222"/>
                </a:solidFill>
                <a:latin typeface="Arial"/>
              </a:rPr>
              <a:t>Here: NBN WBA documents, DeepSeek V4 Flash, starts from Farzad's reference ontology.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182880"/>
            <a:ext cx="8522208" cy="502920"/>
          </a:xfrm>
        </p:spPr>
        <p:txBody>
          <a:bodyPr>
            <a:normAutofit/>
          </a:bodyPr>
          <a:lstStyle/>
          <a:p>
            <a:r>
              <a:rPr sz="2200">
                <a:solidFill>
                  <a:srgbClr val="222222"/>
                </a:solidFill>
                <a:latin typeface="Arial"/>
              </a:rPr>
              <a:t>The paper's Figure 2, with our five differences</a:t>
            </a:r>
          </a:p>
        </p:txBody>
      </p:sp>
      <p:pic>
        <p:nvPicPr>
          <p:cNvPr id="3" name="Picture 2" descr="paper_fig2_plus_ours.png"/>
          <p:cNvPicPr>
            <a:picLocks noChangeAspect="1"/>
          </p:cNvPicPr>
          <p:nvPr/>
        </p:nvPicPr>
        <p:blipFill>
          <a:blip r:embed="rId2"/>
          <a:stretch>
            <a:fillRect/>
          </a:stretch>
        </p:blipFill>
        <p:spPr>
          <a:xfrm>
            <a:off x="274320" y="868680"/>
            <a:ext cx="5715000" cy="3766386"/>
          </a:xfrm>
          <a:prstGeom prst="rect">
            <a:avLst/>
          </a:prstGeom>
        </p:spPr>
      </p:pic>
      <p:sp>
        <p:nvSpPr>
          <p:cNvPr id="4" name="Rectangle 3"/>
          <p:cNvSpPr/>
          <p:nvPr/>
        </p:nvSpPr>
        <p:spPr>
          <a:xfrm>
            <a:off x="6172200" y="868680"/>
            <a:ext cx="2743200" cy="3840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l">
              <a:spcAft>
                <a:spcPts val="700"/>
              </a:spcAft>
            </a:pPr>
            <a:r>
              <a:rPr sz="1200" b="1" i="0">
                <a:solidFill>
                  <a:srgbClr val="ED561B"/>
                </a:solidFill>
                <a:latin typeface="Arial"/>
              </a:rPr>
              <a:t>1  </a:t>
            </a:r>
            <a:r>
              <a:rPr sz="1000" b="0" i="0">
                <a:solidFill>
                  <a:srgbClr val="222222"/>
                </a:solidFill>
                <a:latin typeface="Arial"/>
              </a:rPr>
              <a:t>Only the 51 key pages of the 4 documents are used (of 188).</a:t>
            </a:r>
          </a:p>
          <a:p>
            <a:pPr algn="l">
              <a:spcAft>
                <a:spcPts val="700"/>
              </a:spcAft>
            </a:pPr>
            <a:r>
              <a:rPr sz="1200" b="1" i="0">
                <a:solidFill>
                  <a:srgbClr val="ED561B"/>
                </a:solidFill>
                <a:latin typeface="Arial"/>
              </a:rPr>
              <a:t>2  </a:t>
            </a:r>
            <a:r>
              <a:rPr sz="1000" b="0" i="0">
                <a:solidFill>
                  <a:srgbClr val="222222"/>
                </a:solidFill>
                <a:latin typeface="Arial"/>
              </a:rPr>
              <a:t>The ontology file starts from Farzad's reference ontology, not empty. New terms are tagged, every fact carries a source clause.</a:t>
            </a:r>
          </a:p>
          <a:p>
            <a:pPr algn="l">
              <a:spcAft>
                <a:spcPts val="700"/>
              </a:spcAft>
            </a:pPr>
            <a:r>
              <a:rPr sz="1200" b="1" i="0">
                <a:solidFill>
                  <a:srgbClr val="ED561B"/>
                </a:solidFill>
                <a:latin typeface="Arial"/>
              </a:rPr>
              <a:t>3  </a:t>
            </a:r>
            <a:r>
              <a:rPr sz="1000" b="0" i="0">
                <a:solidFill>
                  <a:srgbClr val="222222"/>
                </a:solidFill>
                <a:latin typeface="Arial"/>
              </a:rPr>
              <a:t>The reference rules and term list are added to every agent's prompt.</a:t>
            </a:r>
          </a:p>
          <a:p>
            <a:pPr algn="l">
              <a:spcAft>
                <a:spcPts val="700"/>
              </a:spcAft>
            </a:pPr>
            <a:r>
              <a:rPr sz="1200" b="1" i="0">
                <a:solidFill>
                  <a:srgbClr val="ED561B"/>
                </a:solidFill>
                <a:latin typeface="Arial"/>
              </a:rPr>
              <a:t>4  </a:t>
            </a:r>
            <a:r>
              <a:rPr sz="1000" b="0" i="0">
                <a:solidFill>
                  <a:srgbClr val="222222"/>
                </a:solidFill>
                <a:latin typeface="Arial"/>
              </a:rPr>
              <a:t>The QA review runs as plain code (numbers on the page, duplicates, source clause, CQ answered), not an LLM. RDFLib and HermiT checks stay.</a:t>
            </a:r>
          </a:p>
          <a:p>
            <a:pPr algn="l">
              <a:spcAft>
                <a:spcPts val="700"/>
              </a:spcAft>
            </a:pPr>
            <a:r>
              <a:rPr sz="1200" b="1" i="0">
                <a:solidFill>
                  <a:srgbClr val="ED561B"/>
                </a:solidFill>
                <a:latin typeface="Arial"/>
              </a:rPr>
              <a:t>5  </a:t>
            </a:r>
            <a:r>
              <a:rPr sz="1000" b="0" i="0">
                <a:solidFill>
                  <a:srgbClr val="222222"/>
                </a:solidFill>
                <a:latin typeface="Arial"/>
              </a:rPr>
              <a:t>Repair is capped at 3 rounds, then the file is restored and the page dropped (paper: up to 1,000 cycles).</a:t>
            </a:r>
          </a:p>
          <a:p>
            <a:pPr algn="l">
              <a:spcAft>
                <a:spcPts val="700"/>
              </a:spcAft>
            </a:pPr>
            <a:r>
              <a:rPr sz="900" b="0" i="1">
                <a:solidFill>
                  <a:srgbClr val="666666"/>
                </a:solidFill>
                <a:latin typeface="Arial"/>
              </a:rPr>
              <a:t>Everything else is the paper's pipeline: CQ Generator, Domain Expert, Manager, Coder, file tools, RDFLib, HermiT, Bug Fixer.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How the reference reaches the LLM</a:t>
            </a:r>
          </a:p>
        </p:txBody>
      </p:sp>
      <p:sp>
        <p:nvSpPr>
          <p:cNvPr id="3" name="Rounded Rectangle 2"/>
          <p:cNvSpPr/>
          <p:nvPr/>
        </p:nvSpPr>
        <p:spPr>
          <a:xfrm>
            <a:off x="310896" y="914400"/>
            <a:ext cx="2148840" cy="1005840"/>
          </a:xfrm>
          <a:prstGeom prst="roundRect">
            <a:avLst>
              <a:gd name="adj" fmla="val 8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Consolas"/>
              </a:rPr>
              <a:t>dart_core.ttl</a:t>
            </a:r>
          </a:p>
          <a:p>
            <a:pPr algn="ctr">
              <a:spcAft>
                <a:spcPts val="0"/>
              </a:spcAft>
            </a:pPr>
            <a:r>
              <a:rPr sz="1100" b="0" i="0">
                <a:solidFill>
                  <a:srgbClr val="FFFFFF"/>
                </a:solidFill>
                <a:latin typeface="Arial"/>
              </a:rPr>
              <a:t>Farzad's ontology</a:t>
            </a:r>
          </a:p>
          <a:p>
            <a:pPr algn="ctr">
              <a:spcAft>
                <a:spcPts val="0"/>
              </a:spcAft>
            </a:pPr>
            <a:r>
              <a:rPr sz="950" b="0" i="0">
                <a:solidFill>
                  <a:srgbClr val="FFFFFF"/>
                </a:solidFill>
                <a:latin typeface="Arial"/>
              </a:rPr>
              <a:t>24 classes · 73 properties</a:t>
            </a:r>
          </a:p>
        </p:txBody>
      </p:sp>
      <p:sp>
        <p:nvSpPr>
          <p:cNvPr id="4" name="Rounded Rectangle 3"/>
          <p:cNvSpPr/>
          <p:nvPr/>
        </p:nvSpPr>
        <p:spPr>
          <a:xfrm>
            <a:off x="310896" y="2331720"/>
            <a:ext cx="2148840" cy="731520"/>
          </a:xfrm>
          <a:prstGeom prst="roundRect">
            <a:avLst>
              <a:gd name="adj" fmla="val 8000"/>
            </a:avLst>
          </a:prstGeom>
          <a:solidFill>
            <a:srgbClr val="F3F3F3"/>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222222"/>
                </a:solidFill>
                <a:latin typeface="Consolas"/>
              </a:rPr>
              <a:t>reference.py</a:t>
            </a:r>
          </a:p>
          <a:p>
            <a:pPr algn="ctr">
              <a:spcAft>
                <a:spcPts val="0"/>
              </a:spcAft>
            </a:pPr>
            <a:r>
              <a:rPr sz="1000" b="0" i="0">
                <a:solidFill>
                  <a:srgbClr val="222222"/>
                </a:solidFill>
                <a:latin typeface="Arial"/>
              </a:rPr>
              <a:t>Reference class</a:t>
            </a:r>
          </a:p>
        </p:txBody>
      </p:sp>
      <p:cxnSp>
        <p:nvCxnSpPr>
          <p:cNvPr id="5" name="Connector 4"/>
          <p:cNvCxnSpPr/>
          <p:nvPr/>
        </p:nvCxnSpPr>
        <p:spPr>
          <a:xfrm>
            <a:off x="1371600" y="1938528"/>
            <a:ext cx="0" cy="374904"/>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63240" y="914400"/>
            <a:ext cx="2788920" cy="841248"/>
          </a:xfrm>
          <a:prstGeom prst="roundRect">
            <a:avLst>
              <a:gd name="adj" fmla="val 8000"/>
            </a:avLst>
          </a:prstGeom>
          <a:solidFill>
            <a:srgbClr val="FFFFFF"/>
          </a:solidFill>
          <a:ln w="12700">
            <a:solidFill>
              <a:srgbClr val="058DC7"/>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200" b="1" i="0">
                <a:solidFill>
                  <a:srgbClr val="058DC7"/>
                </a:solidFill>
                <a:latin typeface="Arial"/>
              </a:rPr>
              <a:t>① Seed the file</a:t>
            </a:r>
          </a:p>
          <a:p>
            <a:pPr algn="l">
              <a:spcAft>
                <a:spcPts val="200"/>
              </a:spcAft>
            </a:pPr>
            <a:r>
              <a:rPr sz="1000" b="0" i="0">
                <a:solidFill>
                  <a:srgbClr val="222222"/>
                </a:solidFill>
                <a:latin typeface="Arial"/>
              </a:rPr>
              <a:t>Writes the skeleton into ontology.ttl before page 1. The original starts from an empty file.</a:t>
            </a:r>
          </a:p>
        </p:txBody>
      </p:sp>
      <p:cxnSp>
        <p:nvCxnSpPr>
          <p:cNvPr id="7" name="Connector 6"/>
          <p:cNvCxnSpPr/>
          <p:nvPr/>
        </p:nvCxnSpPr>
        <p:spPr>
          <a:xfrm flipV="1">
            <a:off x="2487168" y="1335024"/>
            <a:ext cx="557784" cy="1362456"/>
          </a:xfrm>
          <a:prstGeom prst="line">
            <a:avLst/>
          </a:prstGeom>
          <a:ln w="22225">
            <a:solidFill>
              <a:srgbClr val="058DC7"/>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63240" y="1874519"/>
            <a:ext cx="2788920" cy="841248"/>
          </a:xfrm>
          <a:prstGeom prst="roundRect">
            <a:avLst>
              <a:gd name="adj" fmla="val 8000"/>
            </a:avLst>
          </a:prstGeom>
          <a:solidFill>
            <a:srgbClr val="FFFFFF"/>
          </a:solidFill>
          <a:ln w="12700">
            <a:solidFill>
              <a:srgbClr val="058DC7"/>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200" b="1" i="0">
                <a:solidFill>
                  <a:srgbClr val="058DC7"/>
                </a:solidFill>
                <a:latin typeface="Arial"/>
              </a:rPr>
              <a:t>② Brief the agents</a:t>
            </a:r>
          </a:p>
          <a:p>
            <a:pPr algn="l">
              <a:spcAft>
                <a:spcPts val="200"/>
              </a:spcAft>
            </a:pPr>
            <a:r>
              <a:rPr sz="1000" b="0" i="0">
                <a:solidFill>
                  <a:srgbClr val="222222"/>
                </a:solidFill>
                <a:latin typeface="Arial"/>
              </a:rPr>
              <a:t>Adds the rules + a term list (class · also called · properties) to the prompt of all 5 agents.</a:t>
            </a:r>
          </a:p>
        </p:txBody>
      </p:sp>
      <p:cxnSp>
        <p:nvCxnSpPr>
          <p:cNvPr id="9" name="Connector 8"/>
          <p:cNvCxnSpPr/>
          <p:nvPr/>
        </p:nvCxnSpPr>
        <p:spPr>
          <a:xfrm flipV="1">
            <a:off x="2487168" y="2295144"/>
            <a:ext cx="557784" cy="402336"/>
          </a:xfrm>
          <a:prstGeom prst="line">
            <a:avLst/>
          </a:prstGeom>
          <a:ln w="22225">
            <a:solidFill>
              <a:srgbClr val="058DC7"/>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063240" y="2834640"/>
            <a:ext cx="2788920" cy="841248"/>
          </a:xfrm>
          <a:prstGeom prst="roundRect">
            <a:avLst>
              <a:gd name="adj" fmla="val 8000"/>
            </a:avLst>
          </a:prstGeom>
          <a:solidFill>
            <a:srgbClr val="FFFFFF"/>
          </a:solidFill>
          <a:ln w="12700">
            <a:solidFill>
              <a:srgbClr val="058DC7"/>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200" b="1" i="0">
                <a:solidFill>
                  <a:srgbClr val="058DC7"/>
                </a:solidFill>
                <a:latin typeface="Arial"/>
              </a:rPr>
              <a:t>③ Check the result</a:t>
            </a:r>
          </a:p>
          <a:p>
            <a:pPr algn="l">
              <a:spcAft>
                <a:spcPts val="200"/>
              </a:spcAft>
            </a:pPr>
            <a:r>
              <a:rPr sz="1000" b="0" i="0">
                <a:solidFill>
                  <a:srgbClr val="222222"/>
                </a:solidFill>
                <a:latin typeface="Arial"/>
              </a:rPr>
              <a:t>New things must carry [extension: document, page]; every fact must carry :sourceClause.</a:t>
            </a:r>
          </a:p>
        </p:txBody>
      </p:sp>
      <p:cxnSp>
        <p:nvCxnSpPr>
          <p:cNvPr id="11" name="Connector 10"/>
          <p:cNvCxnSpPr/>
          <p:nvPr/>
        </p:nvCxnSpPr>
        <p:spPr>
          <a:xfrm>
            <a:off x="2487168" y="2697480"/>
            <a:ext cx="557784" cy="557784"/>
          </a:xfrm>
          <a:prstGeom prst="line">
            <a:avLst/>
          </a:prstGeom>
          <a:ln w="22225">
            <a:solidFill>
              <a:srgbClr val="058DC7"/>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63640" y="914400"/>
            <a:ext cx="2560320" cy="841248"/>
          </a:xfrm>
          <a:prstGeom prst="rect">
            <a:avLst/>
          </a:prstGeom>
          <a:solidFill>
            <a:srgbClr val="E1F2FA"/>
          </a:solidFill>
          <a:ln w="12700">
            <a:solidFill>
              <a:srgbClr val="058DC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000" b="1" i="0">
                <a:solidFill>
                  <a:srgbClr val="222222"/>
                </a:solidFill>
                <a:latin typeface="Arial"/>
              </a:rPr>
              <a:t>ontology.ttl  ·  REFERENCE SEED</a:t>
            </a:r>
          </a:p>
          <a:p>
            <a:pPr algn="ctr">
              <a:spcAft>
                <a:spcPts val="0"/>
              </a:spcAft>
            </a:pPr>
            <a:r>
              <a:rPr sz="900" b="0" i="0">
                <a:solidFill>
                  <a:srgbClr val="222222"/>
                </a:solidFill>
                <a:latin typeface="Arial"/>
              </a:rPr>
              <a:t>do not delete</a:t>
            </a:r>
          </a:p>
          <a:p>
            <a:pPr algn="ctr">
              <a:spcAft>
                <a:spcPts val="0"/>
              </a:spcAft>
            </a:pPr>
            <a:r>
              <a:rPr sz="900" b="0" i="0">
                <a:solidFill>
                  <a:srgbClr val="222222"/>
                </a:solidFill>
                <a:latin typeface="Arial"/>
              </a:rPr>
              <a:t>617 triples from Farzad</a:t>
            </a:r>
          </a:p>
        </p:txBody>
      </p:sp>
      <p:sp>
        <p:nvSpPr>
          <p:cNvPr id="13" name="Rectangle 12"/>
          <p:cNvSpPr/>
          <p:nvPr/>
        </p:nvSpPr>
        <p:spPr>
          <a:xfrm>
            <a:off x="6263640" y="1755648"/>
            <a:ext cx="2560320" cy="1078992"/>
          </a:xfrm>
          <a:prstGeom prst="rect">
            <a:avLst/>
          </a:prstGeom>
          <a:solidFill>
            <a:srgbClr val="F3F3F3"/>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000" b="1" i="0">
                <a:solidFill>
                  <a:srgbClr val="222222"/>
                </a:solidFill>
                <a:latin typeface="Arial"/>
              </a:rPr>
              <a:t>The 5 agents read and write this file</a:t>
            </a:r>
          </a:p>
          <a:p>
            <a:pPr algn="ctr">
              <a:spcAft>
                <a:spcPts val="0"/>
              </a:spcAft>
            </a:pPr>
            <a:r>
              <a:rPr sz="900" b="0" i="0">
                <a:solidFill>
                  <a:srgbClr val="222222"/>
                </a:solidFill>
                <a:latin typeface="Arial"/>
              </a:rPr>
              <a:t>Expert · Manager · Coder · QA · QA-Coder</a:t>
            </a:r>
          </a:p>
          <a:p>
            <a:pPr algn="ctr">
              <a:spcAft>
                <a:spcPts val="0"/>
              </a:spcAft>
            </a:pPr>
            <a:r>
              <a:rPr sz="900" b="0" i="0">
                <a:solidFill>
                  <a:srgbClr val="222222"/>
                </a:solidFill>
                <a:latin typeface="Arial"/>
              </a:rPr>
              <a:t>each prompt now ends with the brief</a:t>
            </a:r>
          </a:p>
        </p:txBody>
      </p:sp>
      <p:sp>
        <p:nvSpPr>
          <p:cNvPr id="14" name="Rectangle 13"/>
          <p:cNvSpPr/>
          <p:nvPr/>
        </p:nvSpPr>
        <p:spPr>
          <a:xfrm>
            <a:off x="6263640" y="2834640"/>
            <a:ext cx="2560320" cy="841248"/>
          </a:xfrm>
          <a:prstGeom prst="rect">
            <a:avLst/>
          </a:prstGeom>
          <a:solidFill>
            <a:srgbClr val="FDE6DC"/>
          </a:solidFill>
          <a:ln w="12700">
            <a:solidFill>
              <a:srgbClr val="ED56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000" b="1" i="0">
                <a:solidFill>
                  <a:srgbClr val="222222"/>
                </a:solidFill>
                <a:latin typeface="Arial"/>
              </a:rPr>
              <a:t>EXTENSIONS FROM DOCUMENTS</a:t>
            </a:r>
          </a:p>
          <a:p>
            <a:pPr algn="ctr">
              <a:spcAft>
                <a:spcPts val="0"/>
              </a:spcAft>
            </a:pPr>
            <a:r>
              <a:rPr sz="900" b="0" i="0">
                <a:solidFill>
                  <a:srgbClr val="222222"/>
                </a:solidFill>
                <a:latin typeface="Arial"/>
              </a:rPr>
              <a:t>new classes, properties, facts</a:t>
            </a:r>
          </a:p>
          <a:p>
            <a:pPr algn="ctr">
              <a:spcAft>
                <a:spcPts val="0"/>
              </a:spcAft>
            </a:pPr>
            <a:r>
              <a:rPr sz="900" b="0" i="0">
                <a:solidFill>
                  <a:srgbClr val="222222"/>
                </a:solidFill>
                <a:latin typeface="Arial"/>
              </a:rPr>
              <a:t>each with page + source</a:t>
            </a:r>
          </a:p>
        </p:txBody>
      </p:sp>
      <p:cxnSp>
        <p:nvCxnSpPr>
          <p:cNvPr id="15" name="Connector 14"/>
          <p:cNvCxnSpPr/>
          <p:nvPr/>
        </p:nvCxnSpPr>
        <p:spPr>
          <a:xfrm>
            <a:off x="5870448" y="1335024"/>
            <a:ext cx="374904" cy="0"/>
          </a:xfrm>
          <a:prstGeom prst="line">
            <a:avLst/>
          </a:prstGeom>
          <a:ln w="22225">
            <a:solidFill>
              <a:srgbClr val="058DC7"/>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870448" y="2295144"/>
            <a:ext cx="374904" cy="0"/>
          </a:xfrm>
          <a:prstGeom prst="line">
            <a:avLst/>
          </a:prstGeom>
          <a:ln w="22225">
            <a:solidFill>
              <a:srgbClr val="058DC7"/>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870448" y="3255264"/>
            <a:ext cx="374904" cy="0"/>
          </a:xfrm>
          <a:prstGeom prst="line">
            <a:avLst/>
          </a:prstGeom>
          <a:ln w="22225">
            <a:solidFill>
              <a:srgbClr val="058DC7"/>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10896" y="3749039"/>
            <a:ext cx="8522208"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l">
              <a:spcAft>
                <a:spcPts val="0"/>
              </a:spcAft>
            </a:pPr>
            <a:r>
              <a:rPr sz="950" b="0" i="1">
                <a:solidFill>
                  <a:srgbClr val="666666"/>
                </a:solidFill>
                <a:latin typeface="Arial"/>
              </a:rPr>
              <a:t>A real fact from the result (Technical Specification), with the page it came from:</a:t>
            </a:r>
          </a:p>
        </p:txBody>
      </p:sp>
      <p:sp>
        <p:nvSpPr>
          <p:cNvPr id="19" name="Rounded Rectangle 18"/>
          <p:cNvSpPr/>
          <p:nvPr/>
        </p:nvSpPr>
        <p:spPr>
          <a:xfrm>
            <a:off x="310896" y="3950208"/>
            <a:ext cx="8522208" cy="960120"/>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tIns="54864" bIns="54864"/>
          <a:lstStyle/>
          <a:p>
            <a:pPr algn="l">
              <a:spcAft>
                <a:spcPts val="0"/>
              </a:spcAft>
            </a:pPr>
            <a:r>
              <a:rPr sz="850" b="0" i="0">
                <a:solidFill>
                  <a:srgbClr val="D4D4D4"/>
                </a:solidFill>
                <a:latin typeface="Consolas"/>
              </a:rPr>
              <a:t>:BearerLimit_1G_10G_Max8 a :Cl_BearerLimit, owl:NamedIndividual ;</a:t>
            </a:r>
          </a:p>
          <a:p>
            <a:pPr algn="l">
              <a:spcAft>
                <a:spcPts val="0"/>
              </a:spcAft>
            </a:pPr>
            <a:r>
              <a:rPr sz="850" b="0" i="0">
                <a:solidFill>
                  <a:srgbClr val="D4D4D4"/>
                </a:solidFill>
                <a:latin typeface="Consolas"/>
              </a:rPr>
              <a:t>    rdfs:label </a:t>
            </a:r>
            <a:r>
              <a:rPr sz="850" b="0" i="0">
                <a:solidFill>
                  <a:srgbClr val="CE9178"/>
                </a:solidFill>
                <a:latin typeface="Consolas"/>
              </a:rPr>
              <a:t>"Bearer Limit: 8 NNI Bearers for 1Gbps and 10Gbps"</a:t>
            </a:r>
            <a:r>
              <a:rPr sz="850" b="0" i="0">
                <a:solidFill>
                  <a:srgbClr val="D4D4D4"/>
                </a:solidFill>
                <a:latin typeface="Consolas"/>
              </a:rPr>
              <a:t> ;</a:t>
            </a:r>
          </a:p>
          <a:p>
            <a:pPr algn="l">
              <a:spcAft>
                <a:spcPts val="0"/>
              </a:spcAft>
            </a:pPr>
            <a:r>
              <a:rPr sz="850" b="0" i="0">
                <a:solidFill>
                  <a:srgbClr val="D4D4D4"/>
                </a:solidFill>
                <a:latin typeface="Consolas"/>
              </a:rPr>
              <a:t>    :hasCondition :Cond_1G_10G ;</a:t>
            </a:r>
          </a:p>
          <a:p>
            <a:pPr algn="l">
              <a:spcAft>
                <a:spcPts val="0"/>
              </a:spcAft>
            </a:pPr>
            <a:r>
              <a:rPr sz="850" b="0" i="0">
                <a:solidFill>
                  <a:srgbClr val="D4D4D4"/>
                </a:solidFill>
                <a:latin typeface="Consolas"/>
              </a:rPr>
              <a:t>    :hasMaxBearers 8 ;</a:t>
            </a:r>
          </a:p>
          <a:p>
            <a:pPr algn="l">
              <a:spcAft>
                <a:spcPts val="0"/>
              </a:spcAft>
            </a:pPr>
            <a:r>
              <a:rPr sz="850" b="0" i="0">
                <a:solidFill>
                  <a:srgbClr val="D4D4D4"/>
                </a:solidFill>
                <a:latin typeface="Consolas"/>
              </a:rPr>
              <a:t>    :hasUnit </a:t>
            </a:r>
            <a:r>
              <a:rPr sz="850" b="0" i="0">
                <a:solidFill>
                  <a:srgbClr val="CE9178"/>
                </a:solidFill>
                <a:latin typeface="Consolas"/>
              </a:rPr>
              <a:t>"NNI Bearers"</a:t>
            </a:r>
            <a:r>
              <a:rPr sz="850" b="0" i="0">
                <a:solidFill>
                  <a:srgbClr val="D4D4D4"/>
                </a:solidFill>
                <a:latin typeface="Consolas"/>
              </a:rPr>
              <a:t>^^xsd:string ;</a:t>
            </a:r>
          </a:p>
          <a:p>
            <a:pPr algn="l">
              <a:spcAft>
                <a:spcPts val="0"/>
              </a:spcAft>
            </a:pPr>
            <a:r>
              <a:rPr sz="850" b="0" i="0">
                <a:solidFill>
                  <a:srgbClr val="D4D4D4"/>
                </a:solidFill>
                <a:latin typeface="Consolas"/>
              </a:rPr>
              <a:t>    :sourceClause </a:t>
            </a:r>
            <a:r>
              <a:rPr sz="850" b="0" i="0">
                <a:solidFill>
                  <a:srgbClr val="CE9178"/>
                </a:solidFill>
                <a:latin typeface="Consolas"/>
              </a:rPr>
              <a:t>"Wholesale Broadband Agreement - Product Technical Specification - nbn Ethernet Product Module, section 6.1, page 28"</a:t>
            </a:r>
            <a:r>
              <a:rPr sz="850" b="0" i="0">
                <a:solidFill>
                  <a:srgbClr val="D4D4D4"/>
                </a:solidFill>
                <a:latin typeface="Consolas"/>
              </a:rPr>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Code 1 — the rules every agent receives</a:t>
            </a:r>
          </a:p>
        </p:txBody>
      </p:sp>
      <p:sp>
        <p:nvSpPr>
          <p:cNvPr id="3" name="Rounded Rectangle 2"/>
          <p:cNvSpPr/>
          <p:nvPr/>
        </p:nvSpPr>
        <p:spPr>
          <a:xfrm>
            <a:off x="310896" y="896112"/>
            <a:ext cx="5669280" cy="4023360"/>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tIns="54864" bIns="54864"/>
          <a:lstStyle/>
          <a:p>
            <a:pPr algn="l"/>
            <a:r>
              <a:rPr sz="819" b="1" i="0">
                <a:solidFill>
                  <a:srgbClr val="9CDCFE"/>
                </a:solidFill>
                <a:latin typeface="Consolas"/>
              </a:rPr>
              <a:t>helper/reference.py  (long lines cut with … ; the file has the full text)</a:t>
            </a:r>
          </a:p>
          <a:p>
            <a:pPr algn="l">
              <a:spcAft>
                <a:spcPts val="0"/>
              </a:spcAft>
            </a:pPr>
            <a:r>
              <a:rPr sz="819" b="0" i="0">
                <a:solidFill>
                  <a:srgbClr val="858585"/>
                </a:solidFill>
                <a:latin typeface="Consolas"/>
              </a:rPr>
              <a:t> 241  </a:t>
            </a:r>
            <a:r>
              <a:rPr sz="819" b="0" i="0">
                <a:solidFill>
                  <a:srgbClr val="D4D4D4"/>
                </a:solidFill>
                <a:latin typeface="Consolas"/>
              </a:rPr>
              <a:t>_POLICY = (</a:t>
            </a:r>
          </a:p>
          <a:p>
            <a:pPr algn="l">
              <a:spcAft>
                <a:spcPts val="0"/>
              </a:spcAft>
            </a:pPr>
            <a:r>
              <a:rPr sz="819" b="0" i="0">
                <a:solidFill>
                  <a:srgbClr val="858585"/>
                </a:solidFill>
                <a:latin typeface="Consolas"/>
              </a:rPr>
              <a:t> 242  </a:t>
            </a:r>
            <a:r>
              <a:rPr sz="819" b="0" i="0">
                <a:solidFill>
                  <a:srgbClr val="D4D4D4"/>
                </a:solidFill>
                <a:latin typeface="Consolas"/>
              </a:rPr>
              <a:t>    </a:t>
            </a:r>
            <a:r>
              <a:rPr sz="819" b="0" i="0">
                <a:solidFill>
                  <a:srgbClr val="CE9178"/>
                </a:solidFill>
                <a:latin typeface="Consolas"/>
              </a:rPr>
              <a:t>"REFERENCE ONTOLOGY (authoritative starting vocabulary)\n"</a:t>
            </a:r>
          </a:p>
          <a:p>
            <a:pPr algn="l">
              <a:spcAft>
                <a:spcPts val="0"/>
              </a:spcAft>
            </a:pPr>
            <a:r>
              <a:rPr sz="819" b="0" i="0">
                <a:solidFill>
                  <a:srgbClr val="858585"/>
                </a:solidFill>
                <a:latin typeface="Consolas"/>
              </a:rPr>
              <a:t> 243  </a:t>
            </a:r>
            <a:r>
              <a:rPr sz="819" b="0" i="0">
                <a:solidFill>
                  <a:srgbClr val="D4D4D4"/>
                </a:solidFill>
                <a:latin typeface="Consolas"/>
              </a:rPr>
              <a:t>    </a:t>
            </a:r>
            <a:r>
              <a:rPr sz="819" b="0" i="0">
                <a:solidFill>
                  <a:srgbClr val="CE9178"/>
                </a:solidFill>
                <a:latin typeface="Consolas"/>
              </a:rPr>
              <a:t>"The ontology file already contains the reference schema between the REFERENCE SEED…</a:t>
            </a:r>
          </a:p>
          <a:p>
            <a:pPr algn="l">
              <a:spcAft>
                <a:spcPts val="0"/>
              </a:spcAft>
            </a:pPr>
            <a:r>
              <a:rPr sz="819" b="0" i="0">
                <a:solidFill>
                  <a:srgbClr val="858585"/>
                </a:solidFill>
                <a:latin typeface="Consolas"/>
              </a:rPr>
              <a:t> 244  </a:t>
            </a:r>
            <a:r>
              <a:rPr sz="819" b="0" i="0">
                <a:solidFill>
                  <a:srgbClr val="D4D4D4"/>
                </a:solidFill>
                <a:latin typeface="Consolas"/>
              </a:rPr>
              <a:t>    </a:t>
            </a:r>
            <a:r>
              <a:rPr sz="819" b="0" i="0">
                <a:solidFill>
                  <a:srgbClr val="CE9178"/>
                </a:solidFill>
                <a:latin typeface="Consolas"/>
              </a:rPr>
              <a:t>"1. REUSE: when the text refers to a concept that matches a reference class, proper…</a:t>
            </a:r>
          </a:p>
          <a:p>
            <a:pPr algn="l">
              <a:spcAft>
                <a:spcPts val="0"/>
              </a:spcAft>
            </a:pPr>
            <a:r>
              <a:rPr sz="819" b="0" i="0">
                <a:solidFill>
                  <a:srgbClr val="858585"/>
                </a:solidFill>
                <a:latin typeface="Consolas"/>
              </a:rPr>
              <a:t> 245  </a:t>
            </a:r>
            <a:r>
              <a:rPr sz="819" b="0" i="0">
                <a:solidFill>
                  <a:srgbClr val="D4D4D4"/>
                </a:solidFill>
                <a:latin typeface="Consolas"/>
              </a:rPr>
              <a:t>    </a:t>
            </a:r>
            <a:r>
              <a:rPr sz="819" b="0" i="0">
                <a:solidFill>
                  <a:srgbClr val="CE9178"/>
                </a:solidFill>
                <a:latin typeface="Consolas"/>
              </a:rPr>
              <a:t>"'also called' name - use that reference term exactly (same IRI). Never create a du…</a:t>
            </a:r>
          </a:p>
          <a:p>
            <a:pPr algn="l">
              <a:spcAft>
                <a:spcPts val="0"/>
              </a:spcAft>
            </a:pPr>
            <a:r>
              <a:rPr sz="819" b="0" i="0">
                <a:solidFill>
                  <a:srgbClr val="858585"/>
                </a:solidFill>
                <a:latin typeface="Consolas"/>
              </a:rPr>
              <a:t> 246  </a:t>
            </a:r>
            <a:r>
              <a:rPr sz="819" b="0" i="0">
                <a:solidFill>
                  <a:srgbClr val="D4D4D4"/>
                </a:solidFill>
                <a:latin typeface="Consolas"/>
              </a:rPr>
              <a:t>    </a:t>
            </a:r>
            <a:r>
              <a:rPr sz="819" b="0" i="0">
                <a:solidFill>
                  <a:srgbClr val="CE9178"/>
                </a:solidFill>
                <a:latin typeface="Consolas"/>
              </a:rPr>
              <a:t>"2. EXTEND: the documents may state things the reference lacks (new defined terms, …</a:t>
            </a:r>
          </a:p>
          <a:p>
            <a:pPr algn="l">
              <a:spcAft>
                <a:spcPts val="0"/>
              </a:spcAft>
            </a:pPr>
            <a:r>
              <a:rPr sz="819" b="0" i="0">
                <a:solidFill>
                  <a:srgbClr val="858585"/>
                </a:solidFill>
                <a:latin typeface="Consolas"/>
              </a:rPr>
              <a:t> 247  </a:t>
            </a:r>
            <a:r>
              <a:rPr sz="819" b="0" i="0">
                <a:solidFill>
                  <a:srgbClr val="D4D4D4"/>
                </a:solidFill>
                <a:latin typeface="Consolas"/>
              </a:rPr>
              <a:t>    </a:t>
            </a:r>
            <a:r>
              <a:rPr sz="819" b="0" i="0">
                <a:solidFill>
                  <a:srgbClr val="CE9178"/>
                </a:solidFill>
                <a:latin typeface="Consolas"/>
              </a:rPr>
              <a:t>"obligations, limits, conditions, exceptions). ADD them below the EXTENSIONS marker…</a:t>
            </a:r>
          </a:p>
          <a:p>
            <a:pPr algn="l">
              <a:spcAft>
                <a:spcPts val="0"/>
              </a:spcAft>
            </a:pPr>
            <a:r>
              <a:rPr sz="819" b="0" i="0">
                <a:solidFill>
                  <a:srgbClr val="858585"/>
                </a:solidFill>
                <a:latin typeface="Consolas"/>
              </a:rPr>
              <a:t> 248  </a:t>
            </a:r>
            <a:r>
              <a:rPr sz="819" b="0" i="0">
                <a:solidFill>
                  <a:srgbClr val="D4D4D4"/>
                </a:solidFill>
                <a:latin typeface="Consolas"/>
              </a:rPr>
              <a:t>    </a:t>
            </a:r>
            <a:r>
              <a:rPr sz="819" b="0" i="0">
                <a:solidFill>
                  <a:srgbClr val="CE9178"/>
                </a:solidFill>
                <a:latin typeface="Consolas"/>
              </a:rPr>
              <a:t>"reference class with rdfs:subClassOf / rdfs:subPropertyOf. Every NEW class or prop…</a:t>
            </a:r>
          </a:p>
          <a:p>
            <a:pPr algn="l">
              <a:spcAft>
                <a:spcPts val="0"/>
              </a:spcAft>
            </a:pPr>
            <a:r>
              <a:rPr sz="819" b="0" i="0">
                <a:solidFill>
                  <a:srgbClr val="858585"/>
                </a:solidFill>
                <a:latin typeface="Consolas"/>
              </a:rPr>
              <a:t> 249  </a:t>
            </a:r>
            <a:r>
              <a:rPr sz="819" b="0" i="0">
                <a:solidFill>
                  <a:srgbClr val="D4D4D4"/>
                </a:solidFill>
                <a:latin typeface="Consolas"/>
              </a:rPr>
              <a:t>    </a:t>
            </a:r>
            <a:r>
              <a:rPr sz="819" b="0" i="0">
                <a:solidFill>
                  <a:srgbClr val="CE9178"/>
                </a:solidFill>
                <a:latin typeface="Consolas"/>
              </a:rPr>
              <a:t>"with `[extension: &lt;document name&gt;, &lt;clause or page&gt;]`.\n"</a:t>
            </a:r>
          </a:p>
          <a:p>
            <a:pPr algn="l">
              <a:spcAft>
                <a:spcPts val="0"/>
              </a:spcAft>
            </a:pPr>
            <a:r>
              <a:rPr sz="819" b="0" i="0">
                <a:solidFill>
                  <a:srgbClr val="858585"/>
                </a:solidFill>
                <a:latin typeface="Consolas"/>
              </a:rPr>
              <a:t> 250  </a:t>
            </a:r>
            <a:r>
              <a:rPr sz="819" b="0" i="0">
                <a:solidFill>
                  <a:srgbClr val="D4D4D4"/>
                </a:solidFill>
                <a:latin typeface="Consolas"/>
              </a:rPr>
              <a:t>    </a:t>
            </a:r>
            <a:r>
              <a:rPr sz="819" b="0" i="0">
                <a:solidFill>
                  <a:srgbClr val="CE9178"/>
                </a:solidFill>
                <a:latin typeface="Consolas"/>
              </a:rPr>
              <a:t>"3. FACTS: represent every contract fact (numbers, rates, percentages, charges, dur…</a:t>
            </a:r>
          </a:p>
          <a:p>
            <a:pPr algn="l">
              <a:spcAft>
                <a:spcPts val="0"/>
              </a:spcAft>
            </a:pPr>
            <a:r>
              <a:rPr sz="819" b="0" i="0">
                <a:solidFill>
                  <a:srgbClr val="858585"/>
                </a:solidFill>
                <a:latin typeface="Consolas"/>
              </a:rPr>
              <a:t> 251  </a:t>
            </a:r>
            <a:r>
              <a:rPr sz="819" b="0" i="0">
                <a:solidFill>
                  <a:srgbClr val="D4D4D4"/>
                </a:solidFill>
                <a:latin typeface="Consolas"/>
              </a:rPr>
              <a:t>    </a:t>
            </a:r>
            <a:r>
              <a:rPr sz="819" b="0" i="0">
                <a:solidFill>
                  <a:srgbClr val="CE9178"/>
                </a:solidFill>
                <a:latin typeface="Consolas"/>
              </a:rPr>
              <a:t>"limit is a data-property value on an individual of the governed class (a property …</a:t>
            </a:r>
          </a:p>
          <a:p>
            <a:pPr algn="l">
              <a:spcAft>
                <a:spcPts val="0"/>
              </a:spcAft>
            </a:pPr>
            <a:r>
              <a:rPr sz="819" b="0" i="0">
                <a:solidFill>
                  <a:srgbClr val="858585"/>
                </a:solidFill>
                <a:latin typeface="Consolas"/>
              </a:rPr>
              <a:t> 252  </a:t>
            </a:r>
            <a:r>
              <a:rPr sz="819" b="0" i="0">
                <a:solidFill>
                  <a:srgbClr val="D4D4D4"/>
                </a:solidFill>
                <a:latin typeface="Consolas"/>
              </a:rPr>
              <a:t>    </a:t>
            </a:r>
            <a:r>
              <a:rPr sz="819" b="0" i="0">
                <a:solidFill>
                  <a:srgbClr val="CE9178"/>
                </a:solidFill>
                <a:latin typeface="Consolas"/>
              </a:rPr>
              <a:t>"that depends on rate, mode or product is one individual per condition carrying the…</a:t>
            </a:r>
          </a:p>
          <a:p>
            <a:pPr algn="l">
              <a:spcAft>
                <a:spcPts val="0"/>
              </a:spcAft>
            </a:pPr>
            <a:r>
              <a:rPr sz="819" b="0" i="0">
                <a:solidFill>
                  <a:srgbClr val="858585"/>
                </a:solidFill>
                <a:latin typeface="Consolas"/>
              </a:rPr>
              <a:t> 253  </a:t>
            </a:r>
            <a:r>
              <a:rPr sz="819" b="0" i="0">
                <a:solidFill>
                  <a:srgbClr val="D4D4D4"/>
                </a:solidFill>
                <a:latin typeface="Consolas"/>
              </a:rPr>
              <a:t>    </a:t>
            </a:r>
            <a:r>
              <a:rPr sz="819" b="0" i="0">
                <a:solidFill>
                  <a:srgbClr val="CE9178"/>
                </a:solidFill>
                <a:latin typeface="Consolas"/>
              </a:rPr>
              <a:t>"ISO-8601 durations). Add `:sourceClause \"&lt;document&gt;, &lt;clause&gt;, p.&lt;page&gt;\"` to eve…</a:t>
            </a:r>
          </a:p>
          <a:p>
            <a:pPr algn="l">
              <a:spcAft>
                <a:spcPts val="0"/>
              </a:spcAft>
            </a:pPr>
            <a:r>
              <a:rPr sz="819" b="0" i="0">
                <a:solidFill>
                  <a:srgbClr val="858585"/>
                </a:solidFill>
                <a:latin typeface="Consolas"/>
              </a:rPr>
              <a:t> 254  </a:t>
            </a:r>
            <a:r>
              <a:rPr sz="819" b="0" i="0">
                <a:solidFill>
                  <a:srgbClr val="D4D4D4"/>
                </a:solidFill>
                <a:latin typeface="Consolas"/>
              </a:rPr>
              <a:t>    </a:t>
            </a:r>
            <a:r>
              <a:rPr sz="819" b="0" i="0">
                <a:solidFill>
                  <a:srgbClr val="CE9178"/>
                </a:solidFill>
                <a:latin typeface="Consolas"/>
              </a:rPr>
              <a:t>"4. NEVER delete or weaken reference axioms. If the document disagrees with a refer…</a:t>
            </a:r>
          </a:p>
          <a:p>
            <a:pPr algn="l">
              <a:spcAft>
                <a:spcPts val="0"/>
              </a:spcAft>
            </a:pPr>
            <a:r>
              <a:rPr sz="819" b="0" i="0">
                <a:solidFill>
                  <a:srgbClr val="858585"/>
                </a:solidFill>
                <a:latin typeface="Consolas"/>
              </a:rPr>
              <a:t> 255  </a:t>
            </a:r>
            <a:r>
              <a:rPr sz="819" b="0" i="0">
                <a:solidFill>
                  <a:srgbClr val="D4D4D4"/>
                </a:solidFill>
                <a:latin typeface="Consolas"/>
              </a:rPr>
              <a:t>    </a:t>
            </a:r>
            <a:r>
              <a:rPr sz="819" b="0" i="0">
                <a:solidFill>
                  <a:srgbClr val="CE9178"/>
                </a:solidFill>
                <a:latin typeface="Consolas"/>
              </a:rPr>
              <a:t>"document's value as its own fact with its :sourceClause and add `rdfs:comment \"[c…</a:t>
            </a:r>
          </a:p>
          <a:p>
            <a:pPr algn="l">
              <a:spcAft>
                <a:spcPts val="0"/>
              </a:spcAft>
            </a:pPr>
            <a:r>
              <a:rPr sz="819" b="0" i="0">
                <a:solidFill>
                  <a:srgbClr val="858585"/>
                </a:solidFill>
                <a:latin typeface="Consolas"/>
              </a:rPr>
              <a:t> 256  </a:t>
            </a:r>
            <a:r>
              <a:rPr sz="819" b="0" i="0">
                <a:solidFill>
                  <a:srgbClr val="D4D4D4"/>
                </a:solidFill>
                <a:latin typeface="Consolas"/>
              </a:rPr>
              <a:t>    </a:t>
            </a:r>
            <a:r>
              <a:rPr sz="819" b="0" i="0">
                <a:solidFill>
                  <a:srgbClr val="CE9178"/>
                </a:solidFill>
                <a:latin typeface="Consolas"/>
              </a:rPr>
              <a:t>"5. Only instantiate reference concepts the document actually talks about; do not i…</a:t>
            </a:r>
          </a:p>
          <a:p>
            <a:pPr algn="l">
              <a:spcAft>
                <a:spcPts val="0"/>
              </a:spcAft>
            </a:pPr>
            <a:r>
              <a:rPr sz="819" b="0" i="0">
                <a:solidFill>
                  <a:srgbClr val="858585"/>
                </a:solidFill>
                <a:latin typeface="Consolas"/>
              </a:rPr>
              <a:t> 257  </a:t>
            </a:r>
            <a:r>
              <a:rPr sz="819" b="0" i="0">
                <a:solidFill>
                  <a:srgbClr val="D4D4D4"/>
                </a:solidFill>
                <a:latin typeface="Consolas"/>
              </a:rPr>
              <a:t>)</a:t>
            </a:r>
          </a:p>
          <a:p>
            <a:pPr algn="l">
              <a:spcAft>
                <a:spcPts val="0"/>
              </a:spcAft>
            </a:pPr>
            <a:r>
              <a:rPr sz="819" b="0" i="0">
                <a:solidFill>
                  <a:srgbClr val="858585"/>
                </a:solidFill>
                <a:latin typeface="Consolas"/>
              </a:rPr>
              <a:t>      </a:t>
            </a:r>
          </a:p>
          <a:p>
            <a:pPr algn="l">
              <a:spcAft>
                <a:spcPts val="0"/>
              </a:spcAft>
            </a:pPr>
            <a:r>
              <a:rPr sz="819" b="0" i="0">
                <a:solidFill>
                  <a:srgbClr val="858585"/>
                </a:solidFill>
                <a:latin typeface="Consolas"/>
              </a:rPr>
              <a:t> 270  </a:t>
            </a:r>
            <a:r>
              <a:rPr sz="819" b="0" i="0">
                <a:solidFill>
                  <a:srgbClr val="569CD6"/>
                </a:solidFill>
                <a:latin typeface="Consolas"/>
              </a:rPr>
              <a:t>def</a:t>
            </a:r>
            <a:r>
              <a:rPr sz="819" b="0" i="0">
                <a:solidFill>
                  <a:srgbClr val="D4D4D4"/>
                </a:solidFill>
                <a:latin typeface="Consolas"/>
              </a:rPr>
              <a:t> prompt_block(self, role: str) -&gt; str:</a:t>
            </a:r>
          </a:p>
          <a:p>
            <a:pPr algn="l">
              <a:spcAft>
                <a:spcPts val="0"/>
              </a:spcAft>
            </a:pPr>
            <a:r>
              <a:rPr sz="819" b="0" i="0">
                <a:solidFill>
                  <a:srgbClr val="858585"/>
                </a:solidFill>
                <a:latin typeface="Consolas"/>
              </a:rPr>
              <a:t> 271  </a:t>
            </a:r>
            <a:r>
              <a:rPr sz="819" b="0" i="0">
                <a:solidFill>
                  <a:srgbClr val="D4D4D4"/>
                </a:solidFill>
                <a:latin typeface="Consolas"/>
              </a:rPr>
              <a:t>    parts = [</a:t>
            </a:r>
            <a:r>
              <a:rPr sz="819" b="0" i="0">
                <a:solidFill>
                  <a:srgbClr val="CE9178"/>
                </a:solidFill>
                <a:latin typeface="Consolas"/>
              </a:rPr>
              <a:t>"\n\n"</a:t>
            </a:r>
            <a:r>
              <a:rPr sz="819" b="0" i="0">
                <a:solidFill>
                  <a:srgbClr val="D4D4D4"/>
                </a:solidFill>
                <a:latin typeface="Consolas"/>
              </a:rPr>
              <a:t> + self._POLICY]</a:t>
            </a:r>
          </a:p>
          <a:p>
            <a:pPr algn="l">
              <a:spcAft>
                <a:spcPts val="0"/>
              </a:spcAft>
            </a:pPr>
            <a:r>
              <a:rPr sz="819" b="0" i="0">
                <a:solidFill>
                  <a:srgbClr val="858585"/>
                </a:solidFill>
                <a:latin typeface="Consolas"/>
              </a:rPr>
              <a:t> 272  </a:t>
            </a:r>
            <a:r>
              <a:rPr sz="819" b="0" i="0">
                <a:solidFill>
                  <a:srgbClr val="D4D4D4"/>
                </a:solidFill>
                <a:latin typeface="Consolas"/>
              </a:rPr>
              <a:t>    </a:t>
            </a:r>
            <a:r>
              <a:rPr sz="819" b="0" i="0">
                <a:solidFill>
                  <a:srgbClr val="569CD6"/>
                </a:solidFill>
                <a:latin typeface="Consolas"/>
              </a:rPr>
              <a:t>if</a:t>
            </a:r>
            <a:r>
              <a:rPr sz="819" b="0" i="0">
                <a:solidFill>
                  <a:srgbClr val="D4D4D4"/>
                </a:solidFill>
                <a:latin typeface="Consolas"/>
              </a:rPr>
              <a:t> role </a:t>
            </a:r>
            <a:r>
              <a:rPr sz="819" b="0" i="0">
                <a:solidFill>
                  <a:srgbClr val="569CD6"/>
                </a:solidFill>
                <a:latin typeface="Consolas"/>
              </a:rPr>
              <a:t>in</a:t>
            </a:r>
            <a:r>
              <a:rPr sz="819" b="0" i="0">
                <a:solidFill>
                  <a:srgbClr val="D4D4D4"/>
                </a:solidFill>
                <a:latin typeface="Consolas"/>
              </a:rPr>
              <a:t> (</a:t>
            </a:r>
            <a:r>
              <a:rPr sz="819" b="0" i="0">
                <a:solidFill>
                  <a:srgbClr val="CE9178"/>
                </a:solidFill>
                <a:latin typeface="Consolas"/>
              </a:rPr>
              <a:t>"expert"</a:t>
            </a:r>
            <a:r>
              <a:rPr sz="819" b="0" i="0">
                <a:solidFill>
                  <a:srgbClr val="D4D4D4"/>
                </a:solidFill>
                <a:latin typeface="Consolas"/>
              </a:rPr>
              <a:t>, </a:t>
            </a:r>
            <a:r>
              <a:rPr sz="819" b="0" i="0">
                <a:solidFill>
                  <a:srgbClr val="CE9178"/>
                </a:solidFill>
                <a:latin typeface="Consolas"/>
              </a:rPr>
              <a:t>"manager"</a:t>
            </a:r>
            <a:r>
              <a:rPr sz="819" b="0" i="0">
                <a:solidFill>
                  <a:srgbClr val="D4D4D4"/>
                </a:solidFill>
                <a:latin typeface="Consolas"/>
              </a:rPr>
              <a:t>):</a:t>
            </a:r>
          </a:p>
          <a:p>
            <a:pPr algn="l">
              <a:spcAft>
                <a:spcPts val="0"/>
              </a:spcAft>
            </a:pPr>
            <a:r>
              <a:rPr sz="819" b="0" i="0">
                <a:solidFill>
                  <a:srgbClr val="858585"/>
                </a:solidFill>
                <a:latin typeface="Consolas"/>
              </a:rPr>
              <a:t> 273  </a:t>
            </a:r>
            <a:r>
              <a:rPr sz="819" b="0" i="0">
                <a:solidFill>
                  <a:srgbClr val="D4D4D4"/>
                </a:solidFill>
                <a:latin typeface="Consolas"/>
              </a:rPr>
              <a:t>        parts.append(</a:t>
            </a:r>
            <a:r>
              <a:rPr sz="819" b="0" i="0">
                <a:solidFill>
                  <a:srgbClr val="CE9178"/>
                </a:solidFill>
                <a:latin typeface="Consolas"/>
              </a:rPr>
              <a:t>"REFERENCE VOCABULARY (class (is-a) | also called | properties):\n…</a:t>
            </a:r>
          </a:p>
          <a:p>
            <a:pPr algn="l">
              <a:spcAft>
                <a:spcPts val="0"/>
              </a:spcAft>
            </a:pPr>
            <a:r>
              <a:rPr sz="819" b="0" i="0">
                <a:solidFill>
                  <a:srgbClr val="858585"/>
                </a:solidFill>
                <a:latin typeface="Consolas"/>
              </a:rPr>
              <a:t> 274  </a:t>
            </a:r>
            <a:r>
              <a:rPr sz="819" b="0" i="0">
                <a:solidFill>
                  <a:srgbClr val="D4D4D4"/>
                </a:solidFill>
                <a:latin typeface="Consolas"/>
              </a:rPr>
              <a:t>    parts.append(self._ROLE.get(role, </a:t>
            </a:r>
            <a:r>
              <a:rPr sz="819" b="0" i="0">
                <a:solidFill>
                  <a:srgbClr val="CE9178"/>
                </a:solidFill>
                <a:latin typeface="Consolas"/>
              </a:rPr>
              <a:t>""</a:t>
            </a:r>
            <a:r>
              <a:rPr sz="819" b="0" i="0">
                <a:solidFill>
                  <a:srgbClr val="D4D4D4"/>
                </a:solidFill>
                <a:latin typeface="Consolas"/>
              </a:rPr>
              <a:t>))</a:t>
            </a:r>
          </a:p>
          <a:p>
            <a:pPr algn="l">
              <a:spcAft>
                <a:spcPts val="0"/>
              </a:spcAft>
            </a:pPr>
            <a:r>
              <a:rPr sz="819" b="0" i="0">
                <a:solidFill>
                  <a:srgbClr val="858585"/>
                </a:solidFill>
                <a:latin typeface="Consolas"/>
              </a:rPr>
              <a:t> 275  </a:t>
            </a:r>
            <a:r>
              <a:rPr sz="819" b="0" i="0">
                <a:solidFill>
                  <a:srgbClr val="D4D4D4"/>
                </a:solidFill>
                <a:latin typeface="Consolas"/>
              </a:rPr>
              <a:t>    </a:t>
            </a:r>
            <a:r>
              <a:rPr sz="819" b="0" i="0">
                <a:solidFill>
                  <a:srgbClr val="569CD6"/>
                </a:solidFill>
                <a:latin typeface="Consolas"/>
              </a:rPr>
              <a:t>return</a:t>
            </a:r>
            <a:r>
              <a:rPr sz="819" b="0" i="0">
                <a:solidFill>
                  <a:srgbClr val="D4D4D4"/>
                </a:solidFill>
                <a:latin typeface="Consolas"/>
              </a:rPr>
              <a:t> </a:t>
            </a:r>
            <a:r>
              <a:rPr sz="819" b="0" i="0">
                <a:solidFill>
                  <a:srgbClr val="CE9178"/>
                </a:solidFill>
                <a:latin typeface="Consolas"/>
              </a:rPr>
              <a:t>"\n"</a:t>
            </a:r>
            <a:r>
              <a:rPr sz="819" b="0" i="0">
                <a:solidFill>
                  <a:srgbClr val="D4D4D4"/>
                </a:solidFill>
                <a:latin typeface="Consolas"/>
              </a:rPr>
              <a:t>.join(p </a:t>
            </a:r>
            <a:r>
              <a:rPr sz="819" b="0" i="0">
                <a:solidFill>
                  <a:srgbClr val="569CD6"/>
                </a:solidFill>
                <a:latin typeface="Consolas"/>
              </a:rPr>
              <a:t>for</a:t>
            </a:r>
            <a:r>
              <a:rPr sz="819" b="0" i="0">
                <a:solidFill>
                  <a:srgbClr val="D4D4D4"/>
                </a:solidFill>
                <a:latin typeface="Consolas"/>
              </a:rPr>
              <a:t> p </a:t>
            </a:r>
            <a:r>
              <a:rPr sz="819" b="0" i="0">
                <a:solidFill>
                  <a:srgbClr val="569CD6"/>
                </a:solidFill>
                <a:latin typeface="Consolas"/>
              </a:rPr>
              <a:t>in</a:t>
            </a:r>
            <a:r>
              <a:rPr sz="819" b="0" i="0">
                <a:solidFill>
                  <a:srgbClr val="D4D4D4"/>
                </a:solidFill>
                <a:latin typeface="Consolas"/>
              </a:rPr>
              <a:t> parts </a:t>
            </a:r>
            <a:r>
              <a:rPr sz="819" b="0" i="0">
                <a:solidFill>
                  <a:srgbClr val="569CD6"/>
                </a:solidFill>
                <a:latin typeface="Consolas"/>
              </a:rPr>
              <a:t>if</a:t>
            </a:r>
            <a:r>
              <a:rPr sz="819" b="0" i="0">
                <a:solidFill>
                  <a:srgbClr val="D4D4D4"/>
                </a:solidFill>
                <a:latin typeface="Consolas"/>
              </a:rPr>
              <a:t> p) + </a:t>
            </a:r>
            <a:r>
              <a:rPr sz="819" b="0" i="0">
                <a:solidFill>
                  <a:srgbClr val="CE9178"/>
                </a:solidFill>
                <a:latin typeface="Consolas"/>
              </a:rPr>
              <a:t>"\n"</a:t>
            </a:r>
          </a:p>
        </p:txBody>
      </p:sp>
      <p:sp>
        <p:nvSpPr>
          <p:cNvPr id="4" name="Rounded Rectangle 3"/>
          <p:cNvSpPr/>
          <p:nvPr/>
        </p:nvSpPr>
        <p:spPr>
          <a:xfrm>
            <a:off x="6126480" y="896112"/>
            <a:ext cx="2706624" cy="402336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65836" bIns="65836"/>
          <a:lstStyle/>
          <a:p>
            <a:pPr algn="l">
              <a:spcAft>
                <a:spcPts val="500"/>
              </a:spcAft>
            </a:pPr>
            <a:r>
              <a:rPr sz="1200" b="1" i="0">
                <a:solidFill>
                  <a:srgbClr val="058DC7"/>
                </a:solidFill>
                <a:latin typeface="Arial"/>
              </a:rPr>
              <a:t>In simple words</a:t>
            </a:r>
          </a:p>
          <a:p>
            <a:pPr algn="l">
              <a:spcAft>
                <a:spcPts val="500"/>
              </a:spcAft>
            </a:pPr>
            <a:r>
              <a:rPr sz="1050" b="1" i="0">
                <a:solidFill>
                  <a:srgbClr val="222222"/>
                </a:solidFill>
                <a:latin typeface="Arial"/>
              </a:rPr>
              <a:t>1 REUSE  </a:t>
            </a:r>
            <a:r>
              <a:rPr sz="1050" b="0" i="0">
                <a:solidFill>
                  <a:srgbClr val="222222"/>
                </a:solidFill>
                <a:latin typeface="Arial"/>
              </a:rPr>
              <a:t>If the PDF says “NNI Group”, use the existing NNIGroup. No copies.</a:t>
            </a:r>
          </a:p>
          <a:p>
            <a:pPr algn="l">
              <a:spcAft>
                <a:spcPts val="500"/>
              </a:spcAft>
            </a:pPr>
            <a:r>
              <a:rPr sz="1050" b="1" i="0">
                <a:solidFill>
                  <a:srgbClr val="222222"/>
                </a:solidFill>
                <a:latin typeface="Arial"/>
              </a:rPr>
              <a:t>2 EXTEND  </a:t>
            </a:r>
            <a:r>
              <a:rPr sz="1050" b="0" i="0">
                <a:solidFill>
                  <a:srgbClr val="222222"/>
                </a:solidFill>
                <a:latin typeface="Arial"/>
              </a:rPr>
              <a:t>New things are allowed, but tagged [extension: doc, page].</a:t>
            </a:r>
          </a:p>
          <a:p>
            <a:pPr algn="l">
              <a:spcAft>
                <a:spcPts val="500"/>
              </a:spcAft>
            </a:pPr>
            <a:r>
              <a:rPr sz="1050" b="1" i="0">
                <a:solidFill>
                  <a:srgbClr val="222222"/>
                </a:solidFill>
                <a:latin typeface="Arial"/>
              </a:rPr>
              <a:t>3 FACTS  </a:t>
            </a:r>
            <a:r>
              <a:rPr sz="1050" b="0" i="0">
                <a:solidFill>
                  <a:srgbClr val="222222"/>
                </a:solidFill>
                <a:latin typeface="Arial"/>
              </a:rPr>
              <a:t>Numbers become data, each with :sourceClause (where it came from).</a:t>
            </a:r>
          </a:p>
          <a:p>
            <a:pPr algn="l">
              <a:spcAft>
                <a:spcPts val="500"/>
              </a:spcAft>
            </a:pPr>
            <a:r>
              <a:rPr sz="1050" b="1" i="0">
                <a:solidFill>
                  <a:srgbClr val="222222"/>
                </a:solidFill>
                <a:latin typeface="Arial"/>
              </a:rPr>
              <a:t>4 NEVER delete  </a:t>
            </a:r>
            <a:r>
              <a:rPr sz="1050" b="0" i="0">
                <a:solidFill>
                  <a:srgbClr val="222222"/>
                </a:solidFill>
                <a:latin typeface="Arial"/>
              </a:rPr>
              <a:t>If the PDF disagrees with the reference, keep both and flag it.</a:t>
            </a:r>
          </a:p>
          <a:p>
            <a:pPr algn="l">
              <a:spcAft>
                <a:spcPts val="500"/>
              </a:spcAft>
            </a:pPr>
            <a:r>
              <a:rPr sz="1050" b="1" i="0">
                <a:solidFill>
                  <a:srgbClr val="222222"/>
                </a:solidFill>
                <a:latin typeface="Arial"/>
              </a:rPr>
              <a:t>5 No inventing.</a:t>
            </a:r>
          </a:p>
          <a:p>
            <a:pPr algn="l">
              <a:spcAft>
                <a:spcPts val="500"/>
              </a:spcAft>
            </a:pPr>
            <a:r>
              <a:rPr sz="1000" b="0" i="1">
                <a:solidFill>
                  <a:srgbClr val="666666"/>
                </a:solidFill>
                <a:latin typeface="Arial"/>
              </a:rPr>
              <a:t>prompt_block() glues the rules to a short per-role sentence (_ROLE) and, for the Expert and Manager, the term 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Code 2 — plugging it into the original pipeline</a:t>
            </a:r>
          </a:p>
        </p:txBody>
      </p:sp>
      <p:sp>
        <p:nvSpPr>
          <p:cNvPr id="3" name="Rounded Rectangle 2"/>
          <p:cNvSpPr/>
          <p:nvPr/>
        </p:nvSpPr>
        <p:spPr>
          <a:xfrm>
            <a:off x="310896" y="896112"/>
            <a:ext cx="5669280" cy="4023360"/>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tIns="54864" bIns="54864"/>
          <a:lstStyle/>
          <a:p>
            <a:pPr algn="l"/>
            <a:r>
              <a:rPr sz="950" b="1" i="0">
                <a:solidFill>
                  <a:srgbClr val="9CDCFE"/>
                </a:solidFill>
                <a:latin typeface="Consolas"/>
              </a:rPr>
              <a:t>agents/multi_agent.py   (yellow ◂ labels added for the slide)</a:t>
            </a:r>
          </a:p>
          <a:p>
            <a:pPr algn="l">
              <a:spcAft>
                <a:spcPts val="0"/>
              </a:spcAft>
            </a:pPr>
            <a:r>
              <a:rPr sz="950" b="0" i="0">
                <a:solidFill>
                  <a:srgbClr val="858585"/>
                </a:solidFill>
                <a:latin typeface="Consolas"/>
              </a:rPr>
              <a:t>  24  </a:t>
            </a:r>
            <a:r>
              <a:rPr sz="950" b="0" i="0">
                <a:solidFill>
                  <a:srgbClr val="569CD6"/>
                </a:solidFill>
                <a:latin typeface="Consolas"/>
              </a:rPr>
              <a:t>from</a:t>
            </a:r>
            <a:r>
              <a:rPr sz="950" b="0" i="0">
                <a:solidFill>
                  <a:srgbClr val="D4D4D4"/>
                </a:solidFill>
                <a:latin typeface="Consolas"/>
              </a:rPr>
              <a:t> helper.reference </a:t>
            </a:r>
            <a:r>
              <a:rPr sz="950" b="0" i="0">
                <a:solidFill>
                  <a:srgbClr val="569CD6"/>
                </a:solidFill>
                <a:latin typeface="Consolas"/>
              </a:rPr>
              <a:t>import</a:t>
            </a:r>
            <a:r>
              <a:rPr sz="950" b="0" i="0">
                <a:solidFill>
                  <a:srgbClr val="D4D4D4"/>
                </a:solidFill>
                <a:latin typeface="Consolas"/>
              </a:rPr>
              <a:t> Reference</a:t>
            </a:r>
          </a:p>
          <a:p>
            <a:pPr algn="l">
              <a:spcAft>
                <a:spcPts val="0"/>
              </a:spcAft>
            </a:pPr>
            <a:r>
              <a:rPr sz="950" b="0" i="0">
                <a:solidFill>
                  <a:srgbClr val="858585"/>
                </a:solidFill>
                <a:latin typeface="Consolas"/>
              </a:rPr>
              <a:t>  56  </a:t>
            </a:r>
            <a:r>
              <a:rPr sz="950" b="0" i="0">
                <a:solidFill>
                  <a:srgbClr val="D4D4D4"/>
                </a:solidFill>
                <a:latin typeface="Consolas"/>
              </a:rPr>
              <a:t>REF = </a:t>
            </a:r>
            <a:r>
              <a:rPr sz="950" b="0" i="0">
                <a:solidFill>
                  <a:srgbClr val="569CD6"/>
                </a:solidFill>
                <a:latin typeface="Consolas"/>
              </a:rPr>
              <a:t>None</a:t>
            </a:r>
            <a:r>
              <a:rPr sz="950" b="0" i="0">
                <a:solidFill>
                  <a:srgbClr val="D4D4D4"/>
                </a:solidFill>
                <a:latin typeface="Consolas"/>
              </a:rPr>
              <a:t>  </a:t>
            </a:r>
            <a:r>
              <a:rPr sz="950" b="0" i="0">
                <a:solidFill>
                  <a:srgbClr val="6A9955"/>
                </a:solidFill>
                <a:latin typeface="Consolas"/>
              </a:rPr>
              <a:t># helper.reference.Reference when --reference is given</a:t>
            </a:r>
          </a:p>
          <a:p>
            <a:pPr algn="l">
              <a:spcAft>
                <a:spcPts val="0"/>
              </a:spcAft>
            </a:pPr>
            <a:r>
              <a:rPr sz="950" b="0" i="0">
                <a:solidFill>
                  <a:srgbClr val="858585"/>
                </a:solidFill>
                <a:latin typeface="Consolas"/>
              </a:rPr>
              <a:t>      </a:t>
            </a:r>
          </a:p>
          <a:p>
            <a:pPr algn="l">
              <a:spcAft>
                <a:spcPts val="0"/>
              </a:spcAft>
            </a:pPr>
            <a:r>
              <a:rPr sz="950" b="0" i="0">
                <a:solidFill>
                  <a:srgbClr val="858585"/>
                </a:solidFill>
                <a:latin typeface="Consolas"/>
              </a:rPr>
              <a:t>  64  </a:t>
            </a:r>
            <a:r>
              <a:rPr sz="950" b="0" i="0">
                <a:solidFill>
                  <a:srgbClr val="569CD6"/>
                </a:solidFill>
                <a:latin typeface="Consolas"/>
              </a:rPr>
              <a:t>def</a:t>
            </a:r>
            <a:r>
              <a:rPr sz="950" b="0" i="0">
                <a:solidFill>
                  <a:srgbClr val="D4D4D4"/>
                </a:solidFill>
                <a:latin typeface="Consolas"/>
              </a:rPr>
              <a:t> _ref_block(role: str) -&gt; str:</a:t>
            </a:r>
          </a:p>
          <a:p>
            <a:pPr algn="l">
              <a:spcAft>
                <a:spcPts val="0"/>
              </a:spcAft>
            </a:pPr>
            <a:r>
              <a:rPr sz="950" b="0" i="0">
                <a:solidFill>
                  <a:srgbClr val="858585"/>
                </a:solidFill>
                <a:latin typeface="Consolas"/>
              </a:rPr>
              <a:t>  65  </a:t>
            </a:r>
            <a:r>
              <a:rPr sz="950" b="0" i="0">
                <a:solidFill>
                  <a:srgbClr val="D4D4D4"/>
                </a:solidFill>
                <a:latin typeface="Consolas"/>
              </a:rPr>
              <a:t>    </a:t>
            </a:r>
            <a:r>
              <a:rPr sz="950" b="0" i="0">
                <a:solidFill>
                  <a:srgbClr val="CE9178"/>
                </a:solidFill>
                <a:latin typeface="Consolas"/>
              </a:rPr>
              <a:t>""</a:t>
            </a:r>
            <a:r>
              <a:rPr sz="950" b="0" i="0">
                <a:solidFill>
                  <a:srgbClr val="CE9178"/>
                </a:solidFill>
                <a:latin typeface="Consolas"/>
              </a:rPr>
              <a:t>"Reference-ontology guidance for an agent role ('' when no reference is…</a:t>
            </a:r>
          </a:p>
          <a:p>
            <a:pPr algn="l">
              <a:spcAft>
                <a:spcPts val="0"/>
              </a:spcAft>
            </a:pPr>
            <a:r>
              <a:rPr sz="950" b="0" i="0">
                <a:solidFill>
                  <a:srgbClr val="858585"/>
                </a:solidFill>
                <a:latin typeface="Consolas"/>
              </a:rPr>
              <a:t>  66  </a:t>
            </a:r>
            <a:r>
              <a:rPr sz="950" b="0" i="0">
                <a:solidFill>
                  <a:srgbClr val="D4D4D4"/>
                </a:solidFill>
                <a:latin typeface="Consolas"/>
              </a:rPr>
              <a:t>    </a:t>
            </a:r>
            <a:r>
              <a:rPr sz="950" b="0" i="0">
                <a:solidFill>
                  <a:srgbClr val="569CD6"/>
                </a:solidFill>
                <a:latin typeface="Consolas"/>
              </a:rPr>
              <a:t>return</a:t>
            </a:r>
            <a:r>
              <a:rPr sz="950" b="0" i="0">
                <a:solidFill>
                  <a:srgbClr val="D4D4D4"/>
                </a:solidFill>
                <a:latin typeface="Consolas"/>
              </a:rPr>
              <a:t> REF.prompt_block(role) </a:t>
            </a:r>
            <a:r>
              <a:rPr sz="950" b="0" i="0">
                <a:solidFill>
                  <a:srgbClr val="569CD6"/>
                </a:solidFill>
                <a:latin typeface="Consolas"/>
              </a:rPr>
              <a:t>if</a:t>
            </a:r>
            <a:r>
              <a:rPr sz="950" b="0" i="0">
                <a:solidFill>
                  <a:srgbClr val="D4D4D4"/>
                </a:solidFill>
                <a:latin typeface="Consolas"/>
              </a:rPr>
              <a:t> REF </a:t>
            </a:r>
            <a:r>
              <a:rPr sz="950" b="0" i="0">
                <a:solidFill>
                  <a:srgbClr val="569CD6"/>
                </a:solidFill>
                <a:latin typeface="Consolas"/>
              </a:rPr>
              <a:t>is</a:t>
            </a:r>
            <a:r>
              <a:rPr sz="950" b="0" i="0">
                <a:solidFill>
                  <a:srgbClr val="D4D4D4"/>
                </a:solidFill>
                <a:latin typeface="Consolas"/>
              </a:rPr>
              <a:t> </a:t>
            </a:r>
            <a:r>
              <a:rPr sz="950" b="0" i="0">
                <a:solidFill>
                  <a:srgbClr val="569CD6"/>
                </a:solidFill>
                <a:latin typeface="Consolas"/>
              </a:rPr>
              <a:t>not</a:t>
            </a:r>
            <a:r>
              <a:rPr sz="950" b="0" i="0">
                <a:solidFill>
                  <a:srgbClr val="D4D4D4"/>
                </a:solidFill>
                <a:latin typeface="Consolas"/>
              </a:rPr>
              <a:t> </a:t>
            </a:r>
            <a:r>
              <a:rPr sz="950" b="0" i="0">
                <a:solidFill>
                  <a:srgbClr val="569CD6"/>
                </a:solidFill>
                <a:latin typeface="Consolas"/>
              </a:rPr>
              <a:t>None</a:t>
            </a:r>
            <a:r>
              <a:rPr sz="950" b="0" i="0">
                <a:solidFill>
                  <a:srgbClr val="D4D4D4"/>
                </a:solidFill>
                <a:latin typeface="Consolas"/>
              </a:rPr>
              <a:t> </a:t>
            </a:r>
            <a:r>
              <a:rPr sz="950" b="0" i="0">
                <a:solidFill>
                  <a:srgbClr val="569CD6"/>
                </a:solidFill>
                <a:latin typeface="Consolas"/>
              </a:rPr>
              <a:t>else</a:t>
            </a:r>
            <a:r>
              <a:rPr sz="950" b="0" i="0">
                <a:solidFill>
                  <a:srgbClr val="D4D4D4"/>
                </a:solidFill>
                <a:latin typeface="Consolas"/>
              </a:rPr>
              <a:t> </a:t>
            </a:r>
            <a:r>
              <a:rPr sz="950" b="0" i="0">
                <a:solidFill>
                  <a:srgbClr val="CE9178"/>
                </a:solidFill>
                <a:latin typeface="Consolas"/>
              </a:rPr>
              <a:t>""</a:t>
            </a:r>
          </a:p>
          <a:p>
            <a:pPr algn="l">
              <a:spcAft>
                <a:spcPts val="0"/>
              </a:spcAft>
            </a:pPr>
            <a:r>
              <a:rPr sz="950" b="0" i="0">
                <a:solidFill>
                  <a:srgbClr val="858585"/>
                </a:solidFill>
                <a:latin typeface="Consolas"/>
              </a:rPr>
              <a:t>      </a:t>
            </a:r>
          </a:p>
          <a:p>
            <a:pPr algn="l">
              <a:spcAft>
                <a:spcPts val="0"/>
              </a:spcAft>
            </a:pPr>
            <a:r>
              <a:rPr sz="950" b="0" i="0">
                <a:solidFill>
                  <a:srgbClr val="858585"/>
                </a:solidFill>
                <a:latin typeface="Consolas"/>
              </a:rPr>
              <a:t> 266  </a:t>
            </a:r>
            <a:r>
              <a:rPr sz="950" b="0" i="0">
                <a:solidFill>
                  <a:srgbClr val="D4D4D4"/>
                </a:solidFill>
                <a:latin typeface="Consolas"/>
              </a:rPr>
              <a:t>human += _ref_block(</a:t>
            </a:r>
            <a:r>
              <a:rPr sz="950" b="0" i="0">
                <a:solidFill>
                  <a:srgbClr val="CE9178"/>
                </a:solidFill>
                <a:latin typeface="Consolas"/>
              </a:rPr>
              <a:t>"expert"</a:t>
            </a:r>
            <a:r>
              <a:rPr sz="950" b="0" i="0">
                <a:solidFill>
                  <a:srgbClr val="D4D4D4"/>
                </a:solidFill>
                <a:latin typeface="Consolas"/>
              </a:rPr>
              <a:t>)</a:t>
            </a:r>
            <a:r>
              <a:rPr sz="950" b="0" i="1">
                <a:solidFill>
                  <a:srgbClr val="DCDCAA"/>
                </a:solidFill>
                <a:latin typeface="Consolas"/>
              </a:rPr>
              <a:t>   ◂ Domain Expert</a:t>
            </a:r>
          </a:p>
          <a:p>
            <a:pPr algn="l">
              <a:spcAft>
                <a:spcPts val="0"/>
              </a:spcAft>
            </a:pPr>
            <a:r>
              <a:rPr sz="950" b="0" i="0">
                <a:solidFill>
                  <a:srgbClr val="858585"/>
                </a:solidFill>
                <a:latin typeface="Consolas"/>
              </a:rPr>
              <a:t> 371  </a:t>
            </a:r>
            <a:r>
              <a:rPr sz="950" b="0" i="0">
                <a:solidFill>
                  <a:srgbClr val="CE9178"/>
                </a:solidFill>
                <a:latin typeface="Consolas"/>
              </a:rPr>
              <a:t>f"{_ref_block('manager')}\n"</a:t>
            </a:r>
            <a:r>
              <a:rPr sz="950" b="0" i="1">
                <a:solidFill>
                  <a:srgbClr val="DCDCAA"/>
                </a:solidFill>
                <a:latin typeface="Consolas"/>
              </a:rPr>
              <a:t>   ◂ Manager</a:t>
            </a:r>
          </a:p>
          <a:p>
            <a:pPr algn="l">
              <a:spcAft>
                <a:spcPts val="0"/>
              </a:spcAft>
            </a:pPr>
            <a:r>
              <a:rPr sz="950" b="0" i="0">
                <a:solidFill>
                  <a:srgbClr val="858585"/>
                </a:solidFill>
                <a:latin typeface="Consolas"/>
              </a:rPr>
              <a:t> 477  </a:t>
            </a:r>
            <a:r>
              <a:rPr sz="950" b="0" i="0">
                <a:solidFill>
                  <a:srgbClr val="D4D4D4"/>
                </a:solidFill>
                <a:latin typeface="Consolas"/>
              </a:rPr>
              <a:t>{_ref_block(</a:t>
            </a:r>
            <a:r>
              <a:rPr sz="950" b="0" i="0">
                <a:solidFill>
                  <a:srgbClr val="CE9178"/>
                </a:solidFill>
                <a:latin typeface="Consolas"/>
              </a:rPr>
              <a:t>'coder'</a:t>
            </a:r>
            <a:r>
              <a:rPr sz="950" b="0" i="0">
                <a:solidFill>
                  <a:srgbClr val="D4D4D4"/>
                </a:solidFill>
                <a:latin typeface="Consolas"/>
              </a:rPr>
              <a:t>)}</a:t>
            </a:r>
            <a:r>
              <a:rPr sz="950" b="0" i="1">
                <a:solidFill>
                  <a:srgbClr val="DCDCAA"/>
                </a:solidFill>
                <a:latin typeface="Consolas"/>
              </a:rPr>
              <a:t>   ◂ Coder</a:t>
            </a:r>
          </a:p>
          <a:p>
            <a:pPr algn="l">
              <a:spcAft>
                <a:spcPts val="0"/>
              </a:spcAft>
            </a:pPr>
            <a:r>
              <a:rPr sz="950" b="0" i="0">
                <a:solidFill>
                  <a:srgbClr val="858585"/>
                </a:solidFill>
                <a:latin typeface="Consolas"/>
              </a:rPr>
              <a:t> 599  </a:t>
            </a:r>
            <a:r>
              <a:rPr sz="950" b="0" i="0">
                <a:solidFill>
                  <a:srgbClr val="D4D4D4"/>
                </a:solidFill>
                <a:latin typeface="Consolas"/>
              </a:rPr>
              <a:t>+ _ref_block(</a:t>
            </a:r>
            <a:r>
              <a:rPr sz="950" b="0" i="0">
                <a:solidFill>
                  <a:srgbClr val="CE9178"/>
                </a:solidFill>
                <a:latin typeface="Consolas"/>
              </a:rPr>
              <a:t>"qa"</a:t>
            </a:r>
            <a:r>
              <a:rPr sz="950" b="0" i="0">
                <a:solidFill>
                  <a:srgbClr val="D4D4D4"/>
                </a:solidFill>
                <a:latin typeface="Consolas"/>
              </a:rPr>
              <a:t>)</a:t>
            </a:r>
            <a:r>
              <a:rPr sz="950" b="0" i="1">
                <a:solidFill>
                  <a:srgbClr val="DCDCAA"/>
                </a:solidFill>
                <a:latin typeface="Consolas"/>
              </a:rPr>
              <a:t>   ◂ QA reviewer</a:t>
            </a:r>
          </a:p>
          <a:p>
            <a:pPr algn="l">
              <a:spcAft>
                <a:spcPts val="0"/>
              </a:spcAft>
            </a:pPr>
            <a:r>
              <a:rPr sz="950" b="0" i="0">
                <a:solidFill>
                  <a:srgbClr val="858585"/>
                </a:solidFill>
                <a:latin typeface="Consolas"/>
              </a:rPr>
              <a:t> 829  </a:t>
            </a:r>
            <a:r>
              <a:rPr sz="950" b="0" i="0">
                <a:solidFill>
                  <a:srgbClr val="D4D4D4"/>
                </a:solidFill>
                <a:latin typeface="Consolas"/>
              </a:rPr>
              <a:t>system_prompt += _ref_block(</a:t>
            </a:r>
            <a:r>
              <a:rPr sz="950" b="0" i="0">
                <a:solidFill>
                  <a:srgbClr val="CE9178"/>
                </a:solidFill>
                <a:latin typeface="Consolas"/>
              </a:rPr>
              <a:t>"qa_coder"</a:t>
            </a:r>
            <a:r>
              <a:rPr sz="950" b="0" i="0">
                <a:solidFill>
                  <a:srgbClr val="D4D4D4"/>
                </a:solidFill>
                <a:latin typeface="Consolas"/>
              </a:rPr>
              <a:t>)</a:t>
            </a:r>
            <a:r>
              <a:rPr sz="950" b="0" i="1">
                <a:solidFill>
                  <a:srgbClr val="DCDCAA"/>
                </a:solidFill>
                <a:latin typeface="Consolas"/>
              </a:rPr>
              <a:t>   ◂ QA-Coder</a:t>
            </a:r>
          </a:p>
          <a:p>
            <a:pPr algn="l">
              <a:spcAft>
                <a:spcPts val="0"/>
              </a:spcAft>
            </a:pPr>
            <a:r>
              <a:rPr sz="950" b="0" i="0">
                <a:solidFill>
                  <a:srgbClr val="858585"/>
                </a:solidFill>
                <a:latin typeface="Consolas"/>
              </a:rPr>
              <a:t>      </a:t>
            </a:r>
          </a:p>
          <a:p>
            <a:pPr algn="l">
              <a:spcAft>
                <a:spcPts val="0"/>
              </a:spcAft>
            </a:pPr>
            <a:r>
              <a:rPr sz="950" b="0" i="0">
                <a:solidFill>
                  <a:srgbClr val="858585"/>
                </a:solidFill>
                <a:latin typeface="Consolas"/>
              </a:rPr>
              <a:t>1026  </a:t>
            </a:r>
            <a:r>
              <a:rPr sz="950" b="0" i="0">
                <a:solidFill>
                  <a:srgbClr val="569CD6"/>
                </a:solidFill>
                <a:latin typeface="Consolas"/>
              </a:rPr>
              <a:t>if</a:t>
            </a:r>
            <a:r>
              <a:rPr sz="950" b="0" i="0">
                <a:solidFill>
                  <a:srgbClr val="D4D4D4"/>
                </a:solidFill>
                <a:latin typeface="Consolas"/>
              </a:rPr>
              <a:t> args.reference:</a:t>
            </a:r>
          </a:p>
          <a:p>
            <a:pPr algn="l">
              <a:spcAft>
                <a:spcPts val="0"/>
              </a:spcAft>
            </a:pPr>
            <a:r>
              <a:rPr sz="950" b="0" i="0">
                <a:solidFill>
                  <a:srgbClr val="858585"/>
                </a:solidFill>
                <a:latin typeface="Consolas"/>
              </a:rPr>
              <a:t>1027  </a:t>
            </a:r>
            <a:r>
              <a:rPr sz="950" b="0" i="0">
                <a:solidFill>
                  <a:srgbClr val="D4D4D4"/>
                </a:solidFill>
                <a:latin typeface="Consolas"/>
              </a:rPr>
              <a:t>    REF = Reference(args.reference, args.reference_scope)</a:t>
            </a:r>
          </a:p>
          <a:p>
            <a:pPr algn="l">
              <a:spcAft>
                <a:spcPts val="0"/>
              </a:spcAft>
            </a:pPr>
            <a:r>
              <a:rPr sz="950" b="0" i="0">
                <a:solidFill>
                  <a:srgbClr val="858585"/>
                </a:solidFill>
                <a:latin typeface="Consolas"/>
              </a:rPr>
              <a:t>      </a:t>
            </a:r>
            <a:r>
              <a:rPr sz="950" b="0" i="0">
                <a:solidFill>
                  <a:srgbClr val="D4D4D4"/>
                </a:solidFill>
                <a:latin typeface="Consolas"/>
              </a:rPr>
              <a:t>…</a:t>
            </a:r>
          </a:p>
          <a:p>
            <a:pPr algn="l">
              <a:spcAft>
                <a:spcPts val="0"/>
              </a:spcAft>
            </a:pPr>
            <a:r>
              <a:rPr sz="950" b="0" i="0">
                <a:solidFill>
                  <a:srgbClr val="858585"/>
                </a:solidFill>
                <a:latin typeface="Consolas"/>
              </a:rPr>
              <a:t>1069  </a:t>
            </a:r>
            <a:r>
              <a:rPr sz="950" b="0" i="0">
                <a:solidFill>
                  <a:srgbClr val="569CD6"/>
                </a:solidFill>
                <a:latin typeface="Consolas"/>
              </a:rPr>
              <a:t>else</a:t>
            </a:r>
            <a:r>
              <a:rPr sz="950" b="0" i="0">
                <a:solidFill>
                  <a:srgbClr val="D4D4D4"/>
                </a:solidFill>
                <a:latin typeface="Consolas"/>
              </a:rPr>
              <a:t>:</a:t>
            </a:r>
          </a:p>
          <a:p>
            <a:pPr algn="l">
              <a:spcAft>
                <a:spcPts val="0"/>
              </a:spcAft>
            </a:pPr>
            <a:r>
              <a:rPr sz="950" b="0" i="0">
                <a:solidFill>
                  <a:srgbClr val="858585"/>
                </a:solidFill>
                <a:latin typeface="Consolas"/>
              </a:rPr>
              <a:t>1070  </a:t>
            </a:r>
            <a:r>
              <a:rPr sz="950" b="0" i="0">
                <a:solidFill>
                  <a:srgbClr val="D4D4D4"/>
                </a:solidFill>
                <a:latin typeface="Consolas"/>
              </a:rPr>
              <a:t>    ontology_file_path.write_text(REF.seed_turtle(), encoding=</a:t>
            </a:r>
            <a:r>
              <a:rPr sz="950" b="0" i="0">
                <a:solidFill>
                  <a:srgbClr val="CE9178"/>
                </a:solidFill>
                <a:latin typeface="Consolas"/>
              </a:rPr>
              <a:t>"utf-8"</a:t>
            </a:r>
            <a:r>
              <a:rPr sz="950" b="0" i="0">
                <a:solidFill>
                  <a:srgbClr val="D4D4D4"/>
                </a:solidFill>
                <a:latin typeface="Consolas"/>
              </a:rPr>
              <a:t>)</a:t>
            </a:r>
          </a:p>
        </p:txBody>
      </p:sp>
      <p:sp>
        <p:nvSpPr>
          <p:cNvPr id="4" name="Rounded Rectangle 3"/>
          <p:cNvSpPr/>
          <p:nvPr/>
        </p:nvSpPr>
        <p:spPr>
          <a:xfrm>
            <a:off x="6126480" y="896112"/>
            <a:ext cx="2706624" cy="402336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65836" bIns="65836"/>
          <a:lstStyle/>
          <a:p>
            <a:pPr algn="l">
              <a:spcAft>
                <a:spcPts val="500"/>
              </a:spcAft>
            </a:pPr>
            <a:r>
              <a:rPr sz="1200" b="1" i="0">
                <a:solidFill>
                  <a:srgbClr val="058DC7"/>
                </a:solidFill>
                <a:latin typeface="Arial"/>
              </a:rPr>
              <a:t>In simple words</a:t>
            </a:r>
          </a:p>
          <a:p>
            <a:pPr algn="l">
              <a:spcAft>
                <a:spcPts val="500"/>
              </a:spcAft>
            </a:pPr>
            <a:r>
              <a:rPr sz="1050" b="1" i="0">
                <a:solidFill>
                  <a:srgbClr val="222222"/>
                </a:solidFill>
                <a:latin typeface="Arial"/>
              </a:rPr>
              <a:t>5 one-line insertions</a:t>
            </a:r>
            <a:r>
              <a:rPr sz="1050" b="0" i="0">
                <a:solidFill>
                  <a:srgbClr val="222222"/>
                </a:solidFill>
                <a:latin typeface="Arial"/>
              </a:rPr>
              <a:t> — one per agent. Each adds the brief to that agent's prompt.</a:t>
            </a:r>
          </a:p>
          <a:p>
            <a:pPr algn="l">
              <a:spcAft>
                <a:spcPts val="500"/>
              </a:spcAft>
            </a:pPr>
            <a:r>
              <a:rPr sz="1050" b="1" i="0">
                <a:solidFill>
                  <a:srgbClr val="222222"/>
                </a:solidFill>
                <a:latin typeface="Arial"/>
              </a:rPr>
              <a:t>1 new command-line flag</a:t>
            </a:r>
            <a:r>
              <a:rPr sz="1050" b="0" i="0">
                <a:solidFill>
                  <a:srgbClr val="222222"/>
                </a:solidFill>
                <a:latin typeface="Arial"/>
              </a:rPr>
              <a:t>, --reference, loads the ontology.</a:t>
            </a:r>
          </a:p>
          <a:p>
            <a:pPr algn="l">
              <a:spcAft>
                <a:spcPts val="500"/>
              </a:spcAft>
            </a:pPr>
            <a:r>
              <a:rPr sz="1050" b="1" i="0">
                <a:solidFill>
                  <a:srgbClr val="222222"/>
                </a:solidFill>
                <a:latin typeface="Arial"/>
              </a:rPr>
              <a:t>2 lines</a:t>
            </a:r>
            <a:r>
              <a:rPr sz="1050" b="0" i="0">
                <a:solidFill>
                  <a:srgbClr val="222222"/>
                </a:solidFill>
                <a:latin typeface="Arial"/>
              </a:rPr>
              <a:t> write the seed into the file, only if the file is still empty (never overwrites work).</a:t>
            </a:r>
          </a:p>
          <a:p>
            <a:pPr algn="l">
              <a:spcAft>
                <a:spcPts val="500"/>
              </a:spcAft>
            </a:pPr>
            <a:r>
              <a:rPr sz="1050" b="1" i="0">
                <a:solidFill>
                  <a:srgbClr val="222222"/>
                </a:solidFill>
                <a:latin typeface="Arial"/>
              </a:rPr>
              <a:t>How we start it:</a:t>
            </a:r>
          </a:p>
          <a:p>
            <a:pPr algn="l">
              <a:spcAft>
                <a:spcPts val="500"/>
              </a:spcAft>
            </a:pPr>
            <a:r>
              <a:rPr sz="850" b="0" i="0">
                <a:solidFill>
                  <a:srgbClr val="222222"/>
                </a:solidFill>
                <a:latin typeface="Consolas"/>
              </a:rPr>
              <a:t>--arm reference --reference-scope core --mode lite</a:t>
            </a:r>
          </a:p>
          <a:p>
            <a:pPr algn="l">
              <a:spcAft>
                <a:spcPts val="500"/>
              </a:spcAft>
            </a:pPr>
            <a:r>
              <a:rPr sz="1000" b="0" i="1">
                <a:solidFill>
                  <a:srgbClr val="666666"/>
                </a:solidFill>
                <a:latin typeface="Arial"/>
              </a:rPr>
              <a:t>Without --reference nothing changes: it is still the paper's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Code 3 — “lite” checks instead of an LLM reviewer</a:t>
            </a:r>
          </a:p>
        </p:txBody>
      </p:sp>
      <p:sp>
        <p:nvSpPr>
          <p:cNvPr id="3" name="Rounded Rectangle 2"/>
          <p:cNvSpPr/>
          <p:nvPr/>
        </p:nvSpPr>
        <p:spPr>
          <a:xfrm>
            <a:off x="310896" y="896112"/>
            <a:ext cx="1737360" cy="713232"/>
          </a:xfrm>
          <a:prstGeom prst="roundRect">
            <a:avLst>
              <a:gd name="adj" fmla="val 8000"/>
            </a:avLst>
          </a:prstGeom>
          <a:solidFill>
            <a:srgbClr val="058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④ Builder</a:t>
            </a:r>
          </a:p>
          <a:p>
            <a:pPr algn="ctr">
              <a:spcAft>
                <a:spcPts val="0"/>
              </a:spcAft>
            </a:pPr>
            <a:r>
              <a:rPr sz="900" b="0" i="0">
                <a:solidFill>
                  <a:srgbClr val="FFFFFF"/>
                </a:solidFill>
                <a:latin typeface="Arial"/>
              </a:rPr>
              <a:t>writes the page into the file</a:t>
            </a:r>
          </a:p>
        </p:txBody>
      </p:sp>
      <p:sp>
        <p:nvSpPr>
          <p:cNvPr id="4" name="Rounded Rectangle 3"/>
          <p:cNvSpPr/>
          <p:nvPr/>
        </p:nvSpPr>
        <p:spPr>
          <a:xfrm>
            <a:off x="2514600" y="896112"/>
            <a:ext cx="2286000" cy="713232"/>
          </a:xfrm>
          <a:prstGeom prst="roundRect">
            <a:avLst>
              <a:gd name="adj" fmla="val 8000"/>
            </a:avLst>
          </a:prstGeom>
          <a:solidFill>
            <a:srgbClr val="ED5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Checks (no LLM)</a:t>
            </a:r>
          </a:p>
          <a:p>
            <a:pPr algn="ctr">
              <a:spcAft>
                <a:spcPts val="0"/>
              </a:spcAft>
            </a:pPr>
            <a:r>
              <a:rPr sz="900" b="0" i="0">
                <a:solidFill>
                  <a:srgbClr val="FFFFFF"/>
                </a:solidFill>
                <a:latin typeface="Arial"/>
              </a:rPr>
              <a:t>numbers · duplicates · sources · answers · cycles</a:t>
            </a:r>
          </a:p>
        </p:txBody>
      </p:sp>
      <p:sp>
        <p:nvSpPr>
          <p:cNvPr id="5" name="Rounded Rectangle 4"/>
          <p:cNvSpPr/>
          <p:nvPr/>
        </p:nvSpPr>
        <p:spPr>
          <a:xfrm>
            <a:off x="6309360" y="896112"/>
            <a:ext cx="1280160" cy="713232"/>
          </a:xfrm>
          <a:prstGeom prst="roundRect">
            <a:avLst>
              <a:gd name="adj" fmla="val 8000"/>
            </a:avLst>
          </a:prstGeom>
          <a:solidFill>
            <a:srgbClr val="50B4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spcAft>
                <a:spcPts val="0"/>
              </a:spcAft>
            </a:pPr>
            <a:r>
              <a:rPr sz="1100" b="1" i="0">
                <a:solidFill>
                  <a:srgbClr val="FFFFFF"/>
                </a:solidFill>
                <a:latin typeface="Arial"/>
              </a:rPr>
              <a:t>Next page</a:t>
            </a:r>
          </a:p>
          <a:p>
            <a:pPr algn="ctr">
              <a:spcAft>
                <a:spcPts val="0"/>
              </a:spcAft>
            </a:pPr>
            <a:r>
              <a:rPr sz="900" b="0" i="0">
                <a:solidFill>
                  <a:srgbClr val="FFFFFF"/>
                </a:solidFill>
                <a:latin typeface="Arial"/>
              </a:rPr>
              <a:t>all checks pass</a:t>
            </a:r>
          </a:p>
        </p:txBody>
      </p:sp>
      <p:cxnSp>
        <p:nvCxnSpPr>
          <p:cNvPr id="6" name="Connector 5"/>
          <p:cNvCxnSpPr/>
          <p:nvPr/>
        </p:nvCxnSpPr>
        <p:spPr>
          <a:xfrm>
            <a:off x="2066543" y="1252728"/>
            <a:ext cx="429769"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818888" y="1252728"/>
            <a:ext cx="1472184" cy="0"/>
          </a:xfrm>
          <a:prstGeom prst="line">
            <a:avLst/>
          </a:prstGeom>
          <a:ln w="22225">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937760" y="978408"/>
            <a:ext cx="128016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900" b="0" i="0">
                <a:solidFill>
                  <a:srgbClr val="666666"/>
                </a:solidFill>
                <a:latin typeface="Arial"/>
              </a:rPr>
              <a:t>all pass</a:t>
            </a:r>
          </a:p>
        </p:txBody>
      </p:sp>
      <p:cxnSp>
        <p:nvCxnSpPr>
          <p:cNvPr id="9" name="Connector 8"/>
          <p:cNvCxnSpPr/>
          <p:nvPr/>
        </p:nvCxnSpPr>
        <p:spPr>
          <a:xfrm>
            <a:off x="3657600" y="1627632"/>
            <a:ext cx="0" cy="310896"/>
          </a:xfrm>
          <a:prstGeom prst="line">
            <a:avLst/>
          </a:prstGeom>
          <a:ln w="22225">
            <a:solidFill>
              <a:srgbClr val="ED561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188720" y="1938528"/>
            <a:ext cx="2468880" cy="0"/>
          </a:xfrm>
          <a:prstGeom prst="line">
            <a:avLst/>
          </a:prstGeom>
          <a:ln w="22225">
            <a:solidFill>
              <a:srgbClr val="ED561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88720" y="1645920"/>
            <a:ext cx="0" cy="292608"/>
          </a:xfrm>
          <a:prstGeom prst="line">
            <a:avLst/>
          </a:prstGeom>
          <a:ln w="22225">
            <a:solidFill>
              <a:srgbClr val="ED561B"/>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1280160" y="1682496"/>
            <a:ext cx="233172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l">
              <a:spcAft>
                <a:spcPts val="0"/>
              </a:spcAft>
            </a:pPr>
            <a:r>
              <a:rPr sz="900" b="1" i="0">
                <a:solidFill>
                  <a:srgbClr val="ED561B"/>
                </a:solidFill>
                <a:latin typeface="Arial"/>
              </a:rPr>
              <a:t>problem → feedback, max 2 rounds</a:t>
            </a:r>
          </a:p>
        </p:txBody>
      </p:sp>
      <p:sp>
        <p:nvSpPr>
          <p:cNvPr id="13" name="Rounded Rectangle 12"/>
          <p:cNvSpPr/>
          <p:nvPr/>
        </p:nvSpPr>
        <p:spPr>
          <a:xfrm>
            <a:off x="7726679" y="896112"/>
            <a:ext cx="1106424" cy="713232"/>
          </a:xfrm>
          <a:prstGeom prst="roundRect">
            <a:avLst>
              <a:gd name="adj" fmla="val 8000"/>
            </a:avLst>
          </a:prstGeom>
          <a:solidFill>
            <a:srgbClr val="FDE6DC"/>
          </a:solidFill>
          <a:ln w="12700">
            <a:solidFill>
              <a:srgbClr val="ED561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222222"/>
                </a:solidFill>
                <a:latin typeface="Arial"/>
              </a:rPr>
              <a:t>Still wrong?</a:t>
            </a:r>
          </a:p>
          <a:p>
            <a:pPr algn="ctr">
              <a:spcAft>
                <a:spcPts val="0"/>
              </a:spcAft>
            </a:pPr>
            <a:r>
              <a:rPr sz="800" b="0" i="0">
                <a:solidFill>
                  <a:srgbClr val="222222"/>
                </a:solidFill>
                <a:latin typeface="Arial"/>
              </a:rPr>
              <a:t>wrong numbers deleted; broken page dropped</a:t>
            </a:r>
          </a:p>
        </p:txBody>
      </p:sp>
      <p:sp>
        <p:nvSpPr>
          <p:cNvPr id="14" name="Rounded Rectangle 13"/>
          <p:cNvSpPr/>
          <p:nvPr/>
        </p:nvSpPr>
        <p:spPr>
          <a:xfrm>
            <a:off x="310896" y="2212848"/>
            <a:ext cx="4572000" cy="2697480"/>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tIns="54864" bIns="54864"/>
          <a:lstStyle/>
          <a:p>
            <a:pPr algn="l"/>
            <a:r>
              <a:rPr sz="750" b="1" i="0">
                <a:solidFill>
                  <a:srgbClr val="9CDCFE"/>
                </a:solidFill>
                <a:latin typeface="Consolas"/>
              </a:rPr>
              <a:t>helper/grounding.py — what the checks tell the Coder</a:t>
            </a:r>
          </a:p>
          <a:p>
            <a:pPr algn="l">
              <a:spcAft>
                <a:spcPts val="0"/>
              </a:spcAft>
            </a:pPr>
            <a:r>
              <a:rPr sz="750" b="0" i="0">
                <a:solidFill>
                  <a:srgbClr val="858585"/>
                </a:solidFill>
                <a:latin typeface="Consolas"/>
              </a:rPr>
              <a:t> 205  </a:t>
            </a:r>
            <a:r>
              <a:rPr sz="750" b="0" i="0">
                <a:solidFill>
                  <a:srgbClr val="569CD6"/>
                </a:solidFill>
                <a:latin typeface="Consolas"/>
              </a:rPr>
              <a:t>def</a:t>
            </a:r>
            <a:r>
              <a:rPr sz="750" b="0" i="0">
                <a:solidFill>
                  <a:srgbClr val="D4D4D4"/>
                </a:solidFill>
                <a:latin typeface="Consolas"/>
              </a:rPr>
              <a:t> build_feedback(base, now, page_text, cqs, seed_individuals=frozenset(), …</a:t>
            </a:r>
          </a:p>
          <a:p>
            <a:pPr algn="l">
              <a:spcAft>
                <a:spcPts val="0"/>
              </a:spcAft>
            </a:pPr>
            <a:r>
              <a:rPr sz="750" b="0" i="0">
                <a:solidFill>
                  <a:srgbClr val="858585"/>
                </a:solidFill>
                <a:latin typeface="Consolas"/>
              </a:rPr>
              <a:t> 206  </a:t>
            </a:r>
            <a:r>
              <a:rPr sz="750" b="0" i="0">
                <a:solidFill>
                  <a:srgbClr val="D4D4D4"/>
                </a:solidFill>
                <a:latin typeface="Consolas"/>
              </a:rPr>
              <a:t>    fb = []</a:t>
            </a:r>
          </a:p>
          <a:p>
            <a:pPr algn="l">
              <a:spcAft>
                <a:spcPts val="0"/>
              </a:spcAft>
            </a:pPr>
            <a:r>
              <a:rPr sz="750" b="0" i="0">
                <a:solidFill>
                  <a:srgbClr val="858585"/>
                </a:solidFill>
                <a:latin typeface="Consolas"/>
              </a:rPr>
              <a:t> 207  </a:t>
            </a:r>
            <a:r>
              <a:rPr sz="750" b="0" i="0">
                <a:solidFill>
                  <a:srgbClr val="D4D4D4"/>
                </a:solidFill>
                <a:latin typeface="Consolas"/>
              </a:rPr>
              <a:t>    </a:t>
            </a:r>
            <a:r>
              <a:rPr sz="750" b="0" i="0">
                <a:solidFill>
                  <a:srgbClr val="569CD6"/>
                </a:solidFill>
                <a:latin typeface="Consolas"/>
              </a:rPr>
              <a:t>for</a:t>
            </a:r>
            <a:r>
              <a:rPr sz="750" b="0" i="0">
                <a:solidFill>
                  <a:srgbClr val="D4D4D4"/>
                </a:solidFill>
                <a:latin typeface="Consolas"/>
              </a:rPr>
              <a:t> cyc </a:t>
            </a:r>
            <a:r>
              <a:rPr sz="750" b="0" i="0">
                <a:solidFill>
                  <a:srgbClr val="569CD6"/>
                </a:solidFill>
                <a:latin typeface="Consolas"/>
              </a:rPr>
              <a:t>in</a:t>
            </a:r>
            <a:r>
              <a:rPr sz="750" b="0" i="0">
                <a:solidFill>
                  <a:srgbClr val="D4D4D4"/>
                </a:solidFill>
                <a:latin typeface="Consolas"/>
              </a:rPr>
              <a:t> subclass_cycles(base, now):</a:t>
            </a:r>
          </a:p>
          <a:p>
            <a:pPr algn="l">
              <a:spcAft>
                <a:spcPts val="0"/>
              </a:spcAft>
            </a:pPr>
            <a:r>
              <a:rPr sz="750" b="0" i="0">
                <a:solidFill>
                  <a:srgbClr val="858585"/>
                </a:solidFill>
                <a:latin typeface="Consolas"/>
              </a:rPr>
              <a:t> 208  </a:t>
            </a:r>
            <a:r>
              <a:rPr sz="750" b="0" i="0">
                <a:solidFill>
                  <a:srgbClr val="D4D4D4"/>
                </a:solidFill>
                <a:latin typeface="Consolas"/>
              </a:rPr>
              <a:t>        a, b = cyc</a:t>
            </a:r>
          </a:p>
          <a:p>
            <a:pPr algn="l">
              <a:spcAft>
                <a:spcPts val="0"/>
              </a:spcAft>
            </a:pPr>
            <a:r>
              <a:rPr sz="750" b="0" i="0">
                <a:solidFill>
                  <a:srgbClr val="858585"/>
                </a:solidFill>
                <a:latin typeface="Consolas"/>
              </a:rPr>
              <a:t> 209  </a:t>
            </a:r>
            <a:r>
              <a:rPr sz="750" b="0" i="0">
                <a:solidFill>
                  <a:srgbClr val="D4D4D4"/>
                </a:solidFill>
                <a:latin typeface="Consolas"/>
              </a:rPr>
              <a:t>        fb.append(</a:t>
            </a:r>
            <a:r>
              <a:rPr sz="750" b="0" i="0">
                <a:solidFill>
                  <a:srgbClr val="CE9178"/>
                </a:solidFill>
                <a:latin typeface="Consolas"/>
              </a:rPr>
              <a:t>f"CIRCULAR HIERARCHY: {local(a)} rdfs:subClassOf {local(b)…</a:t>
            </a:r>
          </a:p>
          <a:p>
            <a:pPr algn="l">
              <a:spcAft>
                <a:spcPts val="0"/>
              </a:spcAft>
            </a:pPr>
            <a:r>
              <a:rPr sz="750" b="0" i="0">
                <a:solidFill>
                  <a:srgbClr val="858585"/>
                </a:solidFill>
                <a:latin typeface="Consolas"/>
              </a:rPr>
              <a:t> 210  </a:t>
            </a:r>
            <a:r>
              <a:rPr sz="750" b="0" i="0">
                <a:solidFill>
                  <a:srgbClr val="D4D4D4"/>
                </a:solidFill>
                <a:latin typeface="Consolas"/>
              </a:rPr>
              <a:t>                  </a:t>
            </a:r>
            <a:r>
              <a:rPr sz="750" b="0" i="0">
                <a:solidFill>
                  <a:srgbClr val="CE9178"/>
                </a:solidFill>
                <a:latin typeface="Consolas"/>
              </a:rPr>
              <a:t>f"statement '{local(a)} rdfs:subClassOf {local(b)}' that y…</a:t>
            </a:r>
          </a:p>
          <a:p>
            <a:pPr algn="l">
              <a:spcAft>
                <a:spcPts val="0"/>
              </a:spcAft>
            </a:pPr>
            <a:r>
              <a:rPr sz="750" b="0" i="0">
                <a:solidFill>
                  <a:srgbClr val="858585"/>
                </a:solidFill>
                <a:latin typeface="Consolas"/>
              </a:rPr>
              <a:t> 211  </a:t>
            </a:r>
            <a:r>
              <a:rPr sz="750" b="0" i="0">
                <a:solidFill>
                  <a:srgbClr val="D4D4D4"/>
                </a:solidFill>
                <a:latin typeface="Consolas"/>
              </a:rPr>
              <a:t>    </a:t>
            </a:r>
            <a:r>
              <a:rPr sz="750" b="0" i="0">
                <a:solidFill>
                  <a:srgbClr val="569CD6"/>
                </a:solidFill>
                <a:latin typeface="Consolas"/>
              </a:rPr>
              <a:t>for</a:t>
            </a:r>
            <a:r>
              <a:rPr sz="750" b="0" i="0">
                <a:solidFill>
                  <a:srgbClr val="D4D4D4"/>
                </a:solidFill>
                <a:latin typeface="Consolas"/>
              </a:rPr>
              <a:t> s, p, v, kind </a:t>
            </a:r>
            <a:r>
              <a:rPr sz="750" b="0" i="0">
                <a:solidFill>
                  <a:srgbClr val="569CD6"/>
                </a:solidFill>
                <a:latin typeface="Consolas"/>
              </a:rPr>
              <a:t>in</a:t>
            </a:r>
            <a:r>
              <a:rPr sz="750" b="0" i="0">
                <a:solidFill>
                  <a:srgbClr val="D4D4D4"/>
                </a:solidFill>
                <a:latin typeface="Consolas"/>
              </a:rPr>
              <a:t> ungrounded_literals(base, now, page_text):</a:t>
            </a:r>
          </a:p>
          <a:p>
            <a:pPr algn="l">
              <a:spcAft>
                <a:spcPts val="0"/>
              </a:spcAft>
            </a:pPr>
            <a:r>
              <a:rPr sz="750" b="0" i="0">
                <a:solidFill>
                  <a:srgbClr val="858585"/>
                </a:solidFill>
                <a:latin typeface="Consolas"/>
              </a:rPr>
              <a:t> 212  </a:t>
            </a:r>
            <a:r>
              <a:rPr sz="750" b="0" i="0">
                <a:solidFill>
                  <a:srgbClr val="D4D4D4"/>
                </a:solidFill>
                <a:latin typeface="Consolas"/>
              </a:rPr>
              <a:t>        fb.append(</a:t>
            </a:r>
            <a:r>
              <a:rPr sz="750" b="0" i="0">
                <a:solidFill>
                  <a:srgbClr val="CE9178"/>
                </a:solidFill>
                <a:latin typeface="Consolas"/>
              </a:rPr>
              <a:t>f"UNSUPPORTED VALUE: {local(s)} {local(p)} \"{v[:80]}\" is…</a:t>
            </a:r>
          </a:p>
          <a:p>
            <a:pPr algn="l">
              <a:spcAft>
                <a:spcPts val="0"/>
              </a:spcAft>
            </a:pPr>
            <a:r>
              <a:rPr sz="750" b="0" i="0">
                <a:solidFill>
                  <a:srgbClr val="858585"/>
                </a:solidFill>
                <a:latin typeface="Consolas"/>
              </a:rPr>
              <a:t> 213  </a:t>
            </a:r>
            <a:r>
              <a:rPr sz="750" b="0" i="0">
                <a:solidFill>
                  <a:srgbClr val="D4D4D4"/>
                </a:solidFill>
                <a:latin typeface="Consolas"/>
              </a:rPr>
              <a:t>                  </a:t>
            </a:r>
            <a:r>
              <a:rPr sz="750" b="0" i="0">
                <a:solidFill>
                  <a:srgbClr val="CE9178"/>
                </a:solidFill>
                <a:latin typeface="Consolas"/>
              </a:rPr>
              <a:t>f"value the page text actually states (use grep_file for '…</a:t>
            </a:r>
          </a:p>
          <a:p>
            <a:pPr algn="l">
              <a:spcAft>
                <a:spcPts val="0"/>
              </a:spcAft>
            </a:pPr>
            <a:r>
              <a:rPr sz="750" b="0" i="0">
                <a:solidFill>
                  <a:srgbClr val="858585"/>
                </a:solidFill>
                <a:latin typeface="Consolas"/>
              </a:rPr>
              <a:t> 214  </a:t>
            </a:r>
            <a:r>
              <a:rPr sz="750" b="0" i="0">
                <a:solidFill>
                  <a:srgbClr val="D4D4D4"/>
                </a:solidFill>
                <a:latin typeface="Consolas"/>
              </a:rPr>
              <a:t>    </a:t>
            </a:r>
            <a:r>
              <a:rPr sz="750" b="0" i="0">
                <a:solidFill>
                  <a:srgbClr val="569CD6"/>
                </a:solidFill>
                <a:latin typeface="Consolas"/>
              </a:rPr>
              <a:t>for</a:t>
            </a:r>
            <a:r>
              <a:rPr sz="750" b="0" i="0">
                <a:solidFill>
                  <a:srgbClr val="D4D4D4"/>
                </a:solidFill>
                <a:latin typeface="Consolas"/>
              </a:rPr>
              <a:t> kind, new, old </a:t>
            </a:r>
            <a:r>
              <a:rPr sz="750" b="0" i="0">
                <a:solidFill>
                  <a:srgbClr val="569CD6"/>
                </a:solidFill>
                <a:latin typeface="Consolas"/>
              </a:rPr>
              <a:t>in</a:t>
            </a:r>
            <a:r>
              <a:rPr sz="750" b="0" i="0">
                <a:solidFill>
                  <a:srgbClr val="D4D4D4"/>
                </a:solidFill>
                <a:latin typeface="Consolas"/>
              </a:rPr>
              <a:t> duplicates(base, now):</a:t>
            </a:r>
          </a:p>
          <a:p>
            <a:pPr algn="l">
              <a:spcAft>
                <a:spcPts val="0"/>
              </a:spcAft>
            </a:pPr>
            <a:r>
              <a:rPr sz="750" b="0" i="0">
                <a:solidFill>
                  <a:srgbClr val="858585"/>
                </a:solidFill>
                <a:latin typeface="Consolas"/>
              </a:rPr>
              <a:t> 215  </a:t>
            </a:r>
            <a:r>
              <a:rPr sz="750" b="0" i="0">
                <a:solidFill>
                  <a:srgbClr val="D4D4D4"/>
                </a:solidFill>
                <a:latin typeface="Consolas"/>
              </a:rPr>
              <a:t>        fb.append(</a:t>
            </a:r>
            <a:r>
              <a:rPr sz="750" b="0" i="0">
                <a:solidFill>
                  <a:srgbClr val="CE9178"/>
                </a:solidFill>
                <a:latin typeface="Consolas"/>
              </a:rPr>
              <a:t>f"DUPLICATE {kind.upper()}: {local(new)} repeats the exist…</a:t>
            </a:r>
          </a:p>
          <a:p>
            <a:pPr algn="l">
              <a:spcAft>
                <a:spcPts val="0"/>
              </a:spcAft>
            </a:pPr>
            <a:r>
              <a:rPr sz="750" b="0" i="0">
                <a:solidFill>
                  <a:srgbClr val="858585"/>
                </a:solidFill>
                <a:latin typeface="Consolas"/>
              </a:rPr>
              <a:t> 216  </a:t>
            </a:r>
            <a:r>
              <a:rPr sz="750" b="0" i="0">
                <a:solidFill>
                  <a:srgbClr val="D4D4D4"/>
                </a:solidFill>
                <a:latin typeface="Consolas"/>
              </a:rPr>
              <a:t>                  </a:t>
            </a:r>
            <a:r>
              <a:rPr sz="750" b="0" i="0">
                <a:solidFill>
                  <a:srgbClr val="CE9178"/>
                </a:solidFill>
                <a:latin typeface="Consolas"/>
              </a:rPr>
              <a:t>f"everywhere instead (grep_file for '{local(new)}')."</a:t>
            </a:r>
            <a:r>
              <a:rPr sz="750" b="0" i="0">
                <a:solidFill>
                  <a:srgbClr val="D4D4D4"/>
                </a:solidFill>
                <a:latin typeface="Consolas"/>
              </a:rPr>
              <a:t>)</a:t>
            </a:r>
          </a:p>
          <a:p>
            <a:pPr algn="l">
              <a:spcAft>
                <a:spcPts val="0"/>
              </a:spcAft>
            </a:pPr>
            <a:r>
              <a:rPr sz="750" b="0" i="0">
                <a:solidFill>
                  <a:srgbClr val="858585"/>
                </a:solidFill>
                <a:latin typeface="Consolas"/>
              </a:rPr>
              <a:t> 217  </a:t>
            </a:r>
            <a:r>
              <a:rPr sz="750" b="0" i="0">
                <a:solidFill>
                  <a:srgbClr val="D4D4D4"/>
                </a:solidFill>
                <a:latin typeface="Consolas"/>
              </a:rPr>
              <a:t>    </a:t>
            </a:r>
            <a:r>
              <a:rPr sz="750" b="0" i="0">
                <a:solidFill>
                  <a:srgbClr val="569CD6"/>
                </a:solidFill>
                <a:latin typeface="Consolas"/>
              </a:rPr>
              <a:t>for</a:t>
            </a:r>
            <a:r>
              <a:rPr sz="750" b="0" i="0">
                <a:solidFill>
                  <a:srgbClr val="D4D4D4"/>
                </a:solidFill>
                <a:latin typeface="Consolas"/>
              </a:rPr>
              <a:t> s, p </a:t>
            </a:r>
            <a:r>
              <a:rPr sz="750" b="0" i="0">
                <a:solidFill>
                  <a:srgbClr val="569CD6"/>
                </a:solidFill>
                <a:latin typeface="Consolas"/>
              </a:rPr>
              <a:t>in</a:t>
            </a:r>
            <a:r>
              <a:rPr sz="750" b="0" i="0">
                <a:solidFill>
                  <a:srgbClr val="D4D4D4"/>
                </a:solidFill>
                <a:latin typeface="Consolas"/>
              </a:rPr>
              <a:t> reference_contamination(base, now, seed_individuals):</a:t>
            </a:r>
          </a:p>
          <a:p>
            <a:pPr algn="l">
              <a:spcAft>
                <a:spcPts val="0"/>
              </a:spcAft>
            </a:pPr>
            <a:r>
              <a:rPr sz="750" b="0" i="0">
                <a:solidFill>
                  <a:srgbClr val="858585"/>
                </a:solidFill>
                <a:latin typeface="Consolas"/>
              </a:rPr>
              <a:t> 218  </a:t>
            </a:r>
            <a:r>
              <a:rPr sz="750" b="0" i="0">
                <a:solidFill>
                  <a:srgbClr val="D4D4D4"/>
                </a:solidFill>
                <a:latin typeface="Consolas"/>
              </a:rPr>
              <a:t>        fb.append(</a:t>
            </a:r>
            <a:r>
              <a:rPr sz="750" b="0" i="0">
                <a:solidFill>
                  <a:srgbClr val="CE9178"/>
                </a:solidFill>
                <a:latin typeface="Consolas"/>
              </a:rPr>
              <a:t>f"REFERENCE INDIVIDUAL MODIFIED: {local(s)} is a reference…</a:t>
            </a:r>
          </a:p>
          <a:p>
            <a:pPr algn="l">
              <a:spcAft>
                <a:spcPts val="0"/>
              </a:spcAft>
            </a:pPr>
            <a:r>
              <a:rPr sz="750" b="0" i="0">
                <a:solidFill>
                  <a:srgbClr val="858585"/>
                </a:solidFill>
                <a:latin typeface="Consolas"/>
              </a:rPr>
              <a:t> 219  </a:t>
            </a:r>
            <a:r>
              <a:rPr sz="750" b="0" i="0">
                <a:solidFill>
                  <a:srgbClr val="D4D4D4"/>
                </a:solidFill>
                <a:latin typeface="Consolas"/>
              </a:rPr>
              <a:t>    </a:t>
            </a:r>
            <a:r>
              <a:rPr sz="750" b="0" i="0">
                <a:solidFill>
                  <a:srgbClr val="569CD6"/>
                </a:solidFill>
                <a:latin typeface="Consolas"/>
              </a:rPr>
              <a:t>for</a:t>
            </a:r>
            <a:r>
              <a:rPr sz="750" b="0" i="0">
                <a:solidFill>
                  <a:srgbClr val="D4D4D4"/>
                </a:solidFill>
                <a:latin typeface="Consolas"/>
              </a:rPr>
              <a:t> s </a:t>
            </a:r>
            <a:r>
              <a:rPr sz="750" b="0" i="0">
                <a:solidFill>
                  <a:srgbClr val="569CD6"/>
                </a:solidFill>
                <a:latin typeface="Consolas"/>
              </a:rPr>
              <a:t>in</a:t>
            </a:r>
            <a:r>
              <a:rPr sz="750" b="0" i="0">
                <a:solidFill>
                  <a:srgbClr val="D4D4D4"/>
                </a:solidFill>
                <a:latin typeface="Consolas"/>
              </a:rPr>
              <a:t> individuals_without_source(base, now):</a:t>
            </a:r>
          </a:p>
          <a:p>
            <a:pPr algn="l">
              <a:spcAft>
                <a:spcPts val="0"/>
              </a:spcAft>
            </a:pPr>
            <a:r>
              <a:rPr sz="750" b="0" i="0">
                <a:solidFill>
                  <a:srgbClr val="858585"/>
                </a:solidFill>
                <a:latin typeface="Consolas"/>
              </a:rPr>
              <a:t> 220  </a:t>
            </a:r>
            <a:r>
              <a:rPr sz="750" b="0" i="0">
                <a:solidFill>
                  <a:srgbClr val="D4D4D4"/>
                </a:solidFill>
                <a:latin typeface="Consolas"/>
              </a:rPr>
              <a:t>        fb.append(</a:t>
            </a:r>
            <a:r>
              <a:rPr sz="750" b="0" i="0">
                <a:solidFill>
                  <a:srgbClr val="CE9178"/>
                </a:solidFill>
                <a:latin typeface="Consolas"/>
              </a:rPr>
              <a:t>f"NO SOURCE: individual {local(s)} has values but no :sour…</a:t>
            </a:r>
          </a:p>
          <a:p>
            <a:pPr algn="l">
              <a:spcAft>
                <a:spcPts val="0"/>
              </a:spcAft>
            </a:pPr>
            <a:r>
              <a:rPr sz="750" b="0" i="0">
                <a:solidFill>
                  <a:srgbClr val="858585"/>
                </a:solidFill>
                <a:latin typeface="Consolas"/>
              </a:rPr>
              <a:t> 221  </a:t>
            </a:r>
            <a:r>
              <a:rPr sz="750" b="0" i="0">
                <a:solidFill>
                  <a:srgbClr val="D4D4D4"/>
                </a:solidFill>
                <a:latin typeface="Consolas"/>
              </a:rPr>
              <a:t>    </a:t>
            </a:r>
            <a:r>
              <a:rPr sz="750" b="0" i="0">
                <a:solidFill>
                  <a:srgbClr val="569CD6"/>
                </a:solidFill>
                <a:latin typeface="Consolas"/>
              </a:rPr>
              <a:t>for</a:t>
            </a:r>
            <a:r>
              <a:rPr sz="750" b="0" i="0">
                <a:solidFill>
                  <a:srgbClr val="D4D4D4"/>
                </a:solidFill>
                <a:latin typeface="Consolas"/>
              </a:rPr>
              <a:t> cq </a:t>
            </a:r>
            <a:r>
              <a:rPr sz="750" b="0" i="0">
                <a:solidFill>
                  <a:srgbClr val="569CD6"/>
                </a:solidFill>
                <a:latin typeface="Consolas"/>
              </a:rPr>
              <a:t>in</a:t>
            </a:r>
            <a:r>
              <a:rPr sz="750" b="0" i="0">
                <a:solidFill>
                  <a:srgbClr val="D4D4D4"/>
                </a:solidFill>
                <a:latin typeface="Consolas"/>
              </a:rPr>
              <a:t> uncovered_cqs(cqs, now):</a:t>
            </a:r>
          </a:p>
          <a:p>
            <a:pPr algn="l">
              <a:spcAft>
                <a:spcPts val="0"/>
              </a:spcAft>
            </a:pPr>
            <a:r>
              <a:rPr sz="750" b="0" i="0">
                <a:solidFill>
                  <a:srgbClr val="858585"/>
                </a:solidFill>
                <a:latin typeface="Consolas"/>
              </a:rPr>
              <a:t> 222  </a:t>
            </a:r>
            <a:r>
              <a:rPr sz="750" b="0" i="0">
                <a:solidFill>
                  <a:srgbClr val="D4D4D4"/>
                </a:solidFill>
                <a:latin typeface="Consolas"/>
              </a:rPr>
              <a:t>        fb.append(</a:t>
            </a:r>
            <a:r>
              <a:rPr sz="750" b="0" i="0">
                <a:solidFill>
                  <a:srgbClr val="CE9178"/>
                </a:solidFill>
                <a:latin typeface="Consolas"/>
              </a:rPr>
              <a:t>f"UNCOVERED QUESTION: \"{cq['competency_question'][:140]}\…</a:t>
            </a:r>
          </a:p>
          <a:p>
            <a:pPr algn="l">
              <a:spcAft>
                <a:spcPts val="0"/>
              </a:spcAft>
            </a:pPr>
            <a:r>
              <a:rPr sz="750" b="0" i="0">
                <a:solidFill>
                  <a:srgbClr val="858585"/>
                </a:solidFill>
                <a:latin typeface="Consolas"/>
              </a:rPr>
              <a:t> 223  </a:t>
            </a:r>
            <a:r>
              <a:rPr sz="750" b="0" i="0">
                <a:solidFill>
                  <a:srgbClr val="D4D4D4"/>
                </a:solidFill>
                <a:latin typeface="Consolas"/>
              </a:rPr>
              <a:t>                  </a:t>
            </a:r>
            <a:r>
              <a:rPr sz="750" b="0" i="0">
                <a:solidFill>
                  <a:srgbClr val="CE9178"/>
                </a:solidFill>
                <a:latin typeface="Consolas"/>
              </a:rPr>
              <a:t>f"ontology. If the page states it, add it as a fact with :…</a:t>
            </a:r>
          </a:p>
          <a:p>
            <a:pPr algn="l">
              <a:spcAft>
                <a:spcPts val="0"/>
              </a:spcAft>
            </a:pPr>
            <a:r>
              <a:rPr sz="750" b="0" i="0">
                <a:solidFill>
                  <a:srgbClr val="858585"/>
                </a:solidFill>
                <a:latin typeface="Consolas"/>
              </a:rPr>
              <a:t> 224  </a:t>
            </a:r>
            <a:r>
              <a:rPr sz="750" b="0" i="0">
                <a:solidFill>
                  <a:srgbClr val="D4D4D4"/>
                </a:solidFill>
                <a:latin typeface="Consolas"/>
              </a:rPr>
              <a:t>    </a:t>
            </a:r>
            <a:r>
              <a:rPr sz="750" b="0" i="0">
                <a:solidFill>
                  <a:srgbClr val="569CD6"/>
                </a:solidFill>
                <a:latin typeface="Consolas"/>
              </a:rPr>
              <a:t>return</a:t>
            </a:r>
            <a:r>
              <a:rPr sz="750" b="0" i="0">
                <a:solidFill>
                  <a:srgbClr val="D4D4D4"/>
                </a:solidFill>
                <a:latin typeface="Consolas"/>
              </a:rPr>
              <a:t> fb[:limit]</a:t>
            </a:r>
          </a:p>
        </p:txBody>
      </p:sp>
      <p:sp>
        <p:nvSpPr>
          <p:cNvPr id="15" name="Rounded Rectangle 14"/>
          <p:cNvSpPr/>
          <p:nvPr/>
        </p:nvSpPr>
        <p:spPr>
          <a:xfrm>
            <a:off x="4983480" y="2212848"/>
            <a:ext cx="3849624" cy="2697480"/>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tIns="54864" bIns="54864"/>
          <a:lstStyle/>
          <a:p>
            <a:pPr algn="l"/>
            <a:r>
              <a:rPr sz="750" b="1" i="0">
                <a:solidFill>
                  <a:srgbClr val="9CDCFE"/>
                </a:solidFill>
                <a:latin typeface="Consolas"/>
              </a:rPr>
              <a:t>the number check, then the last-resort clean-up</a:t>
            </a:r>
          </a:p>
          <a:p>
            <a:pPr algn="l">
              <a:spcAft>
                <a:spcPts val="0"/>
              </a:spcAft>
            </a:pPr>
            <a:r>
              <a:rPr sz="750" b="0" i="0">
                <a:solidFill>
                  <a:srgbClr val="858585"/>
                </a:solidFill>
                <a:latin typeface="Consolas"/>
              </a:rPr>
              <a:t>  68  </a:t>
            </a:r>
            <a:r>
              <a:rPr sz="750" b="0" i="0">
                <a:solidFill>
                  <a:srgbClr val="D4D4D4"/>
                </a:solidFill>
                <a:latin typeface="Consolas"/>
              </a:rPr>
              <a:t>nums = [float(x) </a:t>
            </a:r>
            <a:r>
              <a:rPr sz="750" b="0" i="0">
                <a:solidFill>
                  <a:srgbClr val="569CD6"/>
                </a:solidFill>
                <a:latin typeface="Consolas"/>
              </a:rPr>
              <a:t>for</a:t>
            </a:r>
            <a:r>
              <a:rPr sz="750" b="0" i="0">
                <a:solidFill>
                  <a:srgbClr val="D4D4D4"/>
                </a:solidFill>
                <a:latin typeface="Consolas"/>
              </a:rPr>
              <a:t> x </a:t>
            </a:r>
            <a:r>
              <a:rPr sz="750" b="0" i="0">
                <a:solidFill>
                  <a:srgbClr val="569CD6"/>
                </a:solidFill>
                <a:latin typeface="Consolas"/>
              </a:rPr>
              <a:t>in</a:t>
            </a:r>
            <a:r>
              <a:rPr sz="750" b="0" i="0">
                <a:solidFill>
                  <a:srgbClr val="D4D4D4"/>
                </a:solidFill>
                <a:latin typeface="Consolas"/>
              </a:rPr>
              <a:t> re.findall(</a:t>
            </a:r>
            <a:r>
              <a:rPr sz="750" b="0" i="0">
                <a:solidFill>
                  <a:srgbClr val="CE9178"/>
                </a:solidFill>
                <a:latin typeface="Consolas"/>
              </a:rPr>
              <a:t>r"\d+(?:\.\d+)?"</a:t>
            </a:r>
            <a:r>
              <a:rPr sz="750" b="0" i="0">
                <a:solidFill>
                  <a:srgbClr val="D4D4D4"/>
                </a:solidFill>
                <a:latin typeface="Consolas"/>
              </a:rPr>
              <a:t>, v.r…</a:t>
            </a:r>
          </a:p>
          <a:p>
            <a:pPr algn="l">
              <a:spcAft>
                <a:spcPts val="0"/>
              </a:spcAft>
            </a:pPr>
            <a:r>
              <a:rPr sz="750" b="0" i="0">
                <a:solidFill>
                  <a:srgbClr val="858585"/>
                </a:solidFill>
                <a:latin typeface="Consolas"/>
              </a:rPr>
              <a:t>  69  </a:t>
            </a:r>
            <a:r>
              <a:rPr sz="750" b="0" i="0">
                <a:solidFill>
                  <a:srgbClr val="569CD6"/>
                </a:solidFill>
                <a:latin typeface="Consolas"/>
              </a:rPr>
              <a:t>if</a:t>
            </a:r>
            <a:r>
              <a:rPr sz="750" b="0" i="0">
                <a:solidFill>
                  <a:srgbClr val="D4D4D4"/>
                </a:solidFill>
                <a:latin typeface="Consolas"/>
              </a:rPr>
              <a:t> nums:</a:t>
            </a:r>
          </a:p>
          <a:p>
            <a:pPr algn="l">
              <a:spcAft>
                <a:spcPts val="0"/>
              </a:spcAft>
            </a:pPr>
            <a:r>
              <a:rPr sz="750" b="0" i="0">
                <a:solidFill>
                  <a:srgbClr val="858585"/>
                </a:solidFill>
                <a:latin typeface="Consolas"/>
              </a:rPr>
              <a:t>  70  </a:t>
            </a:r>
            <a:r>
              <a:rPr sz="750" b="0" i="0">
                <a:solidFill>
                  <a:srgbClr val="D4D4D4"/>
                </a:solidFill>
                <a:latin typeface="Consolas"/>
              </a:rPr>
              <a:t>    </a:t>
            </a:r>
            <a:r>
              <a:rPr sz="750" b="0" i="0">
                <a:solidFill>
                  <a:srgbClr val="569CD6"/>
                </a:solidFill>
                <a:latin typeface="Consolas"/>
              </a:rPr>
              <a:t>return</a:t>
            </a:r>
            <a:r>
              <a:rPr sz="750" b="0" i="0">
                <a:solidFill>
                  <a:srgbClr val="D4D4D4"/>
                </a:solidFill>
                <a:latin typeface="Consolas"/>
              </a:rPr>
              <a:t> all(n </a:t>
            </a:r>
            <a:r>
              <a:rPr sz="750" b="0" i="0">
                <a:solidFill>
                  <a:srgbClr val="569CD6"/>
                </a:solidFill>
                <a:latin typeface="Consolas"/>
              </a:rPr>
              <a:t>in</a:t>
            </a:r>
            <a:r>
              <a:rPr sz="750" b="0" i="0">
                <a:solidFill>
                  <a:srgbClr val="D4D4D4"/>
                </a:solidFill>
                <a:latin typeface="Consolas"/>
              </a:rPr>
              <a:t> page.nums </a:t>
            </a:r>
            <a:r>
              <a:rPr sz="750" b="0" i="0">
                <a:solidFill>
                  <a:srgbClr val="569CD6"/>
                </a:solidFill>
                <a:latin typeface="Consolas"/>
              </a:rPr>
              <a:t>for</a:t>
            </a:r>
            <a:r>
              <a:rPr sz="750" b="0" i="0">
                <a:solidFill>
                  <a:srgbClr val="D4D4D4"/>
                </a:solidFill>
                <a:latin typeface="Consolas"/>
              </a:rPr>
              <a:t> n </a:t>
            </a:r>
            <a:r>
              <a:rPr sz="750" b="0" i="0">
                <a:solidFill>
                  <a:srgbClr val="569CD6"/>
                </a:solidFill>
                <a:latin typeface="Consolas"/>
              </a:rPr>
              <a:t>in</a:t>
            </a:r>
            <a:r>
              <a:rPr sz="750" b="0" i="0">
                <a:solidFill>
                  <a:srgbClr val="D4D4D4"/>
                </a:solidFill>
                <a:latin typeface="Consolas"/>
              </a:rPr>
              <a:t> nums)</a:t>
            </a:r>
          </a:p>
          <a:p>
            <a:pPr algn="l">
              <a:spcAft>
                <a:spcPts val="0"/>
              </a:spcAft>
            </a:pPr>
            <a:r>
              <a:rPr sz="750" b="0" i="0">
                <a:solidFill>
                  <a:srgbClr val="858585"/>
                </a:solidFill>
                <a:latin typeface="Consolas"/>
              </a:rPr>
              <a:t>  71  </a:t>
            </a:r>
            <a:r>
              <a:rPr sz="750" b="0" i="0">
                <a:solidFill>
                  <a:srgbClr val="569CD6"/>
                </a:solidFill>
                <a:latin typeface="Consolas"/>
              </a:rPr>
              <a:t>return</a:t>
            </a:r>
            <a:r>
              <a:rPr sz="750" b="0" i="0">
                <a:solidFill>
                  <a:srgbClr val="D4D4D4"/>
                </a:solidFill>
                <a:latin typeface="Consolas"/>
              </a:rPr>
              <a:t> </a:t>
            </a:r>
            <a:r>
              <a:rPr sz="750" b="0" i="0">
                <a:solidFill>
                  <a:srgbClr val="569CD6"/>
                </a:solidFill>
                <a:latin typeface="Consolas"/>
              </a:rPr>
              <a:t>None</a:t>
            </a:r>
          </a:p>
          <a:p>
            <a:pPr algn="l">
              <a:spcAft>
                <a:spcPts val="0"/>
              </a:spcAft>
            </a:pPr>
            <a:r>
              <a:rPr sz="750" b="0" i="0">
                <a:solidFill>
                  <a:srgbClr val="858585"/>
                </a:solidFill>
                <a:latin typeface="Consolas"/>
              </a:rPr>
              <a:t>      </a:t>
            </a:r>
          </a:p>
          <a:p>
            <a:pPr algn="l">
              <a:spcAft>
                <a:spcPts val="0"/>
              </a:spcAft>
            </a:pPr>
            <a:r>
              <a:rPr sz="750" b="0" i="0">
                <a:solidFill>
                  <a:srgbClr val="858585"/>
                </a:solidFill>
                <a:latin typeface="Consolas"/>
              </a:rPr>
              <a:t>1159  </a:t>
            </a:r>
            <a:r>
              <a:rPr sz="750" b="0" i="0">
                <a:solidFill>
                  <a:srgbClr val="569CD6"/>
                </a:solidFill>
                <a:latin typeface="Consolas"/>
              </a:rPr>
              <a:t>if</a:t>
            </a:r>
            <a:r>
              <a:rPr sz="750" b="0" i="0">
                <a:solidFill>
                  <a:srgbClr val="D4D4D4"/>
                </a:solidFill>
                <a:latin typeface="Consolas"/>
              </a:rPr>
              <a:t> PIPELINE_MODE == </a:t>
            </a:r>
            <a:r>
              <a:rPr sz="750" b="0" i="0">
                <a:solidFill>
                  <a:srgbClr val="CE9178"/>
                </a:solidFill>
                <a:latin typeface="Consolas"/>
              </a:rPr>
              <a:t>"lite"</a:t>
            </a:r>
            <a:r>
              <a:rPr sz="750" b="0" i="0">
                <a:solidFill>
                  <a:srgbClr val="D4D4D4"/>
                </a:solidFill>
                <a:latin typeface="Consolas"/>
              </a:rPr>
              <a:t> </a:t>
            </a:r>
            <a:r>
              <a:rPr sz="750" b="0" i="0">
                <a:solidFill>
                  <a:srgbClr val="569CD6"/>
                </a:solidFill>
                <a:latin typeface="Consolas"/>
              </a:rPr>
              <a:t>and</a:t>
            </a:r>
            <a:r>
              <a:rPr sz="750" b="0" i="0">
                <a:solidFill>
                  <a:srgbClr val="D4D4D4"/>
                </a:solidFill>
                <a:latin typeface="Consolas"/>
              </a:rPr>
              <a:t> PAGE_BASE </a:t>
            </a:r>
            <a:r>
              <a:rPr sz="750" b="0" i="0">
                <a:solidFill>
                  <a:srgbClr val="569CD6"/>
                </a:solidFill>
                <a:latin typeface="Consolas"/>
              </a:rPr>
              <a:t>is</a:t>
            </a:r>
            <a:r>
              <a:rPr sz="750" b="0" i="0">
                <a:solidFill>
                  <a:srgbClr val="D4D4D4"/>
                </a:solidFill>
                <a:latin typeface="Consolas"/>
              </a:rPr>
              <a:t> </a:t>
            </a:r>
            <a:r>
              <a:rPr sz="750" b="0" i="0">
                <a:solidFill>
                  <a:srgbClr val="569CD6"/>
                </a:solidFill>
                <a:latin typeface="Consolas"/>
              </a:rPr>
              <a:t>not</a:t>
            </a:r>
            <a:r>
              <a:rPr sz="750" b="0" i="0">
                <a:solidFill>
                  <a:srgbClr val="D4D4D4"/>
                </a:solidFill>
                <a:latin typeface="Consolas"/>
              </a:rPr>
              <a:t> No…</a:t>
            </a:r>
          </a:p>
          <a:p>
            <a:pPr algn="l">
              <a:spcAft>
                <a:spcPts val="0"/>
              </a:spcAft>
            </a:pPr>
            <a:r>
              <a:rPr sz="750" b="0" i="0">
                <a:solidFill>
                  <a:srgbClr val="858585"/>
                </a:solidFill>
                <a:latin typeface="Consolas"/>
              </a:rPr>
              <a:t>1160  </a:t>
            </a:r>
            <a:r>
              <a:rPr sz="750" b="0" i="0">
                <a:solidFill>
                  <a:srgbClr val="D4D4D4"/>
                </a:solidFill>
                <a:latin typeface="Consolas"/>
              </a:rPr>
              <a:t>    </a:t>
            </a:r>
            <a:r>
              <a:rPr sz="750" b="0" i="0">
                <a:solidFill>
                  <a:srgbClr val="569CD6"/>
                </a:solidFill>
                <a:latin typeface="Consolas"/>
              </a:rPr>
              <a:t>try</a:t>
            </a:r>
            <a:r>
              <a:rPr sz="750" b="0" i="0">
                <a:solidFill>
                  <a:srgbClr val="D4D4D4"/>
                </a:solidFill>
                <a:latin typeface="Consolas"/>
              </a:rPr>
              <a:t>:</a:t>
            </a:r>
          </a:p>
          <a:p>
            <a:pPr algn="l">
              <a:spcAft>
                <a:spcPts val="0"/>
              </a:spcAft>
            </a:pPr>
            <a:r>
              <a:rPr sz="750" b="0" i="0">
                <a:solidFill>
                  <a:srgbClr val="858585"/>
                </a:solidFill>
                <a:latin typeface="Consolas"/>
              </a:rPr>
              <a:t>1161  </a:t>
            </a:r>
            <a:r>
              <a:rPr sz="750" b="0" i="0">
                <a:solidFill>
                  <a:srgbClr val="D4D4D4"/>
                </a:solidFill>
                <a:latin typeface="Consolas"/>
              </a:rPr>
              <a:t>        removed = grounding.strip_ungrounded(ontol…</a:t>
            </a:r>
          </a:p>
          <a:p>
            <a:pPr algn="l">
              <a:spcAft>
                <a:spcPts val="0"/>
              </a:spcAft>
            </a:pPr>
            <a:r>
              <a:rPr sz="750" b="0" i="0">
                <a:solidFill>
                  <a:srgbClr val="858585"/>
                </a:solidFill>
                <a:latin typeface="Consolas"/>
              </a:rPr>
              <a:t>1162  </a:t>
            </a:r>
            <a:r>
              <a:rPr sz="750" b="0" i="0">
                <a:solidFill>
                  <a:srgbClr val="D4D4D4"/>
                </a:solidFill>
                <a:latin typeface="Consolas"/>
              </a:rPr>
              <a:t>        </a:t>
            </a:r>
            <a:r>
              <a:rPr sz="750" b="0" i="0">
                <a:solidFill>
                  <a:srgbClr val="569CD6"/>
                </a:solidFill>
                <a:latin typeface="Consolas"/>
              </a:rPr>
              <a:t>if</a:t>
            </a:r>
            <a:r>
              <a:rPr sz="750" b="0" i="0">
                <a:solidFill>
                  <a:srgbClr val="D4D4D4"/>
                </a:solidFill>
                <a:latin typeface="Consolas"/>
              </a:rPr>
              <a:t> removed:</a:t>
            </a:r>
          </a:p>
          <a:p>
            <a:pPr algn="l">
              <a:spcAft>
                <a:spcPts val="0"/>
              </a:spcAft>
            </a:pPr>
            <a:r>
              <a:rPr sz="750" b="0" i="0">
                <a:solidFill>
                  <a:srgbClr val="858585"/>
                </a:solidFill>
                <a:latin typeface="Consolas"/>
              </a:rPr>
              <a:t>1163  </a:t>
            </a:r>
            <a:r>
              <a:rPr sz="750" b="0" i="0">
                <a:solidFill>
                  <a:srgbClr val="D4D4D4"/>
                </a:solidFill>
                <a:latin typeface="Consolas"/>
              </a:rPr>
              <a:t>            print(</a:t>
            </a:r>
            <a:r>
              <a:rPr sz="750" b="0" i="0">
                <a:solidFill>
                  <a:srgbClr val="CE9178"/>
                </a:solidFill>
                <a:latin typeface="Consolas"/>
              </a:rPr>
              <a:t>f"[stripped] page={page_number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Exactly which documents and pages</a:t>
            </a:r>
          </a:p>
        </p:txBody>
      </p:sp>
      <p:graphicFrame>
        <p:nvGraphicFramePr>
          <p:cNvPr id="3" name="Table 2"/>
          <p:cNvGraphicFramePr>
            <a:graphicFrameLocks noGrp="1"/>
          </p:cNvGraphicFramePr>
          <p:nvPr/>
        </p:nvGraphicFramePr>
        <p:xfrm>
          <a:off x="310896" y="914400"/>
          <a:ext cx="8522208" cy="2834640"/>
        </p:xfrm>
        <a:graphic>
          <a:graphicData uri="http://schemas.openxmlformats.org/drawingml/2006/table">
            <a:tbl>
              <a:tblPr firstRow="0" bandRow="0">
                <a:tableStyleId>{2D5ABB26-0587-4C30-8999-92F81FD0307C}</a:tableStyleId>
              </a:tblPr>
              <a:tblGrid>
                <a:gridCol w="2011680"/>
                <a:gridCol w="548640"/>
                <a:gridCol w="2743200"/>
                <a:gridCol w="3218688"/>
              </a:tblGrid>
              <a:tr h="566928">
                <a:tc>
                  <a:txBody>
                    <a:bodyPr wrap="square"/>
                    <a:lstStyle/>
                    <a:p>
                      <a:pPr algn="l"/>
                      <a:r>
                        <a:rPr sz="950" b="1" i="0">
                          <a:solidFill>
                            <a:srgbClr val="FFFFFF"/>
                          </a:solidFill>
                          <a:latin typeface="Arial"/>
                        </a:rPr>
                        <a:t>Document (nbn Ethernet …)</a:t>
                      </a:r>
                    </a:p>
                  </a:txBody>
                  <a:tcPr marL="54864" marR="54864" marT="27432" marB="27432" anchor="ctr">
                    <a:solidFill>
                      <a:srgbClr val="058DC7"/>
                    </a:solidFill>
                  </a:tcPr>
                </a:tc>
                <a:tc>
                  <a:txBody>
                    <a:bodyPr wrap="square"/>
                    <a:lstStyle/>
                    <a:p>
                      <a:pPr algn="l"/>
                      <a:r>
                        <a:rPr sz="950" b="1" i="0">
                          <a:solidFill>
                            <a:srgbClr val="FFFFFF"/>
                          </a:solidFill>
                          <a:latin typeface="Arial"/>
                        </a:rPr>
                        <a:t>Pages</a:t>
                      </a:r>
                    </a:p>
                  </a:txBody>
                  <a:tcPr marL="54864" marR="54864" marT="27432" marB="27432" anchor="ctr">
                    <a:solidFill>
                      <a:srgbClr val="058DC7"/>
                    </a:solidFill>
                  </a:tcPr>
                </a:tc>
                <a:tc>
                  <a:txBody>
                    <a:bodyPr wrap="square"/>
                    <a:lstStyle/>
                    <a:p>
                      <a:pPr algn="l"/>
                      <a:r>
                        <a:rPr sz="950" b="1" i="0">
                          <a:solidFill>
                            <a:srgbClr val="FFFFFF"/>
                          </a:solidFill>
                          <a:latin typeface="Arial"/>
                        </a:rPr>
                        <a:t>In the ontology (PDF page numbers)</a:t>
                      </a:r>
                    </a:p>
                  </a:txBody>
                  <a:tcPr marL="54864" marR="54864" marT="27432" marB="27432" anchor="ctr">
                    <a:solidFill>
                      <a:srgbClr val="058DC7"/>
                    </a:solidFill>
                  </a:tcPr>
                </a:tc>
                <a:tc>
                  <a:txBody>
                    <a:bodyPr wrap="square"/>
                    <a:lstStyle/>
                    <a:p>
                      <a:pPr algn="l"/>
                      <a:r>
                        <a:rPr sz="950" b="1" i="0">
                          <a:solidFill>
                            <a:srgbClr val="FFFFFF"/>
                          </a:solidFill>
                          <a:latin typeface="Arial"/>
                        </a:rPr>
                        <a:t>Not in, and why</a:t>
                      </a:r>
                    </a:p>
                  </a:txBody>
                  <a:tcPr marL="54864" marR="54864" marT="27432" marB="27432" anchor="ctr">
                    <a:solidFill>
                      <a:srgbClr val="058DC7"/>
                    </a:solidFill>
                  </a:tcPr>
                </a:tc>
              </a:tr>
              <a:tr h="566928">
                <a:tc>
                  <a:txBody>
                    <a:bodyPr wrap="square"/>
                    <a:lstStyle/>
                    <a:p>
                      <a:pPr algn="l"/>
                      <a:r>
                        <a:rPr sz="950" b="1" i="0">
                          <a:solidFill>
                            <a:srgbClr val="222222"/>
                          </a:solidFill>
                          <a:latin typeface="Arial"/>
                        </a:rPr>
                        <a:t>Product Technical Specification</a:t>
                      </a:r>
                    </a:p>
                  </a:txBody>
                  <a:tcPr marL="54864" marR="54864" marT="27432" marB="27432" anchor="ctr">
                    <a:solidFill>
                      <a:srgbClr val="FFFFFF"/>
                    </a:solidFill>
                  </a:tcPr>
                </a:tc>
                <a:tc>
                  <a:txBody>
                    <a:bodyPr wrap="square"/>
                    <a:lstStyle/>
                    <a:p>
                      <a:pPr algn="l"/>
                      <a:r>
                        <a:rPr sz="950" b="0" i="0">
                          <a:solidFill>
                            <a:srgbClr val="222222"/>
                          </a:solidFill>
                          <a:latin typeface="Arial"/>
                        </a:rPr>
                        <a:t>84</a:t>
                      </a:r>
                    </a:p>
                  </a:txBody>
                  <a:tcPr marL="54864" marR="54864" marT="27432" marB="27432" anchor="ctr">
                    <a:solidFill>
                      <a:srgbClr val="FFFFFF"/>
                    </a:solidFill>
                  </a:tcPr>
                </a:tc>
                <a:tc>
                  <a:txBody>
                    <a:bodyPr wrap="square"/>
                    <a:lstStyle/>
                    <a:p>
                      <a:pPr algn="l"/>
                      <a:r>
                        <a:rPr sz="950" b="0" i="0">
                          <a:solidFill>
                            <a:srgbClr val="222222"/>
                          </a:solidFill>
                          <a:latin typeface="Arial"/>
                        </a:rPr>
                        <a:t>5–6, 10, 24–31, 33, 38–40, 42–44, 50, 52, 64, 79</a:t>
                      </a:r>
                    </a:p>
                  </a:txBody>
                  <a:tcPr marL="54864" marR="54864" marT="27432" marB="27432" anchor="ctr">
                    <a:solidFill>
                      <a:srgbClr val="FFFFFF"/>
                    </a:solidFill>
                  </a:tcPr>
                </a:tc>
                <a:tc>
                  <a:txBody>
                    <a:bodyPr wrap="square"/>
                    <a:lstStyle/>
                    <a:p>
                      <a:pPr algn="l"/>
                      <a:r>
                        <a:rPr sz="950" b="0" i="0">
                          <a:solidFill>
                            <a:srgbClr val="222222"/>
                          </a:solidFill>
                          <a:latin typeface="Arial"/>
                        </a:rPr>
                        <a:t>32, 41, 51: failed (file error / repair rounds used up)</a:t>
                      </a:r>
                    </a:p>
                  </a:txBody>
                  <a:tcPr marL="54864" marR="54864" marT="27432" marB="27432" anchor="ctr">
                    <a:solidFill>
                      <a:srgbClr val="FFFFFF"/>
                    </a:solidFill>
                  </a:tcPr>
                </a:tc>
              </a:tr>
              <a:tr h="566928">
                <a:tc>
                  <a:txBody>
                    <a:bodyPr wrap="square"/>
                    <a:lstStyle/>
                    <a:p>
                      <a:pPr algn="l"/>
                      <a:r>
                        <a:rPr sz="950" b="1" i="0">
                          <a:solidFill>
                            <a:srgbClr val="222222"/>
                          </a:solidFill>
                          <a:latin typeface="Arial"/>
                        </a:rPr>
                        <a:t>Product Description</a:t>
                      </a:r>
                    </a:p>
                  </a:txBody>
                  <a:tcPr marL="54864" marR="54864" marT="27432" marB="27432" anchor="ctr">
                    <a:solidFill>
                      <a:srgbClr val="F3F3F3"/>
                    </a:solidFill>
                  </a:tcPr>
                </a:tc>
                <a:tc>
                  <a:txBody>
                    <a:bodyPr wrap="square"/>
                    <a:lstStyle/>
                    <a:p>
                      <a:pPr algn="l"/>
                      <a:r>
                        <a:rPr sz="950" b="0" i="0">
                          <a:solidFill>
                            <a:srgbClr val="222222"/>
                          </a:solidFill>
                          <a:latin typeface="Arial"/>
                        </a:rPr>
                        <a:t>32</a:t>
                      </a:r>
                    </a:p>
                  </a:txBody>
                  <a:tcPr marL="54864" marR="54864" marT="27432" marB="27432" anchor="ctr">
                    <a:solidFill>
                      <a:srgbClr val="F3F3F3"/>
                    </a:solidFill>
                  </a:tcPr>
                </a:tc>
                <a:tc>
                  <a:txBody>
                    <a:bodyPr wrap="square"/>
                    <a:lstStyle/>
                    <a:p>
                      <a:pPr algn="l"/>
                      <a:r>
                        <a:rPr sz="950" b="0" i="0">
                          <a:solidFill>
                            <a:srgbClr val="222222"/>
                          </a:solidFill>
                          <a:latin typeface="Arial"/>
                        </a:rPr>
                        <a:t>6–8, 10, 13, 15, 18–19, 21, 26</a:t>
                      </a:r>
                    </a:p>
                  </a:txBody>
                  <a:tcPr marL="54864" marR="54864" marT="27432" marB="27432" anchor="ctr">
                    <a:solidFill>
                      <a:srgbClr val="F3F3F3"/>
                    </a:solidFill>
                  </a:tcPr>
                </a:tc>
                <a:tc>
                  <a:txBody>
                    <a:bodyPr wrap="square"/>
                    <a:lstStyle/>
                    <a:p>
                      <a:pPr algn="l"/>
                      <a:r>
                        <a:rPr sz="950" b="0" i="0">
                          <a:solidFill>
                            <a:srgbClr val="222222"/>
                          </a:solidFill>
                          <a:latin typeface="Arial"/>
                        </a:rPr>
                        <a:t>9: ran, added nothing</a:t>
                      </a:r>
                    </a:p>
                  </a:txBody>
                  <a:tcPr marL="54864" marR="54864" marT="27432" marB="27432" anchor="ctr">
                    <a:solidFill>
                      <a:srgbClr val="F3F3F3"/>
                    </a:solidFill>
                  </a:tcPr>
                </a:tc>
              </a:tr>
              <a:tr h="566928">
                <a:tc>
                  <a:txBody>
                    <a:bodyPr wrap="square"/>
                    <a:lstStyle/>
                    <a:p>
                      <a:pPr algn="l"/>
                      <a:r>
                        <a:rPr sz="950" b="1" i="0">
                          <a:solidFill>
                            <a:srgbClr val="222222"/>
                          </a:solidFill>
                          <a:latin typeface="Arial"/>
                        </a:rPr>
                        <a:t>Price List</a:t>
                      </a:r>
                    </a:p>
                  </a:txBody>
                  <a:tcPr marL="54864" marR="54864" marT="27432" marB="27432" anchor="ctr">
                    <a:solidFill>
                      <a:srgbClr val="FFFFFF"/>
                    </a:solidFill>
                  </a:tcPr>
                </a:tc>
                <a:tc>
                  <a:txBody>
                    <a:bodyPr wrap="square"/>
                    <a:lstStyle/>
                    <a:p>
                      <a:pPr algn="l"/>
                      <a:r>
                        <a:rPr sz="950" b="0" i="0">
                          <a:solidFill>
                            <a:srgbClr val="222222"/>
                          </a:solidFill>
                          <a:latin typeface="Arial"/>
                        </a:rPr>
                        <a:t>22</a:t>
                      </a:r>
                    </a:p>
                  </a:txBody>
                  <a:tcPr marL="54864" marR="54864" marT="27432" marB="27432" anchor="ctr">
                    <a:solidFill>
                      <a:srgbClr val="FFFFFF"/>
                    </a:solidFill>
                  </a:tcPr>
                </a:tc>
                <a:tc>
                  <a:txBody>
                    <a:bodyPr wrap="square"/>
                    <a:lstStyle/>
                    <a:p>
                      <a:pPr algn="l"/>
                      <a:r>
                        <a:rPr sz="950" b="0" i="0">
                          <a:solidFill>
                            <a:srgbClr val="222222"/>
                          </a:solidFill>
                          <a:latin typeface="Arial"/>
                        </a:rPr>
                        <a:t>5–7, 9–11, 18–20</a:t>
                      </a:r>
                    </a:p>
                  </a:txBody>
                  <a:tcPr marL="54864" marR="54864" marT="27432" marB="27432" anchor="ctr">
                    <a:solidFill>
                      <a:srgbClr val="FFFFFF"/>
                    </a:solidFill>
                  </a:tcPr>
                </a:tc>
                <a:tc>
                  <a:txBody>
                    <a:bodyPr wrap="square"/>
                    <a:lstStyle/>
                    <a:p>
                      <a:pPr algn="l"/>
                      <a:r>
                        <a:rPr sz="950" b="0" i="0">
                          <a:solidFill>
                            <a:srgbClr val="222222"/>
                          </a:solidFill>
                          <a:latin typeface="Arial"/>
                        </a:rPr>
                        <a:t>8: failed (file error)</a:t>
                      </a:r>
                    </a:p>
                  </a:txBody>
                  <a:tcPr marL="54864" marR="54864" marT="27432" marB="27432" anchor="ctr">
                    <a:solidFill>
                      <a:srgbClr val="FFFFFF"/>
                    </a:solidFill>
                  </a:tcPr>
                </a:tc>
              </a:tr>
              <a:tr h="566928">
                <a:tc>
                  <a:txBody>
                    <a:bodyPr wrap="square"/>
                    <a:lstStyle/>
                    <a:p>
                      <a:pPr algn="l"/>
                      <a:r>
                        <a:rPr sz="950" b="1" i="0">
                          <a:solidFill>
                            <a:srgbClr val="222222"/>
                          </a:solidFill>
                          <a:latin typeface="Arial"/>
                        </a:rPr>
                        <a:t>Service Levels Schedule</a:t>
                      </a:r>
                    </a:p>
                  </a:txBody>
                  <a:tcPr marL="54864" marR="54864" marT="27432" marB="27432" anchor="ctr">
                    <a:solidFill>
                      <a:srgbClr val="F3F3F3"/>
                    </a:solidFill>
                  </a:tcPr>
                </a:tc>
                <a:tc>
                  <a:txBody>
                    <a:bodyPr wrap="square"/>
                    <a:lstStyle/>
                    <a:p>
                      <a:pPr algn="l"/>
                      <a:r>
                        <a:rPr sz="950" b="0" i="0">
                          <a:solidFill>
                            <a:srgbClr val="222222"/>
                          </a:solidFill>
                          <a:latin typeface="Arial"/>
                        </a:rPr>
                        <a:t>50</a:t>
                      </a:r>
                    </a:p>
                  </a:txBody>
                  <a:tcPr marL="54864" marR="54864" marT="27432" marB="27432" anchor="ctr">
                    <a:solidFill>
                      <a:srgbClr val="F3F3F3"/>
                    </a:solidFill>
                  </a:tcPr>
                </a:tc>
                <a:tc>
                  <a:txBody>
                    <a:bodyPr wrap="square"/>
                    <a:lstStyle/>
                    <a:p>
                      <a:pPr algn="l"/>
                      <a:r>
                        <a:rPr sz="950" b="0" i="0">
                          <a:solidFill>
                            <a:srgbClr val="222222"/>
                          </a:solidFill>
                          <a:latin typeface="Arial"/>
                        </a:rPr>
                        <a:t>13, 15, 33–35</a:t>
                      </a:r>
                    </a:p>
                  </a:txBody>
                  <a:tcPr marL="54864" marR="54864" marT="27432" marB="27432" anchor="ctr">
                    <a:solidFill>
                      <a:srgbClr val="F3F3F3"/>
                    </a:solidFill>
                  </a:tcPr>
                </a:tc>
                <a:tc>
                  <a:txBody>
                    <a:bodyPr wrap="square"/>
                    <a:lstStyle/>
                    <a:p>
                      <a:pPr algn="l"/>
                      <a:r>
                        <a:rPr sz="950" b="0" i="0">
                          <a:solidFill>
                            <a:srgbClr val="222222"/>
                          </a:solidFill>
                          <a:latin typeface="Arial"/>
                        </a:rPr>
                        <a:t>–</a:t>
                      </a:r>
                    </a:p>
                  </a:txBody>
                  <a:tcPr marL="54864" marR="54864" marT="27432" marB="27432" anchor="ctr">
                    <a:solidFill>
                      <a:srgbClr val="F3F3F3"/>
                    </a:solidFill>
                  </a:tcPr>
                </a:tc>
              </a:tr>
            </a:tbl>
          </a:graphicData>
        </a:graphic>
      </p:graphicFrame>
      <p:sp>
        <p:nvSpPr>
          <p:cNvPr id="4" name="Rounded Rectangle 3"/>
          <p:cNvSpPr/>
          <p:nvPr/>
        </p:nvSpPr>
        <p:spPr>
          <a:xfrm>
            <a:off x="310896" y="3886200"/>
            <a:ext cx="8522208" cy="100584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65836" bIns="65836"/>
          <a:lstStyle/>
          <a:p>
            <a:pPr algn="l">
              <a:spcAft>
                <a:spcPts val="300"/>
              </a:spcAft>
            </a:pPr>
            <a:r>
              <a:rPr sz="1050" b="1" i="0">
                <a:solidFill>
                  <a:srgbClr val="222222"/>
                </a:solidFill>
                <a:latin typeface="Arial"/>
              </a:rPr>
              <a:t>How the pages were chosen: </a:t>
            </a:r>
            <a:r>
              <a:rPr sz="1050" b="0" i="0">
                <a:solidFill>
                  <a:srgbClr val="222222"/>
                </a:solidFill>
                <a:latin typeface="Arial"/>
              </a:rPr>
              <a:t>each page is scored by how often it mentions the reference concepts (NNI Group, Bearer Limit, CVC, AVC, Product Component, TC-1/2/4, Network Availability, frame delay…). Score ≥ 25 → important. That gave 51 pages out of 188 in these 4 documents; 50 other PDFs (letters, annexures, other products) are not used.</a:t>
            </a:r>
          </a:p>
          <a:p>
            <a:pPr algn="l">
              <a:spcAft>
                <a:spcPts val="300"/>
              </a:spcAft>
            </a:pPr>
            <a:r>
              <a:rPr sz="1050" b="1" i="0">
                <a:solidFill>
                  <a:srgbClr val="222222"/>
                </a:solidFill>
                <a:latin typeface="Arial"/>
              </a:rPr>
              <a:t>Fair Use Policy </a:t>
            </a:r>
            <a:r>
              <a:rPr sz="1050" b="0" i="0">
                <a:solidFill>
                  <a:srgbClr val="222222"/>
                </a:solidFill>
                <a:latin typeface="Arial"/>
              </a:rPr>
              <a:t>(8 pages) was only used for a first test; it is not in this ontology.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Quality and competency questions (CQs) per document</a:t>
            </a:r>
          </a:p>
        </p:txBody>
      </p:sp>
      <p:graphicFrame>
        <p:nvGraphicFramePr>
          <p:cNvPr id="3" name="Table 2"/>
          <p:cNvGraphicFramePr>
            <a:graphicFrameLocks noGrp="1"/>
          </p:cNvGraphicFramePr>
          <p:nvPr/>
        </p:nvGraphicFramePr>
        <p:xfrm>
          <a:off x="310896" y="868680"/>
          <a:ext cx="8522208" cy="2011680"/>
        </p:xfrm>
        <a:graphic>
          <a:graphicData uri="http://schemas.openxmlformats.org/drawingml/2006/table">
            <a:tbl>
              <a:tblPr firstRow="0" bandRow="0">
                <a:tableStyleId>{2D5ABB26-0587-4C30-8999-92F81FD0307C}</a:tableStyleId>
              </a:tblPr>
              <a:tblGrid>
                <a:gridCol w="1828800"/>
                <a:gridCol w="868680"/>
                <a:gridCol w="777240"/>
                <a:gridCol w="640080"/>
                <a:gridCol w="1234440"/>
                <a:gridCol w="1097280"/>
                <a:gridCol w="1005840"/>
                <a:gridCol w="1069848"/>
              </a:tblGrid>
              <a:tr h="457200">
                <a:tc>
                  <a:txBody>
                    <a:bodyPr wrap="square"/>
                    <a:lstStyle/>
                    <a:p>
                      <a:pPr algn="l"/>
                      <a:r>
                        <a:rPr sz="1000" b="1" i="0">
                          <a:solidFill>
                            <a:srgbClr val="FFFFFF"/>
                          </a:solidFill>
                          <a:latin typeface="Arial"/>
                        </a:rPr>
                        <a:t>Document</a:t>
                      </a:r>
                    </a:p>
                  </a:txBody>
                  <a:tcPr marL="54864" marR="54864" marT="27432" marB="27432" anchor="ctr">
                    <a:solidFill>
                      <a:srgbClr val="058DC7"/>
                    </a:solidFill>
                  </a:tcPr>
                </a:tc>
                <a:tc>
                  <a:txBody>
                    <a:bodyPr wrap="square"/>
                    <a:lstStyle/>
                    <a:p>
                      <a:pPr algn="ctr"/>
                      <a:r>
                        <a:rPr sz="1000" b="1" i="0">
                          <a:solidFill>
                            <a:srgbClr val="FFFFFF"/>
                          </a:solidFill>
                          <a:latin typeface="Arial"/>
                        </a:rPr>
                        <a:t>New classes</a:t>
                      </a:r>
                    </a:p>
                  </a:txBody>
                  <a:tcPr marL="54864" marR="54864" marT="27432" marB="27432" anchor="ctr">
                    <a:solidFill>
                      <a:srgbClr val="058DC7"/>
                    </a:solidFill>
                  </a:tcPr>
                </a:tc>
                <a:tc>
                  <a:txBody>
                    <a:bodyPr wrap="square"/>
                    <a:lstStyle/>
                    <a:p>
                      <a:pPr algn="ctr"/>
                      <a:r>
                        <a:rPr sz="1000" b="1" i="0">
                          <a:solidFill>
                            <a:srgbClr val="FFFFFF"/>
                          </a:solidFill>
                          <a:latin typeface="Arial"/>
                        </a:rPr>
                        <a:t>New props</a:t>
                      </a:r>
                    </a:p>
                  </a:txBody>
                  <a:tcPr marL="54864" marR="54864" marT="27432" marB="27432" anchor="ctr">
                    <a:solidFill>
                      <a:srgbClr val="058DC7"/>
                    </a:solidFill>
                  </a:tcPr>
                </a:tc>
                <a:tc>
                  <a:txBody>
                    <a:bodyPr wrap="square"/>
                    <a:lstStyle/>
                    <a:p>
                      <a:pPr algn="ctr"/>
                      <a:r>
                        <a:rPr sz="1000" b="1" i="0">
                          <a:solidFill>
                            <a:srgbClr val="FFFFFF"/>
                          </a:solidFill>
                          <a:latin typeface="Arial"/>
                        </a:rPr>
                        <a:t>Facts</a:t>
                      </a:r>
                    </a:p>
                  </a:txBody>
                  <a:tcPr marL="54864" marR="54864" marT="27432" marB="27432" anchor="ctr">
                    <a:solidFill>
                      <a:srgbClr val="058DC7"/>
                    </a:solidFill>
                  </a:tcPr>
                </a:tc>
                <a:tc>
                  <a:txBody>
                    <a:bodyPr wrap="square"/>
                    <a:lstStyle/>
                    <a:p>
                      <a:pPr algn="ctr"/>
                      <a:r>
                        <a:rPr sz="1000" b="1" i="0">
                          <a:solidFill>
                            <a:srgbClr val="FFFFFF"/>
                          </a:solidFill>
                          <a:latin typeface="Arial"/>
                        </a:rPr>
                        <a:t>Facts with source</a:t>
                      </a:r>
                    </a:p>
                  </a:txBody>
                  <a:tcPr marL="54864" marR="54864" marT="27432" marB="27432" anchor="ctr">
                    <a:solidFill>
                      <a:srgbClr val="058DC7"/>
                    </a:solidFill>
                  </a:tcPr>
                </a:tc>
                <a:tc>
                  <a:txBody>
                    <a:bodyPr wrap="square"/>
                    <a:lstStyle/>
                    <a:p>
                      <a:pPr algn="ctr"/>
                      <a:r>
                        <a:rPr sz="1000" b="1" i="0">
                          <a:solidFill>
                            <a:srgbClr val="FFFFFF"/>
                          </a:solidFill>
                          <a:latin typeface="Arial"/>
                        </a:rPr>
                        <a:t>CQs on pages used</a:t>
                      </a:r>
                    </a:p>
                  </a:txBody>
                  <a:tcPr marL="54864" marR="54864" marT="27432" marB="27432" anchor="ctr">
                    <a:solidFill>
                      <a:srgbClr val="058DC7"/>
                    </a:solidFill>
                  </a:tcPr>
                </a:tc>
                <a:tc>
                  <a:txBody>
                    <a:bodyPr wrap="square"/>
                    <a:lstStyle/>
                    <a:p>
                      <a:pPr algn="ctr"/>
                      <a:r>
                        <a:rPr sz="1000" b="1" i="0">
                          <a:solidFill>
                            <a:srgbClr val="FFFFFF"/>
                          </a:solidFill>
                          <a:latin typeface="Arial"/>
                        </a:rPr>
                        <a:t>…numeric answers</a:t>
                      </a:r>
                    </a:p>
                  </a:txBody>
                  <a:tcPr marL="54864" marR="54864" marT="27432" marB="27432" anchor="ctr">
                    <a:solidFill>
                      <a:srgbClr val="058DC7"/>
                    </a:solidFill>
                  </a:tcPr>
                </a:tc>
                <a:tc>
                  <a:txBody>
                    <a:bodyPr wrap="square"/>
                    <a:lstStyle/>
                    <a:p>
                      <a:pPr algn="ctr"/>
                      <a:r>
                        <a:rPr sz="1000" b="1" i="0">
                          <a:solidFill>
                            <a:srgbClr val="FFFFFF"/>
                          </a:solidFill>
                          <a:latin typeface="Arial"/>
                        </a:rPr>
                        <a:t>Answer in ontology*</a:t>
                      </a:r>
                    </a:p>
                  </a:txBody>
                  <a:tcPr marL="54864" marR="54864" marT="27432" marB="27432" anchor="ctr">
                    <a:solidFill>
                      <a:srgbClr val="058DC7"/>
                    </a:solidFill>
                  </a:tcPr>
                </a:tc>
              </a:tr>
              <a:tr h="310896">
                <a:tc>
                  <a:txBody>
                    <a:bodyPr wrap="square"/>
                    <a:lstStyle/>
                    <a:p>
                      <a:pPr algn="l"/>
                      <a:r>
                        <a:rPr sz="1000" b="1" i="0">
                          <a:solidFill>
                            <a:srgbClr val="222222"/>
                          </a:solidFill>
                          <a:latin typeface="Arial"/>
                        </a:rPr>
                        <a:t>Technical Specification</a:t>
                      </a:r>
                    </a:p>
                  </a:txBody>
                  <a:tcPr marL="54864" marR="54864" marT="27432" marB="27432" anchor="ctr">
                    <a:solidFill>
                      <a:srgbClr val="FFFFFF"/>
                    </a:solidFill>
                  </a:tcPr>
                </a:tc>
                <a:tc>
                  <a:txBody>
                    <a:bodyPr wrap="square"/>
                    <a:lstStyle/>
                    <a:p>
                      <a:pPr algn="ctr"/>
                      <a:r>
                        <a:rPr sz="1000" b="0" i="0">
                          <a:solidFill>
                            <a:srgbClr val="222222"/>
                          </a:solidFill>
                          <a:latin typeface="Arial"/>
                        </a:rPr>
                        <a:t>179</a:t>
                      </a:r>
                    </a:p>
                  </a:txBody>
                  <a:tcPr marL="54864" marR="54864" marT="27432" marB="27432" anchor="ctr">
                    <a:solidFill>
                      <a:srgbClr val="FFFFFF"/>
                    </a:solidFill>
                  </a:tcPr>
                </a:tc>
                <a:tc>
                  <a:txBody>
                    <a:bodyPr wrap="square"/>
                    <a:lstStyle/>
                    <a:p>
                      <a:pPr algn="ctr"/>
                      <a:r>
                        <a:rPr sz="1000" b="0" i="0">
                          <a:solidFill>
                            <a:srgbClr val="222222"/>
                          </a:solidFill>
                          <a:latin typeface="Arial"/>
                        </a:rPr>
                        <a:t>349</a:t>
                      </a:r>
                    </a:p>
                  </a:txBody>
                  <a:tcPr marL="54864" marR="54864" marT="27432" marB="27432" anchor="ctr">
                    <a:solidFill>
                      <a:srgbClr val="FFFFFF"/>
                    </a:solidFill>
                  </a:tcPr>
                </a:tc>
                <a:tc>
                  <a:txBody>
                    <a:bodyPr wrap="square"/>
                    <a:lstStyle/>
                    <a:p>
                      <a:pPr algn="ctr"/>
                      <a:r>
                        <a:rPr sz="1000" b="0" i="0">
                          <a:solidFill>
                            <a:srgbClr val="222222"/>
                          </a:solidFill>
                          <a:latin typeface="Arial"/>
                        </a:rPr>
                        <a:t>597</a:t>
                      </a:r>
                    </a:p>
                  </a:txBody>
                  <a:tcPr marL="54864" marR="54864" marT="27432" marB="27432" anchor="ctr">
                    <a:solidFill>
                      <a:srgbClr val="FFFFFF"/>
                    </a:solidFill>
                  </a:tcPr>
                </a:tc>
                <a:tc>
                  <a:txBody>
                    <a:bodyPr wrap="square"/>
                    <a:lstStyle/>
                    <a:p>
                      <a:pPr algn="ctr"/>
                      <a:r>
                        <a:rPr sz="1000" b="0" i="0">
                          <a:solidFill>
                            <a:srgbClr val="222222"/>
                          </a:solidFill>
                          <a:latin typeface="Arial"/>
                        </a:rPr>
                        <a:t>529 (89%)</a:t>
                      </a:r>
                    </a:p>
                  </a:txBody>
                  <a:tcPr marL="54864" marR="54864" marT="27432" marB="27432" anchor="ctr">
                    <a:solidFill>
                      <a:srgbClr val="FFFFFF"/>
                    </a:solidFill>
                  </a:tcPr>
                </a:tc>
                <a:tc>
                  <a:txBody>
                    <a:bodyPr wrap="square"/>
                    <a:lstStyle/>
                    <a:p>
                      <a:pPr algn="ctr"/>
                      <a:r>
                        <a:rPr sz="1000" b="0" i="0">
                          <a:solidFill>
                            <a:srgbClr val="222222"/>
                          </a:solidFill>
                          <a:latin typeface="Arial"/>
                        </a:rPr>
                        <a:t>377</a:t>
                      </a:r>
                    </a:p>
                  </a:txBody>
                  <a:tcPr marL="54864" marR="54864" marT="27432" marB="27432" anchor="ctr">
                    <a:solidFill>
                      <a:srgbClr val="FFFFFF"/>
                    </a:solidFill>
                  </a:tcPr>
                </a:tc>
                <a:tc>
                  <a:txBody>
                    <a:bodyPr wrap="square"/>
                    <a:lstStyle/>
                    <a:p>
                      <a:pPr algn="ctr"/>
                      <a:r>
                        <a:rPr sz="1000" b="0" i="0">
                          <a:solidFill>
                            <a:srgbClr val="222222"/>
                          </a:solidFill>
                          <a:latin typeface="Arial"/>
                        </a:rPr>
                        <a:t>176</a:t>
                      </a:r>
                    </a:p>
                  </a:txBody>
                  <a:tcPr marL="54864" marR="54864" marT="27432" marB="27432" anchor="ctr">
                    <a:solidFill>
                      <a:srgbClr val="FFFFFF"/>
                    </a:solidFill>
                  </a:tcPr>
                </a:tc>
                <a:tc>
                  <a:txBody>
                    <a:bodyPr wrap="square"/>
                    <a:lstStyle/>
                    <a:p>
                      <a:pPr algn="ctr"/>
                      <a:r>
                        <a:rPr sz="1000" b="0" i="0">
                          <a:solidFill>
                            <a:srgbClr val="222222"/>
                          </a:solidFill>
                          <a:latin typeface="Arial"/>
                        </a:rPr>
                        <a:t>377 / 377</a:t>
                      </a:r>
                    </a:p>
                  </a:txBody>
                  <a:tcPr marL="54864" marR="54864" marT="27432" marB="27432" anchor="ctr">
                    <a:solidFill>
                      <a:srgbClr val="FFFFFF"/>
                    </a:solidFill>
                  </a:tcPr>
                </a:tc>
              </a:tr>
              <a:tr h="310896">
                <a:tc>
                  <a:txBody>
                    <a:bodyPr wrap="square"/>
                    <a:lstStyle/>
                    <a:p>
                      <a:pPr algn="l"/>
                      <a:r>
                        <a:rPr sz="1000" b="1" i="0">
                          <a:solidFill>
                            <a:srgbClr val="222222"/>
                          </a:solidFill>
                          <a:latin typeface="Arial"/>
                        </a:rPr>
                        <a:t>Product Description</a:t>
                      </a:r>
                    </a:p>
                  </a:txBody>
                  <a:tcPr marL="54864" marR="54864" marT="27432" marB="27432" anchor="ctr">
                    <a:solidFill>
                      <a:srgbClr val="F3F3F3"/>
                    </a:solidFill>
                  </a:tcPr>
                </a:tc>
                <a:tc>
                  <a:txBody>
                    <a:bodyPr wrap="square"/>
                    <a:lstStyle/>
                    <a:p>
                      <a:pPr algn="ctr"/>
                      <a:r>
                        <a:rPr sz="1000" b="0" i="0">
                          <a:solidFill>
                            <a:srgbClr val="222222"/>
                          </a:solidFill>
                          <a:latin typeface="Arial"/>
                        </a:rPr>
                        <a:t>65</a:t>
                      </a:r>
                    </a:p>
                  </a:txBody>
                  <a:tcPr marL="54864" marR="54864" marT="27432" marB="27432" anchor="ctr">
                    <a:solidFill>
                      <a:srgbClr val="F3F3F3"/>
                    </a:solidFill>
                  </a:tcPr>
                </a:tc>
                <a:tc>
                  <a:txBody>
                    <a:bodyPr wrap="square"/>
                    <a:lstStyle/>
                    <a:p>
                      <a:pPr algn="ctr"/>
                      <a:r>
                        <a:rPr sz="1000" b="0" i="0">
                          <a:solidFill>
                            <a:srgbClr val="222222"/>
                          </a:solidFill>
                          <a:latin typeface="Arial"/>
                        </a:rPr>
                        <a:t>150</a:t>
                      </a:r>
                    </a:p>
                  </a:txBody>
                  <a:tcPr marL="54864" marR="54864" marT="27432" marB="27432" anchor="ctr">
                    <a:solidFill>
                      <a:srgbClr val="F3F3F3"/>
                    </a:solidFill>
                  </a:tcPr>
                </a:tc>
                <a:tc>
                  <a:txBody>
                    <a:bodyPr wrap="square"/>
                    <a:lstStyle/>
                    <a:p>
                      <a:pPr algn="ctr"/>
                      <a:r>
                        <a:rPr sz="1000" b="0" i="0">
                          <a:solidFill>
                            <a:srgbClr val="222222"/>
                          </a:solidFill>
                          <a:latin typeface="Arial"/>
                        </a:rPr>
                        <a:t>257</a:t>
                      </a:r>
                    </a:p>
                  </a:txBody>
                  <a:tcPr marL="54864" marR="54864" marT="27432" marB="27432" anchor="ctr">
                    <a:solidFill>
                      <a:srgbClr val="F3F3F3"/>
                    </a:solidFill>
                  </a:tcPr>
                </a:tc>
                <a:tc>
                  <a:txBody>
                    <a:bodyPr wrap="square"/>
                    <a:lstStyle/>
                    <a:p>
                      <a:pPr algn="ctr"/>
                      <a:r>
                        <a:rPr sz="1000" b="0" i="0">
                          <a:solidFill>
                            <a:srgbClr val="222222"/>
                          </a:solidFill>
                          <a:latin typeface="Arial"/>
                        </a:rPr>
                        <a:t>218 (85%)</a:t>
                      </a:r>
                    </a:p>
                  </a:txBody>
                  <a:tcPr marL="54864" marR="54864" marT="27432" marB="27432" anchor="ctr">
                    <a:solidFill>
                      <a:srgbClr val="F3F3F3"/>
                    </a:solidFill>
                  </a:tcPr>
                </a:tc>
                <a:tc>
                  <a:txBody>
                    <a:bodyPr wrap="square"/>
                    <a:lstStyle/>
                    <a:p>
                      <a:pPr algn="ctr"/>
                      <a:r>
                        <a:rPr sz="1000" b="0" i="0">
                          <a:solidFill>
                            <a:srgbClr val="222222"/>
                          </a:solidFill>
                          <a:latin typeface="Arial"/>
                        </a:rPr>
                        <a:t>142</a:t>
                      </a:r>
                    </a:p>
                  </a:txBody>
                  <a:tcPr marL="54864" marR="54864" marT="27432" marB="27432" anchor="ctr">
                    <a:solidFill>
                      <a:srgbClr val="F3F3F3"/>
                    </a:solidFill>
                  </a:tcPr>
                </a:tc>
                <a:tc>
                  <a:txBody>
                    <a:bodyPr wrap="square"/>
                    <a:lstStyle/>
                    <a:p>
                      <a:pPr algn="ctr"/>
                      <a:r>
                        <a:rPr sz="1000" b="0" i="0">
                          <a:solidFill>
                            <a:srgbClr val="222222"/>
                          </a:solidFill>
                          <a:latin typeface="Arial"/>
                        </a:rPr>
                        <a:t>71</a:t>
                      </a:r>
                    </a:p>
                  </a:txBody>
                  <a:tcPr marL="54864" marR="54864" marT="27432" marB="27432" anchor="ctr">
                    <a:solidFill>
                      <a:srgbClr val="F3F3F3"/>
                    </a:solidFill>
                  </a:tcPr>
                </a:tc>
                <a:tc>
                  <a:txBody>
                    <a:bodyPr wrap="square"/>
                    <a:lstStyle/>
                    <a:p>
                      <a:pPr algn="ctr"/>
                      <a:r>
                        <a:rPr sz="1000" b="0" i="0">
                          <a:solidFill>
                            <a:srgbClr val="222222"/>
                          </a:solidFill>
                          <a:latin typeface="Arial"/>
                        </a:rPr>
                        <a:t>142 / 142</a:t>
                      </a:r>
                    </a:p>
                  </a:txBody>
                  <a:tcPr marL="54864" marR="54864" marT="27432" marB="27432" anchor="ctr">
                    <a:solidFill>
                      <a:srgbClr val="F3F3F3"/>
                    </a:solidFill>
                  </a:tcPr>
                </a:tc>
              </a:tr>
              <a:tr h="310896">
                <a:tc>
                  <a:txBody>
                    <a:bodyPr wrap="square"/>
                    <a:lstStyle/>
                    <a:p>
                      <a:pPr algn="l"/>
                      <a:r>
                        <a:rPr sz="1000" b="1" i="0">
                          <a:solidFill>
                            <a:srgbClr val="222222"/>
                          </a:solidFill>
                          <a:latin typeface="Arial"/>
                        </a:rPr>
                        <a:t>Price List</a:t>
                      </a:r>
                    </a:p>
                  </a:txBody>
                  <a:tcPr marL="54864" marR="54864" marT="27432" marB="27432" anchor="ctr">
                    <a:solidFill>
                      <a:srgbClr val="FFFFFF"/>
                    </a:solidFill>
                  </a:tcPr>
                </a:tc>
                <a:tc>
                  <a:txBody>
                    <a:bodyPr wrap="square"/>
                    <a:lstStyle/>
                    <a:p>
                      <a:pPr algn="ctr"/>
                      <a:r>
                        <a:rPr sz="1000" b="0" i="0">
                          <a:solidFill>
                            <a:srgbClr val="222222"/>
                          </a:solidFill>
                          <a:latin typeface="Arial"/>
                        </a:rPr>
                        <a:t>76</a:t>
                      </a:r>
                    </a:p>
                  </a:txBody>
                  <a:tcPr marL="54864" marR="54864" marT="27432" marB="27432" anchor="ctr">
                    <a:solidFill>
                      <a:srgbClr val="FFFFFF"/>
                    </a:solidFill>
                  </a:tcPr>
                </a:tc>
                <a:tc>
                  <a:txBody>
                    <a:bodyPr wrap="square"/>
                    <a:lstStyle/>
                    <a:p>
                      <a:pPr algn="ctr"/>
                      <a:r>
                        <a:rPr sz="1000" b="0" i="0">
                          <a:solidFill>
                            <a:srgbClr val="222222"/>
                          </a:solidFill>
                          <a:latin typeface="Arial"/>
                        </a:rPr>
                        <a:t>114</a:t>
                      </a:r>
                    </a:p>
                  </a:txBody>
                  <a:tcPr marL="54864" marR="54864" marT="27432" marB="27432" anchor="ctr">
                    <a:solidFill>
                      <a:srgbClr val="FFFFFF"/>
                    </a:solidFill>
                  </a:tcPr>
                </a:tc>
                <a:tc>
                  <a:txBody>
                    <a:bodyPr wrap="square"/>
                    <a:lstStyle/>
                    <a:p>
                      <a:pPr algn="ctr"/>
                      <a:r>
                        <a:rPr sz="1000" b="0" i="0">
                          <a:solidFill>
                            <a:srgbClr val="222222"/>
                          </a:solidFill>
                          <a:latin typeface="Arial"/>
                        </a:rPr>
                        <a:t>332</a:t>
                      </a:r>
                    </a:p>
                  </a:txBody>
                  <a:tcPr marL="54864" marR="54864" marT="27432" marB="27432" anchor="ctr">
                    <a:solidFill>
                      <a:srgbClr val="FFFFFF"/>
                    </a:solidFill>
                  </a:tcPr>
                </a:tc>
                <a:tc>
                  <a:txBody>
                    <a:bodyPr wrap="square"/>
                    <a:lstStyle/>
                    <a:p>
                      <a:pPr algn="ctr"/>
                      <a:r>
                        <a:rPr sz="1000" b="0" i="0">
                          <a:solidFill>
                            <a:srgbClr val="222222"/>
                          </a:solidFill>
                          <a:latin typeface="Arial"/>
                        </a:rPr>
                        <a:t>67 (20%)</a:t>
                      </a:r>
                    </a:p>
                  </a:txBody>
                  <a:tcPr marL="54864" marR="54864" marT="27432" marB="27432" anchor="ctr">
                    <a:solidFill>
                      <a:srgbClr val="FFFFFF"/>
                    </a:solidFill>
                  </a:tcPr>
                </a:tc>
                <a:tc>
                  <a:txBody>
                    <a:bodyPr wrap="square"/>
                    <a:lstStyle/>
                    <a:p>
                      <a:pPr algn="ctr"/>
                      <a:r>
                        <a:rPr sz="1000" b="0" i="0">
                          <a:solidFill>
                            <a:srgbClr val="222222"/>
                          </a:solidFill>
                          <a:latin typeface="Arial"/>
                        </a:rPr>
                        <a:t>147</a:t>
                      </a:r>
                    </a:p>
                  </a:txBody>
                  <a:tcPr marL="54864" marR="54864" marT="27432" marB="27432" anchor="ctr">
                    <a:solidFill>
                      <a:srgbClr val="FFFFFF"/>
                    </a:solidFill>
                  </a:tcPr>
                </a:tc>
                <a:tc>
                  <a:txBody>
                    <a:bodyPr wrap="square"/>
                    <a:lstStyle/>
                    <a:p>
                      <a:pPr algn="ctr"/>
                      <a:r>
                        <a:rPr sz="1000" b="0" i="0">
                          <a:solidFill>
                            <a:srgbClr val="222222"/>
                          </a:solidFill>
                          <a:latin typeface="Arial"/>
                        </a:rPr>
                        <a:t>107</a:t>
                      </a:r>
                    </a:p>
                  </a:txBody>
                  <a:tcPr marL="54864" marR="54864" marT="27432" marB="27432" anchor="ctr">
                    <a:solidFill>
                      <a:srgbClr val="FFFFFF"/>
                    </a:solidFill>
                  </a:tcPr>
                </a:tc>
                <a:tc>
                  <a:txBody>
                    <a:bodyPr wrap="square"/>
                    <a:lstStyle/>
                    <a:p>
                      <a:pPr algn="ctr"/>
                      <a:r>
                        <a:rPr sz="1000" b="0" i="0">
                          <a:solidFill>
                            <a:srgbClr val="222222"/>
                          </a:solidFill>
                          <a:latin typeface="Arial"/>
                        </a:rPr>
                        <a:t>147 / 147</a:t>
                      </a:r>
                    </a:p>
                  </a:txBody>
                  <a:tcPr marL="54864" marR="54864" marT="27432" marB="27432" anchor="ctr">
                    <a:solidFill>
                      <a:srgbClr val="FFFFFF"/>
                    </a:solidFill>
                  </a:tcPr>
                </a:tc>
              </a:tr>
              <a:tr h="310896">
                <a:tc>
                  <a:txBody>
                    <a:bodyPr wrap="square"/>
                    <a:lstStyle/>
                    <a:p>
                      <a:pPr algn="l"/>
                      <a:r>
                        <a:rPr sz="1000" b="1" i="0">
                          <a:solidFill>
                            <a:srgbClr val="222222"/>
                          </a:solidFill>
                          <a:latin typeface="Arial"/>
                        </a:rPr>
                        <a:t>Service Levels</a:t>
                      </a:r>
                    </a:p>
                  </a:txBody>
                  <a:tcPr marL="54864" marR="54864" marT="27432" marB="27432" anchor="ctr">
                    <a:solidFill>
                      <a:srgbClr val="F3F3F3"/>
                    </a:solidFill>
                  </a:tcPr>
                </a:tc>
                <a:tc>
                  <a:txBody>
                    <a:bodyPr wrap="square"/>
                    <a:lstStyle/>
                    <a:p>
                      <a:pPr algn="ctr"/>
                      <a:r>
                        <a:rPr sz="1000" b="0" i="0">
                          <a:solidFill>
                            <a:srgbClr val="222222"/>
                          </a:solidFill>
                          <a:latin typeface="Arial"/>
                        </a:rPr>
                        <a:t>47</a:t>
                      </a:r>
                    </a:p>
                  </a:txBody>
                  <a:tcPr marL="54864" marR="54864" marT="27432" marB="27432" anchor="ctr">
                    <a:solidFill>
                      <a:srgbClr val="F3F3F3"/>
                    </a:solidFill>
                  </a:tcPr>
                </a:tc>
                <a:tc>
                  <a:txBody>
                    <a:bodyPr wrap="square"/>
                    <a:lstStyle/>
                    <a:p>
                      <a:pPr algn="ctr"/>
                      <a:r>
                        <a:rPr sz="1000" b="0" i="0">
                          <a:solidFill>
                            <a:srgbClr val="222222"/>
                          </a:solidFill>
                          <a:latin typeface="Arial"/>
                        </a:rPr>
                        <a:t>72</a:t>
                      </a:r>
                    </a:p>
                  </a:txBody>
                  <a:tcPr marL="54864" marR="54864" marT="27432" marB="27432" anchor="ctr">
                    <a:solidFill>
                      <a:srgbClr val="F3F3F3"/>
                    </a:solidFill>
                  </a:tcPr>
                </a:tc>
                <a:tc>
                  <a:txBody>
                    <a:bodyPr wrap="square"/>
                    <a:lstStyle/>
                    <a:p>
                      <a:pPr algn="ctr"/>
                      <a:r>
                        <a:rPr sz="1000" b="0" i="0">
                          <a:solidFill>
                            <a:srgbClr val="222222"/>
                          </a:solidFill>
                          <a:latin typeface="Arial"/>
                        </a:rPr>
                        <a:t>80</a:t>
                      </a:r>
                    </a:p>
                  </a:txBody>
                  <a:tcPr marL="54864" marR="54864" marT="27432" marB="27432" anchor="ctr">
                    <a:solidFill>
                      <a:srgbClr val="F3F3F3"/>
                    </a:solidFill>
                  </a:tcPr>
                </a:tc>
                <a:tc>
                  <a:txBody>
                    <a:bodyPr wrap="square"/>
                    <a:lstStyle/>
                    <a:p>
                      <a:pPr algn="ctr"/>
                      <a:r>
                        <a:rPr sz="1000" b="0" i="0">
                          <a:solidFill>
                            <a:srgbClr val="222222"/>
                          </a:solidFill>
                          <a:latin typeface="Arial"/>
                        </a:rPr>
                        <a:t>80 (100%)</a:t>
                      </a:r>
                    </a:p>
                  </a:txBody>
                  <a:tcPr marL="54864" marR="54864" marT="27432" marB="27432" anchor="ctr">
                    <a:solidFill>
                      <a:srgbClr val="F3F3F3"/>
                    </a:solidFill>
                  </a:tcPr>
                </a:tc>
                <a:tc>
                  <a:txBody>
                    <a:bodyPr wrap="square"/>
                    <a:lstStyle/>
                    <a:p>
                      <a:pPr algn="ctr"/>
                      <a:r>
                        <a:rPr sz="1000" b="0" i="0">
                          <a:solidFill>
                            <a:srgbClr val="222222"/>
                          </a:solidFill>
                          <a:latin typeface="Arial"/>
                        </a:rPr>
                        <a:t>95</a:t>
                      </a:r>
                    </a:p>
                  </a:txBody>
                  <a:tcPr marL="54864" marR="54864" marT="27432" marB="27432" anchor="ctr">
                    <a:solidFill>
                      <a:srgbClr val="F3F3F3"/>
                    </a:solidFill>
                  </a:tcPr>
                </a:tc>
                <a:tc>
                  <a:txBody>
                    <a:bodyPr wrap="square"/>
                    <a:lstStyle/>
                    <a:p>
                      <a:pPr algn="ctr"/>
                      <a:r>
                        <a:rPr sz="1000" b="0" i="0">
                          <a:solidFill>
                            <a:srgbClr val="222222"/>
                          </a:solidFill>
                          <a:latin typeface="Arial"/>
                        </a:rPr>
                        <a:t>48</a:t>
                      </a:r>
                    </a:p>
                  </a:txBody>
                  <a:tcPr marL="54864" marR="54864" marT="27432" marB="27432" anchor="ctr">
                    <a:solidFill>
                      <a:srgbClr val="F3F3F3"/>
                    </a:solidFill>
                  </a:tcPr>
                </a:tc>
                <a:tc>
                  <a:txBody>
                    <a:bodyPr wrap="square"/>
                    <a:lstStyle/>
                    <a:p>
                      <a:pPr algn="ctr"/>
                      <a:r>
                        <a:rPr sz="1000" b="0" i="0">
                          <a:solidFill>
                            <a:srgbClr val="222222"/>
                          </a:solidFill>
                          <a:latin typeface="Arial"/>
                        </a:rPr>
                        <a:t>92 / 95</a:t>
                      </a:r>
                    </a:p>
                  </a:txBody>
                  <a:tcPr marL="54864" marR="54864" marT="27432" marB="27432" anchor="ctr">
                    <a:solidFill>
                      <a:srgbClr val="F3F3F3"/>
                    </a:solidFill>
                  </a:tcPr>
                </a:tc>
              </a:tr>
              <a:tr h="310896">
                <a:tc>
                  <a:txBody>
                    <a:bodyPr wrap="square"/>
                    <a:lstStyle/>
                    <a:p>
                      <a:pPr algn="l"/>
                      <a:r>
                        <a:rPr sz="1000" b="1" i="0">
                          <a:solidFill>
                            <a:srgbClr val="222222"/>
                          </a:solidFill>
                          <a:latin typeface="Arial"/>
                        </a:rPr>
                        <a:t>All four, merged</a:t>
                      </a:r>
                    </a:p>
                  </a:txBody>
                  <a:tcPr marL="54864" marR="54864" marT="27432" marB="27432" anchor="ctr">
                    <a:solidFill>
                      <a:srgbClr val="FFFFFF"/>
                    </a:solidFill>
                  </a:tcPr>
                </a:tc>
                <a:tc>
                  <a:txBody>
                    <a:bodyPr wrap="square"/>
                    <a:lstStyle/>
                    <a:p>
                      <a:pPr algn="ctr"/>
                      <a:r>
                        <a:rPr sz="1000" b="0" i="0">
                          <a:solidFill>
                            <a:srgbClr val="222222"/>
                          </a:solidFill>
                          <a:latin typeface="Arial"/>
                        </a:rPr>
                        <a:t>351</a:t>
                      </a:r>
                    </a:p>
                  </a:txBody>
                  <a:tcPr marL="54864" marR="54864" marT="27432" marB="27432" anchor="ctr">
                    <a:solidFill>
                      <a:srgbClr val="FFFFFF"/>
                    </a:solidFill>
                  </a:tcPr>
                </a:tc>
                <a:tc>
                  <a:txBody>
                    <a:bodyPr wrap="square"/>
                    <a:lstStyle/>
                    <a:p>
                      <a:pPr algn="ctr"/>
                      <a:r>
                        <a:rPr sz="1000" b="0" i="0">
                          <a:solidFill>
                            <a:srgbClr val="222222"/>
                          </a:solidFill>
                          <a:latin typeface="Arial"/>
                        </a:rPr>
                        <a:t>651</a:t>
                      </a:r>
                    </a:p>
                  </a:txBody>
                  <a:tcPr marL="54864" marR="54864" marT="27432" marB="27432" anchor="ctr">
                    <a:solidFill>
                      <a:srgbClr val="FFFFFF"/>
                    </a:solidFill>
                  </a:tcPr>
                </a:tc>
                <a:tc>
                  <a:txBody>
                    <a:bodyPr wrap="square"/>
                    <a:lstStyle/>
                    <a:p>
                      <a:pPr algn="ctr"/>
                      <a:r>
                        <a:rPr sz="1000" b="0" i="0">
                          <a:solidFill>
                            <a:srgbClr val="222222"/>
                          </a:solidFill>
                          <a:latin typeface="Arial"/>
                        </a:rPr>
                        <a:t>1239</a:t>
                      </a:r>
                    </a:p>
                  </a:txBody>
                  <a:tcPr marL="54864" marR="54864" marT="27432" marB="27432" anchor="ctr">
                    <a:solidFill>
                      <a:srgbClr val="FFFFFF"/>
                    </a:solidFill>
                  </a:tcPr>
                </a:tc>
                <a:tc>
                  <a:txBody>
                    <a:bodyPr wrap="square"/>
                    <a:lstStyle/>
                    <a:p>
                      <a:pPr algn="ctr"/>
                      <a:r>
                        <a:rPr sz="1000" b="0" i="0">
                          <a:solidFill>
                            <a:srgbClr val="222222"/>
                          </a:solidFill>
                          <a:latin typeface="Arial"/>
                        </a:rPr>
                        <a:t>891 (72%)</a:t>
                      </a:r>
                    </a:p>
                  </a:txBody>
                  <a:tcPr marL="54864" marR="54864" marT="27432" marB="27432" anchor="ctr">
                    <a:solidFill>
                      <a:srgbClr val="FFFFFF"/>
                    </a:solidFill>
                  </a:tcPr>
                </a:tc>
                <a:tc>
                  <a:txBody>
                    <a:bodyPr wrap="square"/>
                    <a:lstStyle/>
                    <a:p>
                      <a:pPr algn="ctr"/>
                      <a:r>
                        <a:rPr sz="1000" b="0" i="0">
                          <a:solidFill>
                            <a:srgbClr val="222222"/>
                          </a:solidFill>
                          <a:latin typeface="Arial"/>
                        </a:rPr>
                        <a:t>761</a:t>
                      </a:r>
                    </a:p>
                  </a:txBody>
                  <a:tcPr marL="54864" marR="54864" marT="27432" marB="27432" anchor="ctr">
                    <a:solidFill>
                      <a:srgbClr val="FFFFFF"/>
                    </a:solidFill>
                  </a:tcPr>
                </a:tc>
                <a:tc>
                  <a:txBody>
                    <a:bodyPr wrap="square"/>
                    <a:lstStyle/>
                    <a:p>
                      <a:pPr algn="ctr"/>
                      <a:r>
                        <a:rPr sz="1000" b="0" i="0">
                          <a:solidFill>
                            <a:srgbClr val="222222"/>
                          </a:solidFill>
                          <a:latin typeface="Arial"/>
                        </a:rPr>
                        <a:t>402</a:t>
                      </a:r>
                    </a:p>
                  </a:txBody>
                  <a:tcPr marL="54864" marR="54864" marT="27432" marB="27432" anchor="ctr">
                    <a:solidFill>
                      <a:srgbClr val="FFFFFF"/>
                    </a:solidFill>
                  </a:tcPr>
                </a:tc>
                <a:tc>
                  <a:txBody>
                    <a:bodyPr wrap="square"/>
                    <a:lstStyle/>
                    <a:p>
                      <a:pPr algn="ctr"/>
                      <a:r>
                        <a:rPr sz="1000" b="0" i="0">
                          <a:solidFill>
                            <a:srgbClr val="222222"/>
                          </a:solidFill>
                          <a:latin typeface="Arial"/>
                        </a:rPr>
                        <a:t>758 / 761</a:t>
                      </a:r>
                    </a:p>
                  </a:txBody>
                  <a:tcPr marL="54864" marR="54864" marT="27432" marB="27432" anchor="ctr">
                    <a:solidFill>
                      <a:srgbClr val="FFFFFF"/>
                    </a:solidFill>
                  </a:tcPr>
                </a:tc>
              </a:tr>
            </a:tbl>
          </a:graphicData>
        </a:graphic>
      </p:graphicFrame>
      <p:sp>
        <p:nvSpPr>
          <p:cNvPr id="4" name="Rounded Rectangle 3"/>
          <p:cNvSpPr/>
          <p:nvPr/>
        </p:nvSpPr>
        <p:spPr>
          <a:xfrm>
            <a:off x="310896" y="3108960"/>
            <a:ext cx="4160520" cy="1783080"/>
          </a:xfrm>
          <a:prstGeom prst="roundRect">
            <a:avLst>
              <a:gd name="adj" fmla="val 8000"/>
            </a:avLst>
          </a:prstGeom>
          <a:solidFill>
            <a:srgbClr val="FDE6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65836" bIns="65836"/>
          <a:lstStyle/>
          <a:p>
            <a:pPr algn="l">
              <a:spcAft>
                <a:spcPts val="400"/>
              </a:spcAft>
            </a:pPr>
            <a:r>
              <a:rPr sz="1100" b="1" i="0">
                <a:solidFill>
                  <a:srgbClr val="ED561B"/>
                </a:solidFill>
                <a:latin typeface="Arial"/>
              </a:rPr>
              <a:t>Read this carefully</a:t>
            </a:r>
          </a:p>
          <a:p>
            <a:pPr algn="l">
              <a:spcAft>
                <a:spcPts val="400"/>
              </a:spcAft>
            </a:pPr>
            <a:r>
              <a:rPr sz="1000" b="0" i="0">
                <a:solidFill>
                  <a:srgbClr val="222222"/>
                </a:solidFill>
                <a:latin typeface="Arial"/>
              </a:rPr>
              <a:t>* “Answer in ontology” is a loose check: the expected answer's words/numbers appear somewhere in the ontology. The build loop itself pushes for this, so it is optimistic. The real test is the SPARQL + judge score (next slides).</a:t>
            </a:r>
          </a:p>
          <a:p>
            <a:pPr algn="l">
              <a:spcAft>
                <a:spcPts val="400"/>
              </a:spcAft>
            </a:pPr>
            <a:r>
              <a:rPr sz="1000" b="0" i="0">
                <a:solidFill>
                  <a:srgbClr val="222222"/>
                </a:solidFill>
                <a:latin typeface="Arial"/>
              </a:rPr>
              <a:t>Duplicate-looking classes: 32 pairs (e.g. Cl_AVC next to AVC). 61 facts are named *_Example. Merged = a term found in two documents is counted once.</a:t>
            </a:r>
          </a:p>
        </p:txBody>
      </p:sp>
      <p:sp>
        <p:nvSpPr>
          <p:cNvPr id="5" name="Rounded Rectangle 4"/>
          <p:cNvSpPr/>
          <p:nvPr/>
        </p:nvSpPr>
        <p:spPr>
          <a:xfrm>
            <a:off x="4672584" y="3108960"/>
            <a:ext cx="4160520" cy="178308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65836" bIns="65836"/>
          <a:lstStyle/>
          <a:p>
            <a:pPr algn="l">
              <a:spcAft>
                <a:spcPts val="400"/>
              </a:spcAft>
            </a:pPr>
            <a:r>
              <a:rPr sz="1100" b="1" i="0">
                <a:solidFill>
                  <a:srgbClr val="058DC7"/>
                </a:solidFill>
                <a:latin typeface="Arial"/>
              </a:rPr>
              <a:t>What a CQ looks like</a:t>
            </a:r>
          </a:p>
          <a:p>
            <a:pPr algn="l">
              <a:spcAft>
                <a:spcPts val="400"/>
              </a:spcAft>
            </a:pPr>
            <a:r>
              <a:rPr sz="1050" b="1" i="0">
                <a:solidFill>
                  <a:srgbClr val="222222"/>
                </a:solidFill>
                <a:latin typeface="Arial"/>
              </a:rPr>
              <a:t>Q: </a:t>
            </a:r>
            <a:r>
              <a:rPr sz="1050" b="0" i="0">
                <a:solidFill>
                  <a:srgbClr val="222222"/>
                </a:solidFill>
                <a:latin typeface="Arial"/>
              </a:rPr>
              <a:t>What is the Bearer Limit for an NNI Group of 2 × 100 Gbps NNI Bearers in Diverse Chassis mode?</a:t>
            </a:r>
          </a:p>
          <a:p>
            <a:pPr algn="l">
              <a:spcAft>
                <a:spcPts val="400"/>
              </a:spcAft>
            </a:pPr>
            <a:r>
              <a:rPr sz="1050" b="1" i="0">
                <a:solidFill>
                  <a:srgbClr val="222222"/>
                </a:solidFill>
                <a:latin typeface="Arial"/>
              </a:rPr>
              <a:t>A: </a:t>
            </a:r>
            <a:r>
              <a:rPr sz="1050" b="0" i="0">
                <a:solidFill>
                  <a:srgbClr val="222222"/>
                </a:solidFill>
                <a:latin typeface="Arial"/>
              </a:rPr>
              <a:t>31,000</a:t>
            </a:r>
          </a:p>
          <a:p>
            <a:pPr algn="l">
              <a:spcAft>
                <a:spcPts val="400"/>
              </a:spcAft>
            </a:pPr>
            <a:r>
              <a:rPr sz="950" b="0" i="0">
                <a:solidFill>
                  <a:srgbClr val="666666"/>
                </a:solidFill>
                <a:latin typeface="Arial"/>
              </a:rPr>
              <a:t>CQs are written from the PDF page by the question-writer agent (the paper's step 1); </a:t>
            </a:r>
            <a:r>
              <a:rPr sz="950" b="0" i="0">
                <a:solidFill>
                  <a:srgbClr val="666666"/>
                </a:solidFill>
                <a:latin typeface="Arial"/>
              </a:rPr>
              <a:t>they are the test and the to-do list for each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28600"/>
            <a:ext cx="8522208" cy="566928"/>
          </a:xfrm>
        </p:spPr>
        <p:txBody>
          <a:bodyPr>
            <a:normAutofit/>
          </a:bodyPr>
          <a:lstStyle/>
          <a:p>
            <a:r>
              <a:rPr sz="2600">
                <a:solidFill>
                  <a:srgbClr val="222222"/>
                </a:solidFill>
                <a:latin typeface="Arial"/>
              </a:rPr>
              <a:t>Screenshot of the system (2/2)</a:t>
            </a:r>
          </a:p>
        </p:txBody>
      </p:sp>
      <p:pic>
        <p:nvPicPr>
          <p:cNvPr id="3" name="Picture 2" descr="shot_tree.png"/>
          <p:cNvPicPr>
            <a:picLocks noChangeAspect="1"/>
          </p:cNvPicPr>
          <p:nvPr/>
        </p:nvPicPr>
        <p:blipFill>
          <a:blip r:embed="rId2"/>
          <a:stretch>
            <a:fillRect/>
          </a:stretch>
        </p:blipFill>
        <p:spPr>
          <a:xfrm>
            <a:off x="310896" y="914400"/>
            <a:ext cx="4160520" cy="2420666"/>
          </a:xfrm>
          <a:prstGeom prst="rect">
            <a:avLst/>
          </a:prstGeom>
          <a:ln w="9525">
            <a:solidFill>
              <a:srgbClr val="D9DEE3"/>
            </a:solidFill>
          </a:ln>
        </p:spPr>
      </p:pic>
      <p:sp>
        <p:nvSpPr>
          <p:cNvPr id="4" name="Rectangle 3"/>
          <p:cNvSpPr/>
          <p:nvPr/>
        </p:nvSpPr>
        <p:spPr>
          <a:xfrm>
            <a:off x="310896" y="3362497"/>
            <a:ext cx="4160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666666"/>
                </a:solidFill>
                <a:latin typeface="Arial"/>
              </a:rPr>
              <a:t>Class tree: reference classes first, additions below</a:t>
            </a:r>
          </a:p>
        </p:txBody>
      </p:sp>
      <p:pic>
        <p:nvPicPr>
          <p:cNvPr id="5" name="Picture 4" descr="shot_facts.png"/>
          <p:cNvPicPr>
            <a:picLocks noChangeAspect="1"/>
          </p:cNvPicPr>
          <p:nvPr/>
        </p:nvPicPr>
        <p:blipFill>
          <a:blip r:embed="rId3"/>
          <a:stretch>
            <a:fillRect/>
          </a:stretch>
        </p:blipFill>
        <p:spPr>
          <a:xfrm>
            <a:off x="4672584" y="914400"/>
            <a:ext cx="4160520" cy="2420666"/>
          </a:xfrm>
          <a:prstGeom prst="rect">
            <a:avLst/>
          </a:prstGeom>
          <a:ln w="9525">
            <a:solidFill>
              <a:srgbClr val="D9DEE3"/>
            </a:solidFill>
          </a:ln>
        </p:spPr>
      </p:pic>
      <p:sp>
        <p:nvSpPr>
          <p:cNvPr id="6" name="Rectangle 5"/>
          <p:cNvSpPr/>
          <p:nvPr/>
        </p:nvSpPr>
        <p:spPr>
          <a:xfrm>
            <a:off x="4672584" y="3362497"/>
            <a:ext cx="4160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32918" bIns="32918"/>
          <a:lstStyle/>
          <a:p>
            <a:pPr algn="ctr">
              <a:spcAft>
                <a:spcPts val="0"/>
              </a:spcAft>
            </a:pPr>
            <a:r>
              <a:rPr sz="1000" b="0" i="0">
                <a:solidFill>
                  <a:srgbClr val="666666"/>
                </a:solidFill>
                <a:latin typeface="Arial"/>
              </a:rPr>
              <a:t>Facts: each row names its source (document, section, page)</a:t>
            </a:r>
          </a:p>
        </p:txBody>
      </p:sp>
      <p:sp>
        <p:nvSpPr>
          <p:cNvPr id="7" name="Rounded Rectangle 6"/>
          <p:cNvSpPr/>
          <p:nvPr/>
        </p:nvSpPr>
        <p:spPr>
          <a:xfrm>
            <a:off x="310896" y="4023360"/>
            <a:ext cx="8522208" cy="77724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pPr>
            <a:r>
              <a:rPr sz="1100" b="1" i="0">
                <a:solidFill>
                  <a:srgbClr val="222222"/>
                </a:solidFill>
                <a:latin typeface="Arial"/>
              </a:rPr>
              <a:t>Why it matters: </a:t>
            </a:r>
            <a:r>
              <a:rPr sz="1100" b="0" i="0">
                <a:solidFill>
                  <a:srgbClr val="222222"/>
                </a:solidFill>
                <a:latin typeface="Arial"/>
              </a:rPr>
              <a:t>every fact can be traced back to a section and page of the PDF, and a data-quality panel lists problems (near-duplicate names, facts without a source…).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28600"/>
            <a:ext cx="8522208" cy="566928"/>
          </a:xfrm>
        </p:spPr>
        <p:txBody>
          <a:bodyPr>
            <a:normAutofit/>
          </a:bodyPr>
          <a:lstStyle/>
          <a:p>
            <a:r>
              <a:rPr sz="2600">
                <a:solidFill>
                  <a:srgbClr val="222222"/>
                </a:solidFill>
                <a:latin typeface="Arial"/>
              </a:rPr>
              <a:t>Numbers 1/3 — how well are the questions answered?</a:t>
            </a:r>
          </a:p>
        </p:txBody>
      </p:sp>
      <p:graphicFrame>
        <p:nvGraphicFramePr>
          <p:cNvPr id="3" name="Chart 2"/>
          <p:cNvGraphicFramePr>
            <a:graphicFrameLocks noGrp="1"/>
          </p:cNvGraphicFramePr>
          <p:nvPr/>
        </p:nvGraphicFramePr>
        <p:xfrm>
          <a:off x="310896" y="868680"/>
          <a:ext cx="4206240" cy="283464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4626864" y="868680"/>
          <a:ext cx="4206240" cy="2834640"/>
        </p:xfrm>
        <a:graphic>
          <a:graphicData uri="http://schemas.openxmlformats.org/drawingml/2006/chart">
            <c:chart xmlns:c="http://schemas.openxmlformats.org/drawingml/2006/chart" r:id="rId3"/>
          </a:graphicData>
        </a:graphic>
      </p:graphicFrame>
      <p:sp>
        <p:nvSpPr>
          <p:cNvPr id="5" name="Rounded Rectangle 4"/>
          <p:cNvSpPr/>
          <p:nvPr/>
        </p:nvSpPr>
        <p:spPr>
          <a:xfrm>
            <a:off x="310896" y="3767328"/>
            <a:ext cx="4206240" cy="114300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000" b="1" i="0">
                <a:solidFill>
                  <a:srgbClr val="058DC7"/>
                </a:solidFill>
                <a:latin typeface="Arial"/>
              </a:rPr>
              <a:t>Take-away</a:t>
            </a:r>
          </a:p>
          <a:p>
            <a:pPr algn="l">
              <a:spcAft>
                <a:spcPts val="200"/>
              </a:spcAft>
            </a:pPr>
            <a:r>
              <a:rPr sz="1000" b="0" i="0">
                <a:solidFill>
                  <a:srgbClr val="222222"/>
                </a:solidFill>
                <a:latin typeface="Arial"/>
              </a:rPr>
              <a:t>If a question's page is in the ontology, it scores 0.83–0.94. If the page failed, it drops: Tech Spec questions on failed pages score only 0.09. So most of the lost score is missing pages, not wrong modelling.</a:t>
            </a:r>
          </a:p>
        </p:txBody>
      </p:sp>
      <p:sp>
        <p:nvSpPr>
          <p:cNvPr id="6" name="Rounded Rectangle 5"/>
          <p:cNvSpPr/>
          <p:nvPr/>
        </p:nvSpPr>
        <p:spPr>
          <a:xfrm>
            <a:off x="4626864" y="3767328"/>
            <a:ext cx="4206240" cy="114300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000" b="1" i="0">
                <a:solidFill>
                  <a:srgbClr val="058DC7"/>
                </a:solidFill>
                <a:latin typeface="Arial"/>
              </a:rPr>
              <a:t>Take-away</a:t>
            </a:r>
          </a:p>
          <a:p>
            <a:pPr algn="l">
              <a:spcAft>
                <a:spcPts val="200"/>
              </a:spcAft>
            </a:pPr>
            <a:r>
              <a:rPr sz="1000" b="0" i="0">
                <a:solidFill>
                  <a:srgbClr val="222222"/>
                </a:solidFill>
                <a:latin typeface="Arial"/>
              </a:rPr>
              <a:t>186 of 240 sampled questions are fully correct (78%), 21 partly, 33 wrong or without an answer. Held-out reference questions (number → score): Tech Spec 7 → 0.97; Service Levels 1 → 0.00.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28600"/>
            <a:ext cx="8522208" cy="566928"/>
          </a:xfrm>
        </p:spPr>
        <p:txBody>
          <a:bodyPr>
            <a:normAutofit/>
          </a:bodyPr>
          <a:lstStyle/>
          <a:p>
            <a:r>
              <a:rPr sz="2600">
                <a:solidFill>
                  <a:srgbClr val="222222"/>
                </a:solidFill>
                <a:latin typeface="Arial"/>
              </a:rPr>
              <a:t>Numbers 2/3 — how much was built?</a:t>
            </a:r>
          </a:p>
        </p:txBody>
      </p:sp>
      <p:graphicFrame>
        <p:nvGraphicFramePr>
          <p:cNvPr id="3" name="Chart 2"/>
          <p:cNvGraphicFramePr>
            <a:graphicFrameLocks noGrp="1"/>
          </p:cNvGraphicFramePr>
          <p:nvPr/>
        </p:nvGraphicFramePr>
        <p:xfrm>
          <a:off x="310896" y="868680"/>
          <a:ext cx="4206240" cy="283464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4626864" y="868680"/>
          <a:ext cx="4206240" cy="2834640"/>
        </p:xfrm>
        <a:graphic>
          <a:graphicData uri="http://schemas.openxmlformats.org/drawingml/2006/chart">
            <c:chart xmlns:c="http://schemas.openxmlformats.org/drawingml/2006/chart" r:id="rId3"/>
          </a:graphicData>
        </a:graphic>
      </p:graphicFrame>
      <p:sp>
        <p:nvSpPr>
          <p:cNvPr id="5" name="Rounded Rectangle 4"/>
          <p:cNvSpPr/>
          <p:nvPr/>
        </p:nvSpPr>
        <p:spPr>
          <a:xfrm>
            <a:off x="310896" y="3767328"/>
            <a:ext cx="4206240" cy="114300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000" b="1" i="0">
                <a:solidFill>
                  <a:srgbClr val="058DC7"/>
                </a:solidFill>
                <a:latin typeface="Arial"/>
              </a:rPr>
              <a:t>Take-away</a:t>
            </a:r>
          </a:p>
          <a:p>
            <a:pPr algn="l">
              <a:spcAft>
                <a:spcPts val="200"/>
              </a:spcAft>
            </a:pPr>
            <a:r>
              <a:rPr sz="1000" b="0" i="0">
                <a:solidFill>
                  <a:srgbClr val="222222"/>
                </a:solidFill>
                <a:latin typeface="Arial"/>
              </a:rPr>
              <a:t>46 of the 51 chosen pages made it into the ontology (90%). The chosen pages are only 51 of the 188 pages in these four documents: the ones that mention NNI Group, CVC, AVC, bearers and service levels most.</a:t>
            </a:r>
          </a:p>
        </p:txBody>
      </p:sp>
      <p:sp>
        <p:nvSpPr>
          <p:cNvPr id="6" name="Rounded Rectangle 5"/>
          <p:cNvSpPr/>
          <p:nvPr/>
        </p:nvSpPr>
        <p:spPr>
          <a:xfrm>
            <a:off x="4626864" y="3767328"/>
            <a:ext cx="4206240" cy="114300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000" b="1" i="0">
                <a:solidFill>
                  <a:srgbClr val="058DC7"/>
                </a:solidFill>
                <a:latin typeface="Arial"/>
              </a:rPr>
              <a:t>Take-away</a:t>
            </a:r>
          </a:p>
          <a:p>
            <a:pPr algn="l">
              <a:spcAft>
                <a:spcPts val="200"/>
              </a:spcAft>
            </a:pPr>
            <a:r>
              <a:rPr sz="1000" b="0" i="0">
                <a:solidFill>
                  <a:srgbClr val="222222"/>
                </a:solidFill>
                <a:latin typeface="Arial"/>
              </a:rPr>
              <a:t>Merged (a term found in two documents counted once): 351 new classes, 651 new properties, 1239 facts, on top of Farzad's 24 classes and 73 properties. 72% of the facts carry a source clause.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28600"/>
            <a:ext cx="8522208" cy="566928"/>
          </a:xfrm>
        </p:spPr>
        <p:txBody>
          <a:bodyPr>
            <a:normAutofit/>
          </a:bodyPr>
          <a:lstStyle/>
          <a:p>
            <a:r>
              <a:rPr sz="2600">
                <a:solidFill>
                  <a:srgbClr val="222222"/>
                </a:solidFill>
                <a:latin typeface="Arial"/>
              </a:rPr>
              <a:t>Numbers 3/3 — what does it cost?</a:t>
            </a:r>
          </a:p>
        </p:txBody>
      </p:sp>
      <p:graphicFrame>
        <p:nvGraphicFramePr>
          <p:cNvPr id="3" name="Chart 2"/>
          <p:cNvGraphicFramePr>
            <a:graphicFrameLocks noGrp="1"/>
          </p:cNvGraphicFramePr>
          <p:nvPr/>
        </p:nvGraphicFramePr>
        <p:xfrm>
          <a:off x="310896" y="868680"/>
          <a:ext cx="4206240" cy="283464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4626864" y="868680"/>
          <a:ext cx="4206240" cy="2834640"/>
        </p:xfrm>
        <a:graphic>
          <a:graphicData uri="http://schemas.openxmlformats.org/drawingml/2006/chart">
            <c:chart xmlns:c="http://schemas.openxmlformats.org/drawingml/2006/chart" r:id="rId3"/>
          </a:graphicData>
        </a:graphic>
      </p:graphicFrame>
      <p:sp>
        <p:nvSpPr>
          <p:cNvPr id="5" name="Rounded Rectangle 4"/>
          <p:cNvSpPr/>
          <p:nvPr/>
        </p:nvSpPr>
        <p:spPr>
          <a:xfrm>
            <a:off x="310896" y="3767328"/>
            <a:ext cx="4206240" cy="114300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000" b="1" i="0">
                <a:solidFill>
                  <a:srgbClr val="058DC7"/>
                </a:solidFill>
                <a:latin typeface="Arial"/>
              </a:rPr>
              <a:t>Take-away</a:t>
            </a:r>
          </a:p>
          <a:p>
            <a:pPr algn="l">
              <a:spcAft>
                <a:spcPts val="200"/>
              </a:spcAft>
            </a:pPr>
            <a:r>
              <a:rPr sz="1000" b="0" i="0">
                <a:solidFill>
                  <a:srgbClr val="222222"/>
                </a:solidFill>
                <a:latin typeface="Arial"/>
              </a:rPr>
              <a:t>A page costs more as the ontology grows, because the whole file is pasted into every prompt: median 0.4M input tokens below 2,000 triples, 0.9M above 4,000. A failed or empty page costs a median 2.5M, 4.2× a normal page.</a:t>
            </a:r>
          </a:p>
        </p:txBody>
      </p:sp>
      <p:sp>
        <p:nvSpPr>
          <p:cNvPr id="6" name="Rounded Rectangle 5"/>
          <p:cNvSpPr/>
          <p:nvPr/>
        </p:nvSpPr>
        <p:spPr>
          <a:xfrm>
            <a:off x="4626864" y="3767328"/>
            <a:ext cx="4206240" cy="1143000"/>
          </a:xfrm>
          <a:prstGeom prst="roundRect">
            <a:avLst>
              <a:gd name="adj" fmla="val 8000"/>
            </a:avLst>
          </a:prstGeom>
          <a:solidFill>
            <a:srgbClr val="E1F2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spcAft>
                <a:spcPts val="200"/>
              </a:spcAft>
            </a:pPr>
            <a:r>
              <a:rPr sz="1000" b="1" i="0">
                <a:solidFill>
                  <a:srgbClr val="058DC7"/>
                </a:solidFill>
                <a:latin typeface="Arial"/>
              </a:rPr>
              <a:t>Take-away</a:t>
            </a:r>
          </a:p>
          <a:p>
            <a:pPr algn="l">
              <a:spcAft>
                <a:spcPts val="200"/>
              </a:spcAft>
            </a:pPr>
            <a:r>
              <a:rPr sz="1000" b="0" i="0">
                <a:solidFill>
                  <a:srgbClr val="222222"/>
                </a:solidFill>
                <a:latin typeface="Arial"/>
              </a:rPr>
              <a:t>23% of the input tokens (9.4M of 40.5M) went on pages that produced nothing. Ontology stage only: 40.5M input and 1.29M output tokens, about $3.9 at list price (the real bill is lower: cached input is cheaper). The whole run (questions, ontologies, evaluation, retries) was 69.5M input / 1.78M output tokens in 127 minutes, about $6.65 at list price.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28600"/>
            <a:ext cx="8522208" cy="566928"/>
          </a:xfrm>
        </p:spPr>
        <p:txBody>
          <a:bodyPr>
            <a:normAutofit/>
          </a:bodyPr>
          <a:lstStyle/>
          <a:p>
            <a:r>
              <a:rPr sz="2600">
                <a:solidFill>
                  <a:srgbClr val="222222"/>
                </a:solidFill>
                <a:latin typeface="Arial"/>
              </a:rPr>
              <a:t>Table 1 (paper style): the documents we used</a:t>
            </a:r>
          </a:p>
        </p:txBody>
      </p:sp>
      <p:graphicFrame>
        <p:nvGraphicFramePr>
          <p:cNvPr id="3" name="Table 2"/>
          <p:cNvGraphicFramePr>
            <a:graphicFrameLocks noGrp="1"/>
          </p:cNvGraphicFramePr>
          <p:nvPr/>
        </p:nvGraphicFramePr>
        <p:xfrm>
          <a:off x="310896" y="914400"/>
          <a:ext cx="8522208" cy="2962656"/>
        </p:xfrm>
        <a:graphic>
          <a:graphicData uri="http://schemas.openxmlformats.org/drawingml/2006/table">
            <a:tbl>
              <a:tblPr firstRow="0" bandRow="0">
                <a:tableStyleId>{2D5ABB26-0587-4C30-8999-92F81FD0307C}</a:tableStyleId>
              </a:tblPr>
              <a:tblGrid>
                <a:gridCol w="2377440"/>
                <a:gridCol w="1536192"/>
                <a:gridCol w="1536192"/>
                <a:gridCol w="1536192"/>
                <a:gridCol w="1536192"/>
              </a:tblGrid>
              <a:tr h="329184">
                <a:tc>
                  <a:txBody>
                    <a:bodyPr wrap="square"/>
                    <a:lstStyle/>
                    <a:p>
                      <a:pPr algn="l"/>
                      <a:r>
                        <a:rPr sz="1000" b="1" i="0">
                          <a:solidFill>
                            <a:srgbClr val="FFFFFF"/>
                          </a:solidFill>
                          <a:latin typeface="Arial"/>
                        </a:rPr>
                        <a:t>Metric</a:t>
                      </a:r>
                    </a:p>
                  </a:txBody>
                  <a:tcPr marL="54864" marR="54864" marT="27432" marB="27432" anchor="ctr">
                    <a:solidFill>
                      <a:srgbClr val="058DC7"/>
                    </a:solidFill>
                  </a:tcPr>
                </a:tc>
                <a:tc>
                  <a:txBody>
                    <a:bodyPr wrap="square"/>
                    <a:lstStyle/>
                    <a:p>
                      <a:pPr algn="ctr"/>
                      <a:r>
                        <a:rPr sz="1000" b="1" i="0">
                          <a:solidFill>
                            <a:srgbClr val="FFFFFF"/>
                          </a:solidFill>
                          <a:latin typeface="Arial"/>
                        </a:rPr>
                        <a:t>Tech Spec</a:t>
                      </a:r>
                    </a:p>
                  </a:txBody>
                  <a:tcPr marL="54864" marR="54864" marT="27432" marB="27432" anchor="ctr">
                    <a:solidFill>
                      <a:srgbClr val="058DC7"/>
                    </a:solidFill>
                  </a:tcPr>
                </a:tc>
                <a:tc>
                  <a:txBody>
                    <a:bodyPr wrap="square"/>
                    <a:lstStyle/>
                    <a:p>
                      <a:pPr algn="ctr"/>
                      <a:r>
                        <a:rPr sz="1000" b="1" i="0">
                          <a:solidFill>
                            <a:srgbClr val="FFFFFF"/>
                          </a:solidFill>
                          <a:latin typeface="Arial"/>
                        </a:rPr>
                        <a:t>Product Desc.</a:t>
                      </a:r>
                    </a:p>
                  </a:txBody>
                  <a:tcPr marL="54864" marR="54864" marT="27432" marB="27432" anchor="ctr">
                    <a:solidFill>
                      <a:srgbClr val="058DC7"/>
                    </a:solidFill>
                  </a:tcPr>
                </a:tc>
                <a:tc>
                  <a:txBody>
                    <a:bodyPr wrap="square"/>
                    <a:lstStyle/>
                    <a:p>
                      <a:pPr algn="ctr"/>
                      <a:r>
                        <a:rPr sz="1000" b="1" i="0">
                          <a:solidFill>
                            <a:srgbClr val="FFFFFF"/>
                          </a:solidFill>
                          <a:latin typeface="Arial"/>
                        </a:rPr>
                        <a:t>Price List</a:t>
                      </a:r>
                    </a:p>
                  </a:txBody>
                  <a:tcPr marL="54864" marR="54864" marT="27432" marB="27432" anchor="ctr">
                    <a:solidFill>
                      <a:srgbClr val="058DC7"/>
                    </a:solidFill>
                  </a:tcPr>
                </a:tc>
                <a:tc>
                  <a:txBody>
                    <a:bodyPr wrap="square"/>
                    <a:lstStyle/>
                    <a:p>
                      <a:pPr algn="ctr"/>
                      <a:r>
                        <a:rPr sz="1000" b="1" i="0">
                          <a:solidFill>
                            <a:srgbClr val="FFFFFF"/>
                          </a:solidFill>
                          <a:latin typeface="Arial"/>
                        </a:rPr>
                        <a:t>Service Levels</a:t>
                      </a:r>
                    </a:p>
                  </a:txBody>
                  <a:tcPr marL="54864" marR="54864" marT="27432" marB="27432" anchor="ctr">
                    <a:solidFill>
                      <a:srgbClr val="058DC7"/>
                    </a:solidFill>
                  </a:tcPr>
                </a:tc>
              </a:tr>
              <a:tr h="329184">
                <a:tc>
                  <a:txBody>
                    <a:bodyPr wrap="square"/>
                    <a:lstStyle/>
                    <a:p>
                      <a:pPr algn="l"/>
                      <a:r>
                        <a:rPr sz="1000" b="1" i="0">
                          <a:solidFill>
                            <a:srgbClr val="222222"/>
                          </a:solidFill>
                          <a:latin typeface="Arial"/>
                        </a:rPr>
                        <a:t>Document (nbn Ethernet)</a:t>
                      </a:r>
                    </a:p>
                  </a:txBody>
                  <a:tcPr marL="54864" marR="54864" marT="27432" marB="27432" anchor="ctr">
                    <a:solidFill>
                      <a:srgbClr val="FFFFFF"/>
                    </a:solidFill>
                  </a:tcPr>
                </a:tc>
                <a:tc>
                  <a:txBody>
                    <a:bodyPr wrap="square"/>
                    <a:lstStyle/>
                    <a:p>
                      <a:pPr algn="ctr"/>
                      <a:r>
                        <a:rPr sz="1000" b="0" i="0">
                          <a:solidFill>
                            <a:srgbClr val="222222"/>
                          </a:solidFill>
                          <a:latin typeface="Arial"/>
                        </a:rPr>
                        <a:t>Product Technical Specification</a:t>
                      </a:r>
                    </a:p>
                  </a:txBody>
                  <a:tcPr marL="54864" marR="54864" marT="27432" marB="27432" anchor="ctr">
                    <a:solidFill>
                      <a:srgbClr val="FFFFFF"/>
                    </a:solidFill>
                  </a:tcPr>
                </a:tc>
                <a:tc>
                  <a:txBody>
                    <a:bodyPr wrap="square"/>
                    <a:lstStyle/>
                    <a:p>
                      <a:pPr algn="ctr"/>
                      <a:r>
                        <a:rPr sz="1000" b="0" i="0">
                          <a:solidFill>
                            <a:srgbClr val="222222"/>
                          </a:solidFill>
                          <a:latin typeface="Arial"/>
                        </a:rPr>
                        <a:t>Product Description</a:t>
                      </a:r>
                    </a:p>
                  </a:txBody>
                  <a:tcPr marL="54864" marR="54864" marT="27432" marB="27432" anchor="ctr">
                    <a:solidFill>
                      <a:srgbClr val="FFFFFF"/>
                    </a:solidFill>
                  </a:tcPr>
                </a:tc>
                <a:tc>
                  <a:txBody>
                    <a:bodyPr wrap="square"/>
                    <a:lstStyle/>
                    <a:p>
                      <a:pPr algn="ctr"/>
                      <a:r>
                        <a:rPr sz="1000" b="0" i="0">
                          <a:solidFill>
                            <a:srgbClr val="222222"/>
                          </a:solidFill>
                          <a:latin typeface="Arial"/>
                        </a:rPr>
                        <a:t>Price List</a:t>
                      </a:r>
                    </a:p>
                  </a:txBody>
                  <a:tcPr marL="54864" marR="54864" marT="27432" marB="27432" anchor="ctr">
                    <a:solidFill>
                      <a:srgbClr val="FFFFFF"/>
                    </a:solidFill>
                  </a:tcPr>
                </a:tc>
                <a:tc>
                  <a:txBody>
                    <a:bodyPr wrap="square"/>
                    <a:lstStyle/>
                    <a:p>
                      <a:pPr algn="ctr"/>
                      <a:r>
                        <a:rPr sz="1000" b="0" i="0">
                          <a:solidFill>
                            <a:srgbClr val="222222"/>
                          </a:solidFill>
                          <a:latin typeface="Arial"/>
                        </a:rPr>
                        <a:t>Service Levels Schedule</a:t>
                      </a:r>
                    </a:p>
                  </a:txBody>
                  <a:tcPr marL="54864" marR="54864" marT="27432" marB="27432" anchor="ctr">
                    <a:solidFill>
                      <a:srgbClr val="FFFFFF"/>
                    </a:solidFill>
                  </a:tcPr>
                </a:tc>
              </a:tr>
              <a:tr h="329184">
                <a:tc>
                  <a:txBody>
                    <a:bodyPr wrap="square"/>
                    <a:lstStyle/>
                    <a:p>
                      <a:pPr algn="l"/>
                      <a:r>
                        <a:rPr sz="1000" b="1" i="0">
                          <a:solidFill>
                            <a:srgbClr val="222222"/>
                          </a:solidFill>
                          <a:latin typeface="Arial"/>
                        </a:rPr>
                        <a:t>Version date</a:t>
                      </a:r>
                    </a:p>
                  </a:txBody>
                  <a:tcPr marL="54864" marR="54864" marT="27432" marB="27432" anchor="ctr">
                    <a:solidFill>
                      <a:srgbClr val="F3F3F3"/>
                    </a:solidFill>
                  </a:tcPr>
                </a:tc>
                <a:tc>
                  <a:txBody>
                    <a:bodyPr wrap="square"/>
                    <a:lstStyle/>
                    <a:p>
                      <a:pPr algn="ctr"/>
                      <a:r>
                        <a:rPr sz="1000" b="0" i="0">
                          <a:solidFill>
                            <a:srgbClr val="222222"/>
                          </a:solidFill>
                          <a:latin typeface="Arial"/>
                        </a:rPr>
                        <a:t>2026-09-01</a:t>
                      </a:r>
                    </a:p>
                  </a:txBody>
                  <a:tcPr marL="54864" marR="54864" marT="27432" marB="27432" anchor="ctr">
                    <a:solidFill>
                      <a:srgbClr val="F3F3F3"/>
                    </a:solidFill>
                  </a:tcPr>
                </a:tc>
                <a:tc>
                  <a:txBody>
                    <a:bodyPr wrap="square"/>
                    <a:lstStyle/>
                    <a:p>
                      <a:pPr algn="ctr"/>
                      <a:r>
                        <a:rPr sz="1000" b="0" i="0">
                          <a:solidFill>
                            <a:srgbClr val="222222"/>
                          </a:solidFill>
                          <a:latin typeface="Arial"/>
                        </a:rPr>
                        <a:t>2026-09-01</a:t>
                      </a:r>
                    </a:p>
                  </a:txBody>
                  <a:tcPr marL="54864" marR="54864" marT="27432" marB="27432" anchor="ctr">
                    <a:solidFill>
                      <a:srgbClr val="F3F3F3"/>
                    </a:solidFill>
                  </a:tcPr>
                </a:tc>
                <a:tc>
                  <a:txBody>
                    <a:bodyPr wrap="square"/>
                    <a:lstStyle/>
                    <a:p>
                      <a:pPr algn="ctr"/>
                      <a:r>
                        <a:rPr sz="1000" b="0" i="0">
                          <a:solidFill>
                            <a:srgbClr val="222222"/>
                          </a:solidFill>
                          <a:latin typeface="Arial"/>
                        </a:rPr>
                        <a:t>2026-07-01</a:t>
                      </a:r>
                    </a:p>
                  </a:txBody>
                  <a:tcPr marL="54864" marR="54864" marT="27432" marB="27432" anchor="ctr">
                    <a:solidFill>
                      <a:srgbClr val="F3F3F3"/>
                    </a:solidFill>
                  </a:tcPr>
                </a:tc>
                <a:tc>
                  <a:txBody>
                    <a:bodyPr wrap="square"/>
                    <a:lstStyle/>
                    <a:p>
                      <a:pPr algn="ctr"/>
                      <a:r>
                        <a:rPr sz="1000" b="0" i="0">
                          <a:solidFill>
                            <a:srgbClr val="222222"/>
                          </a:solidFill>
                          <a:latin typeface="Arial"/>
                        </a:rPr>
                        <a:t>2026-07-01</a:t>
                      </a:r>
                    </a:p>
                  </a:txBody>
                  <a:tcPr marL="54864" marR="54864" marT="27432" marB="27432" anchor="ctr">
                    <a:solidFill>
                      <a:srgbClr val="F3F3F3"/>
                    </a:solidFill>
                  </a:tcPr>
                </a:tc>
              </a:tr>
              <a:tr h="329184">
                <a:tc>
                  <a:txBody>
                    <a:bodyPr wrap="square"/>
                    <a:lstStyle/>
                    <a:p>
                      <a:pPr algn="l"/>
                      <a:r>
                        <a:rPr sz="1000" b="1" i="0">
                          <a:solidFill>
                            <a:srgbClr val="222222"/>
                          </a:solidFill>
                          <a:latin typeface="Arial"/>
                        </a:rPr>
                        <a:t>Pages in the PDF</a:t>
                      </a:r>
                    </a:p>
                  </a:txBody>
                  <a:tcPr marL="54864" marR="54864" marT="27432" marB="27432" anchor="ctr">
                    <a:solidFill>
                      <a:srgbClr val="FFFFFF"/>
                    </a:solidFill>
                  </a:tcPr>
                </a:tc>
                <a:tc>
                  <a:txBody>
                    <a:bodyPr wrap="square"/>
                    <a:lstStyle/>
                    <a:p>
                      <a:pPr algn="ctr"/>
                      <a:r>
                        <a:rPr sz="1000" b="0" i="0">
                          <a:solidFill>
                            <a:srgbClr val="222222"/>
                          </a:solidFill>
                          <a:latin typeface="Arial"/>
                        </a:rPr>
                        <a:t>84</a:t>
                      </a:r>
                    </a:p>
                  </a:txBody>
                  <a:tcPr marL="54864" marR="54864" marT="27432" marB="27432" anchor="ctr">
                    <a:solidFill>
                      <a:srgbClr val="FFFFFF"/>
                    </a:solidFill>
                  </a:tcPr>
                </a:tc>
                <a:tc>
                  <a:txBody>
                    <a:bodyPr wrap="square"/>
                    <a:lstStyle/>
                    <a:p>
                      <a:pPr algn="ctr"/>
                      <a:r>
                        <a:rPr sz="1000" b="0" i="0">
                          <a:solidFill>
                            <a:srgbClr val="222222"/>
                          </a:solidFill>
                          <a:latin typeface="Arial"/>
                        </a:rPr>
                        <a:t>32</a:t>
                      </a:r>
                    </a:p>
                  </a:txBody>
                  <a:tcPr marL="54864" marR="54864" marT="27432" marB="27432" anchor="ctr">
                    <a:solidFill>
                      <a:srgbClr val="FFFFFF"/>
                    </a:solidFill>
                  </a:tcPr>
                </a:tc>
                <a:tc>
                  <a:txBody>
                    <a:bodyPr wrap="square"/>
                    <a:lstStyle/>
                    <a:p>
                      <a:pPr algn="ctr"/>
                      <a:r>
                        <a:rPr sz="1000" b="0" i="0">
                          <a:solidFill>
                            <a:srgbClr val="222222"/>
                          </a:solidFill>
                          <a:latin typeface="Arial"/>
                        </a:rPr>
                        <a:t>22</a:t>
                      </a:r>
                    </a:p>
                  </a:txBody>
                  <a:tcPr marL="54864" marR="54864" marT="27432" marB="27432" anchor="ctr">
                    <a:solidFill>
                      <a:srgbClr val="FFFFFF"/>
                    </a:solidFill>
                  </a:tcPr>
                </a:tc>
                <a:tc>
                  <a:txBody>
                    <a:bodyPr wrap="square"/>
                    <a:lstStyle/>
                    <a:p>
                      <a:pPr algn="ctr"/>
                      <a:r>
                        <a:rPr sz="1000" b="0" i="0">
                          <a:solidFill>
                            <a:srgbClr val="222222"/>
                          </a:solidFill>
                          <a:latin typeface="Arial"/>
                        </a:rPr>
                        <a:t>50</a:t>
                      </a:r>
                    </a:p>
                  </a:txBody>
                  <a:tcPr marL="54864" marR="54864" marT="27432" marB="27432" anchor="ctr">
                    <a:solidFill>
                      <a:srgbClr val="FFFFFF"/>
                    </a:solidFill>
                  </a:tcPr>
                </a:tc>
              </a:tr>
              <a:tr h="329184">
                <a:tc>
                  <a:txBody>
                    <a:bodyPr wrap="square"/>
                    <a:lstStyle/>
                    <a:p>
                      <a:pPr algn="l"/>
                      <a:r>
                        <a:rPr sz="1000" b="1" i="0">
                          <a:solidFill>
                            <a:srgbClr val="222222"/>
                          </a:solidFill>
                          <a:latin typeface="Arial"/>
                        </a:rPr>
                        <a:t>Pages chosen</a:t>
                      </a:r>
                    </a:p>
                  </a:txBody>
                  <a:tcPr marL="54864" marR="54864" marT="27432" marB="27432" anchor="ctr">
                    <a:solidFill>
                      <a:srgbClr val="F3F3F3"/>
                    </a:solidFill>
                  </a:tcPr>
                </a:tc>
                <a:tc>
                  <a:txBody>
                    <a:bodyPr wrap="square"/>
                    <a:lstStyle/>
                    <a:p>
                      <a:pPr algn="ctr"/>
                      <a:r>
                        <a:rPr sz="1000" b="0" i="0">
                          <a:solidFill>
                            <a:srgbClr val="222222"/>
                          </a:solidFill>
                          <a:latin typeface="Arial"/>
                        </a:rPr>
                        <a:t>25</a:t>
                      </a:r>
                    </a:p>
                  </a:txBody>
                  <a:tcPr marL="54864" marR="54864" marT="27432" marB="27432" anchor="ctr">
                    <a:solidFill>
                      <a:srgbClr val="F3F3F3"/>
                    </a:solidFill>
                  </a:tcPr>
                </a:tc>
                <a:tc>
                  <a:txBody>
                    <a:bodyPr wrap="square"/>
                    <a:lstStyle/>
                    <a:p>
                      <a:pPr algn="ctr"/>
                      <a:r>
                        <a:rPr sz="1000" b="0" i="0">
                          <a:solidFill>
                            <a:srgbClr val="222222"/>
                          </a:solidFill>
                          <a:latin typeface="Arial"/>
                        </a:rPr>
                        <a:t>11</a:t>
                      </a:r>
                    </a:p>
                  </a:txBody>
                  <a:tcPr marL="54864" marR="54864" marT="27432" marB="27432" anchor="ctr">
                    <a:solidFill>
                      <a:srgbClr val="F3F3F3"/>
                    </a:solidFill>
                  </a:tcPr>
                </a:tc>
                <a:tc>
                  <a:txBody>
                    <a:bodyPr wrap="square"/>
                    <a:lstStyle/>
                    <a:p>
                      <a:pPr algn="ctr"/>
                      <a:r>
                        <a:rPr sz="1000" b="0" i="0">
                          <a:solidFill>
                            <a:srgbClr val="222222"/>
                          </a:solidFill>
                          <a:latin typeface="Arial"/>
                        </a:rPr>
                        <a:t>10</a:t>
                      </a:r>
                    </a:p>
                  </a:txBody>
                  <a:tcPr marL="54864" marR="54864" marT="27432" marB="27432" anchor="ctr">
                    <a:solidFill>
                      <a:srgbClr val="F3F3F3"/>
                    </a:solidFill>
                  </a:tcPr>
                </a:tc>
                <a:tc>
                  <a:txBody>
                    <a:bodyPr wrap="square"/>
                    <a:lstStyle/>
                    <a:p>
                      <a:pPr algn="ctr"/>
                      <a:r>
                        <a:rPr sz="1000" b="0" i="0">
                          <a:solidFill>
                            <a:srgbClr val="222222"/>
                          </a:solidFill>
                          <a:latin typeface="Arial"/>
                        </a:rPr>
                        <a:t>5</a:t>
                      </a:r>
                    </a:p>
                  </a:txBody>
                  <a:tcPr marL="54864" marR="54864" marT="27432" marB="27432" anchor="ctr">
                    <a:solidFill>
                      <a:srgbClr val="F3F3F3"/>
                    </a:solidFill>
                  </a:tcPr>
                </a:tc>
              </a:tr>
              <a:tr h="329184">
                <a:tc>
                  <a:txBody>
                    <a:bodyPr wrap="square"/>
                    <a:lstStyle/>
                    <a:p>
                      <a:pPr algn="l"/>
                      <a:r>
                        <a:rPr sz="1000" b="1" i="0">
                          <a:solidFill>
                            <a:srgbClr val="222222"/>
                          </a:solidFill>
                          <a:latin typeface="Arial"/>
                        </a:rPr>
                        <a:t>Pages that made it in</a:t>
                      </a:r>
                    </a:p>
                  </a:txBody>
                  <a:tcPr marL="54864" marR="54864" marT="27432" marB="27432" anchor="ctr">
                    <a:solidFill>
                      <a:srgbClr val="FFFFFF"/>
                    </a:solidFill>
                  </a:tcPr>
                </a:tc>
                <a:tc>
                  <a:txBody>
                    <a:bodyPr wrap="square"/>
                    <a:lstStyle/>
                    <a:p>
                      <a:pPr algn="ctr"/>
                      <a:r>
                        <a:rPr sz="1000" b="0" i="0">
                          <a:solidFill>
                            <a:srgbClr val="222222"/>
                          </a:solidFill>
                          <a:latin typeface="Arial"/>
                        </a:rPr>
                        <a:t>22</a:t>
                      </a:r>
                    </a:p>
                  </a:txBody>
                  <a:tcPr marL="54864" marR="54864" marT="27432" marB="27432" anchor="ctr">
                    <a:solidFill>
                      <a:srgbClr val="FFFFFF"/>
                    </a:solidFill>
                  </a:tcPr>
                </a:tc>
                <a:tc>
                  <a:txBody>
                    <a:bodyPr wrap="square"/>
                    <a:lstStyle/>
                    <a:p>
                      <a:pPr algn="ctr"/>
                      <a:r>
                        <a:rPr sz="1000" b="0" i="0">
                          <a:solidFill>
                            <a:srgbClr val="222222"/>
                          </a:solidFill>
                          <a:latin typeface="Arial"/>
                        </a:rPr>
                        <a:t>10</a:t>
                      </a:r>
                    </a:p>
                  </a:txBody>
                  <a:tcPr marL="54864" marR="54864" marT="27432" marB="27432" anchor="ctr">
                    <a:solidFill>
                      <a:srgbClr val="FFFFFF"/>
                    </a:solidFill>
                  </a:tcPr>
                </a:tc>
                <a:tc>
                  <a:txBody>
                    <a:bodyPr wrap="square"/>
                    <a:lstStyle/>
                    <a:p>
                      <a:pPr algn="ctr"/>
                      <a:r>
                        <a:rPr sz="1000" b="0" i="0">
                          <a:solidFill>
                            <a:srgbClr val="222222"/>
                          </a:solidFill>
                          <a:latin typeface="Arial"/>
                        </a:rPr>
                        <a:t>9</a:t>
                      </a:r>
                    </a:p>
                  </a:txBody>
                  <a:tcPr marL="54864" marR="54864" marT="27432" marB="27432" anchor="ctr">
                    <a:solidFill>
                      <a:srgbClr val="FFFFFF"/>
                    </a:solidFill>
                  </a:tcPr>
                </a:tc>
                <a:tc>
                  <a:txBody>
                    <a:bodyPr wrap="square"/>
                    <a:lstStyle/>
                    <a:p>
                      <a:pPr algn="ctr"/>
                      <a:r>
                        <a:rPr sz="1000" b="0" i="0">
                          <a:solidFill>
                            <a:srgbClr val="222222"/>
                          </a:solidFill>
                          <a:latin typeface="Arial"/>
                        </a:rPr>
                        <a:t>5</a:t>
                      </a:r>
                    </a:p>
                  </a:txBody>
                  <a:tcPr marL="54864" marR="54864" marT="27432" marB="27432" anchor="ctr">
                    <a:solidFill>
                      <a:srgbClr val="FFFFFF"/>
                    </a:solidFill>
                  </a:tcPr>
                </a:tc>
              </a:tr>
              <a:tr h="329184">
                <a:tc>
                  <a:txBody>
                    <a:bodyPr wrap="square"/>
                    <a:lstStyle/>
                    <a:p>
                      <a:pPr algn="l"/>
                      <a:r>
                        <a:rPr sz="1000" b="1" i="0">
                          <a:solidFill>
                            <a:srgbClr val="222222"/>
                          </a:solidFill>
                          <a:latin typeface="Arial"/>
                        </a:rPr>
                        <a:t>Words on the chosen pages</a:t>
                      </a:r>
                    </a:p>
                  </a:txBody>
                  <a:tcPr marL="54864" marR="54864" marT="27432" marB="27432" anchor="ctr">
                    <a:solidFill>
                      <a:srgbClr val="F3F3F3"/>
                    </a:solidFill>
                  </a:tcPr>
                </a:tc>
                <a:tc>
                  <a:txBody>
                    <a:bodyPr wrap="square"/>
                    <a:lstStyle/>
                    <a:p>
                      <a:pPr algn="ctr"/>
                      <a:r>
                        <a:rPr sz="1000" b="0" i="0">
                          <a:solidFill>
                            <a:srgbClr val="222222"/>
                          </a:solidFill>
                          <a:latin typeface="Arial"/>
                        </a:rPr>
                        <a:t>7,436</a:t>
                      </a:r>
                    </a:p>
                  </a:txBody>
                  <a:tcPr marL="54864" marR="54864" marT="27432" marB="27432" anchor="ctr">
                    <a:solidFill>
                      <a:srgbClr val="F3F3F3"/>
                    </a:solidFill>
                  </a:tcPr>
                </a:tc>
                <a:tc>
                  <a:txBody>
                    <a:bodyPr wrap="square"/>
                    <a:lstStyle/>
                    <a:p>
                      <a:pPr algn="ctr"/>
                      <a:r>
                        <a:rPr sz="1000" b="0" i="0">
                          <a:solidFill>
                            <a:srgbClr val="222222"/>
                          </a:solidFill>
                          <a:latin typeface="Arial"/>
                        </a:rPr>
                        <a:t>4,144</a:t>
                      </a:r>
                    </a:p>
                  </a:txBody>
                  <a:tcPr marL="54864" marR="54864" marT="27432" marB="27432" anchor="ctr">
                    <a:solidFill>
                      <a:srgbClr val="F3F3F3"/>
                    </a:solidFill>
                  </a:tcPr>
                </a:tc>
                <a:tc>
                  <a:txBody>
                    <a:bodyPr wrap="square"/>
                    <a:lstStyle/>
                    <a:p>
                      <a:pPr algn="ctr"/>
                      <a:r>
                        <a:rPr sz="1000" b="0" i="0">
                          <a:solidFill>
                            <a:srgbClr val="222222"/>
                          </a:solidFill>
                          <a:latin typeface="Arial"/>
                        </a:rPr>
                        <a:t>3,405</a:t>
                      </a:r>
                    </a:p>
                  </a:txBody>
                  <a:tcPr marL="54864" marR="54864" marT="27432" marB="27432" anchor="ctr">
                    <a:solidFill>
                      <a:srgbClr val="F3F3F3"/>
                    </a:solidFill>
                  </a:tcPr>
                </a:tc>
                <a:tc>
                  <a:txBody>
                    <a:bodyPr wrap="square"/>
                    <a:lstStyle/>
                    <a:p>
                      <a:pPr algn="ctr"/>
                      <a:r>
                        <a:rPr sz="1000" b="0" i="0">
                          <a:solidFill>
                            <a:srgbClr val="222222"/>
                          </a:solidFill>
                          <a:latin typeface="Arial"/>
                        </a:rPr>
                        <a:t>2,051</a:t>
                      </a:r>
                    </a:p>
                  </a:txBody>
                  <a:tcPr marL="54864" marR="54864" marT="27432" marB="27432" anchor="ctr">
                    <a:solidFill>
                      <a:srgbClr val="F3F3F3"/>
                    </a:solidFill>
                  </a:tcPr>
                </a:tc>
              </a:tr>
              <a:tr h="329184">
                <a:tc>
                  <a:txBody>
                    <a:bodyPr wrap="square"/>
                    <a:lstStyle/>
                    <a:p>
                      <a:pPr algn="l"/>
                      <a:r>
                        <a:rPr sz="1000" b="1" i="0">
                          <a:solidFill>
                            <a:srgbClr val="222222"/>
                          </a:solidFill>
                          <a:latin typeface="Arial"/>
                        </a:rPr>
                        <a:t>CQs generated (chosen pages)</a:t>
                      </a:r>
                    </a:p>
                  </a:txBody>
                  <a:tcPr marL="54864" marR="54864" marT="27432" marB="27432" anchor="ctr">
                    <a:solidFill>
                      <a:srgbClr val="FFFFFF"/>
                    </a:solidFill>
                  </a:tcPr>
                </a:tc>
                <a:tc>
                  <a:txBody>
                    <a:bodyPr wrap="square"/>
                    <a:lstStyle/>
                    <a:p>
                      <a:pPr algn="ctr"/>
                      <a:r>
                        <a:rPr sz="1000" b="0" i="0">
                          <a:solidFill>
                            <a:srgbClr val="222222"/>
                          </a:solidFill>
                          <a:latin typeface="Arial"/>
                        </a:rPr>
                        <a:t>513</a:t>
                      </a:r>
                    </a:p>
                  </a:txBody>
                  <a:tcPr marL="54864" marR="54864" marT="27432" marB="27432" anchor="ctr">
                    <a:solidFill>
                      <a:srgbClr val="FFFFFF"/>
                    </a:solidFill>
                  </a:tcPr>
                </a:tc>
                <a:tc>
                  <a:txBody>
                    <a:bodyPr wrap="square"/>
                    <a:lstStyle/>
                    <a:p>
                      <a:pPr algn="ctr"/>
                      <a:r>
                        <a:rPr sz="1000" b="0" i="0">
                          <a:solidFill>
                            <a:srgbClr val="222222"/>
                          </a:solidFill>
                          <a:latin typeface="Arial"/>
                        </a:rPr>
                        <a:t>181</a:t>
                      </a:r>
                    </a:p>
                  </a:txBody>
                  <a:tcPr marL="54864" marR="54864" marT="27432" marB="27432" anchor="ctr">
                    <a:solidFill>
                      <a:srgbClr val="FFFFFF"/>
                    </a:solidFill>
                  </a:tcPr>
                </a:tc>
                <a:tc>
                  <a:txBody>
                    <a:bodyPr wrap="square"/>
                    <a:lstStyle/>
                    <a:p>
                      <a:pPr algn="ctr"/>
                      <a:r>
                        <a:rPr sz="1000" b="0" i="0">
                          <a:solidFill>
                            <a:srgbClr val="222222"/>
                          </a:solidFill>
                          <a:latin typeface="Arial"/>
                        </a:rPr>
                        <a:t>172</a:t>
                      </a:r>
                    </a:p>
                  </a:txBody>
                  <a:tcPr marL="54864" marR="54864" marT="27432" marB="27432" anchor="ctr">
                    <a:solidFill>
                      <a:srgbClr val="FFFFFF"/>
                    </a:solidFill>
                  </a:tcPr>
                </a:tc>
                <a:tc>
                  <a:txBody>
                    <a:bodyPr wrap="square"/>
                    <a:lstStyle/>
                    <a:p>
                      <a:pPr algn="ctr"/>
                      <a:r>
                        <a:rPr sz="1000" b="0" i="0">
                          <a:solidFill>
                            <a:srgbClr val="222222"/>
                          </a:solidFill>
                          <a:latin typeface="Arial"/>
                        </a:rPr>
                        <a:t>95</a:t>
                      </a:r>
                    </a:p>
                  </a:txBody>
                  <a:tcPr marL="54864" marR="54864" marT="27432" marB="27432" anchor="ctr">
                    <a:solidFill>
                      <a:srgbClr val="FFFFFF"/>
                    </a:solidFill>
                  </a:tcPr>
                </a:tc>
              </a:tr>
              <a:tr h="329184">
                <a:tc>
                  <a:txBody>
                    <a:bodyPr wrap="square"/>
                    <a:lstStyle/>
                    <a:p>
                      <a:pPr algn="l"/>
                      <a:r>
                        <a:rPr sz="1000" b="1" i="0">
                          <a:solidFill>
                            <a:srgbClr val="222222"/>
                          </a:solidFill>
                          <a:latin typeface="Arial"/>
                        </a:rPr>
                        <a:t>Number of CQs evaluated</a:t>
                      </a:r>
                    </a:p>
                  </a:txBody>
                  <a:tcPr marL="54864" marR="54864" marT="27432" marB="27432" anchor="ctr">
                    <a:solidFill>
                      <a:srgbClr val="F3F3F3"/>
                    </a:solidFill>
                  </a:tcPr>
                </a:tc>
                <a:tc>
                  <a:txBody>
                    <a:bodyPr wrap="square"/>
                    <a:lstStyle/>
                    <a:p>
                      <a:pPr algn="ctr"/>
                      <a:r>
                        <a:rPr sz="1000" b="0" i="0">
                          <a:solidFill>
                            <a:srgbClr val="222222"/>
                          </a:solidFill>
                          <a:latin typeface="Arial"/>
                        </a:rPr>
                        <a:t>60 (+7 held-out)</a:t>
                      </a:r>
                    </a:p>
                  </a:txBody>
                  <a:tcPr marL="54864" marR="54864" marT="27432" marB="27432" anchor="ctr">
                    <a:solidFill>
                      <a:srgbClr val="F3F3F3"/>
                    </a:solidFill>
                  </a:tcPr>
                </a:tc>
                <a:tc>
                  <a:txBody>
                    <a:bodyPr wrap="square"/>
                    <a:lstStyle/>
                    <a:p>
                      <a:pPr algn="ctr"/>
                      <a:r>
                        <a:rPr sz="1000" b="0" i="0">
                          <a:solidFill>
                            <a:srgbClr val="222222"/>
                          </a:solidFill>
                          <a:latin typeface="Arial"/>
                        </a:rPr>
                        <a:t>60</a:t>
                      </a:r>
                    </a:p>
                  </a:txBody>
                  <a:tcPr marL="54864" marR="54864" marT="27432" marB="27432" anchor="ctr">
                    <a:solidFill>
                      <a:srgbClr val="F3F3F3"/>
                    </a:solidFill>
                  </a:tcPr>
                </a:tc>
                <a:tc>
                  <a:txBody>
                    <a:bodyPr wrap="square"/>
                    <a:lstStyle/>
                    <a:p>
                      <a:pPr algn="ctr"/>
                      <a:r>
                        <a:rPr sz="1000" b="0" i="0">
                          <a:solidFill>
                            <a:srgbClr val="222222"/>
                          </a:solidFill>
                          <a:latin typeface="Arial"/>
                        </a:rPr>
                        <a:t>60</a:t>
                      </a:r>
                    </a:p>
                  </a:txBody>
                  <a:tcPr marL="54864" marR="54864" marT="27432" marB="27432" anchor="ctr">
                    <a:solidFill>
                      <a:srgbClr val="F3F3F3"/>
                    </a:solidFill>
                  </a:tcPr>
                </a:tc>
                <a:tc>
                  <a:txBody>
                    <a:bodyPr wrap="square"/>
                    <a:lstStyle/>
                    <a:p>
                      <a:pPr algn="ctr"/>
                      <a:r>
                        <a:rPr sz="1000" b="0" i="0">
                          <a:solidFill>
                            <a:srgbClr val="222222"/>
                          </a:solidFill>
                          <a:latin typeface="Arial"/>
                        </a:rPr>
                        <a:t>60 (+1 held-out)</a:t>
                      </a:r>
                    </a:p>
                  </a:txBody>
                  <a:tcPr marL="54864" marR="54864" marT="27432" marB="27432" anchor="ctr">
                    <a:solidFill>
                      <a:srgbClr val="F3F3F3"/>
                    </a:solidFill>
                  </a:tcPr>
                </a:tc>
              </a:tr>
            </a:tbl>
          </a:graphicData>
        </a:graphic>
      </p:graphicFrame>
      <p:sp>
        <p:nvSpPr>
          <p:cNvPr id="4" name="Rounded Rectangle 3"/>
          <p:cNvSpPr/>
          <p:nvPr/>
        </p:nvSpPr>
        <p:spPr>
          <a:xfrm>
            <a:off x="310896" y="4114800"/>
            <a:ext cx="8522208" cy="6858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pPr>
            <a:r>
              <a:rPr sz="1000" b="1" i="0">
                <a:solidFill>
                  <a:srgbClr val="222222"/>
                </a:solidFill>
                <a:latin typeface="Arial"/>
              </a:rPr>
              <a:t>Same layout as the paper's Table 1 </a:t>
            </a:r>
            <a:r>
              <a:rPr sz="1000" b="0" i="0">
                <a:solidFill>
                  <a:srgbClr val="222222"/>
                </a:solidFill>
                <a:latin typeface="Arial"/>
              </a:rPr>
              <a:t>(two life-insurance contracts, about 2,000 words each, 161 and 149 CQs). Ours are four real wholesale-broadband documents; only the pages that matter most are used, and 60 sampled CQs per document are evaluated, as in the paper's SPARQL 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28600"/>
            <a:ext cx="8522208" cy="566928"/>
          </a:xfrm>
        </p:spPr>
        <p:txBody>
          <a:bodyPr>
            <a:normAutofit/>
          </a:bodyPr>
          <a:lstStyle/>
          <a:p>
            <a:r>
              <a:rPr sz="2600">
                <a:solidFill>
                  <a:srgbClr val="222222"/>
                </a:solidFill>
                <a:latin typeface="Arial"/>
              </a:rPr>
              <a:t>Table 4 (paper style): CQ coverage of our documents</a:t>
            </a:r>
          </a:p>
        </p:txBody>
      </p:sp>
      <p:graphicFrame>
        <p:nvGraphicFramePr>
          <p:cNvPr id="3" name="Chart 2"/>
          <p:cNvGraphicFramePr>
            <a:graphicFrameLocks noGrp="1"/>
          </p:cNvGraphicFramePr>
          <p:nvPr/>
        </p:nvGraphicFramePr>
        <p:xfrm>
          <a:off x="310896" y="868680"/>
          <a:ext cx="4114800" cy="310896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4572000" y="868680"/>
          <a:ext cx="4261104" cy="2551176"/>
        </p:xfrm>
        <a:graphic>
          <a:graphicData uri="http://schemas.openxmlformats.org/drawingml/2006/table">
            <a:tbl>
              <a:tblPr firstRow="0" bandRow="0">
                <a:tableStyleId>{2D5ABB26-0587-4C30-8999-92F81FD0307C}</a:tableStyleId>
              </a:tblPr>
              <a:tblGrid>
                <a:gridCol w="960120"/>
                <a:gridCol w="1600200"/>
                <a:gridCol w="822960"/>
                <a:gridCol w="877824"/>
              </a:tblGrid>
              <a:tr h="283464">
                <a:tc>
                  <a:txBody>
                    <a:bodyPr wrap="square"/>
                    <a:lstStyle/>
                    <a:p>
                      <a:pPr algn="l"/>
                      <a:r>
                        <a:rPr sz="800" b="1" i="0">
                          <a:solidFill>
                            <a:srgbClr val="FFFFFF"/>
                          </a:solidFill>
                          <a:latin typeface="Arial"/>
                        </a:rPr>
                        <a:t>Sample</a:t>
                      </a:r>
                    </a:p>
                  </a:txBody>
                  <a:tcPr marL="54864" marR="54864" marT="27432" marB="27432" anchor="ctr">
                    <a:solidFill>
                      <a:srgbClr val="058DC7"/>
                    </a:solidFill>
                  </a:tcPr>
                </a:tc>
                <a:tc>
                  <a:txBody>
                    <a:bodyPr wrap="square"/>
                    <a:lstStyle/>
                    <a:p>
                      <a:pPr algn="l"/>
                      <a:r>
                        <a:rPr sz="800" b="1" i="0">
                          <a:solidFill>
                            <a:srgbClr val="FFFFFF"/>
                          </a:solidFill>
                          <a:latin typeface="Arial"/>
                        </a:rPr>
                        <a:t>Metric</a:t>
                      </a:r>
                    </a:p>
                  </a:txBody>
                  <a:tcPr marL="54864" marR="54864" marT="27432" marB="27432" anchor="ctr">
                    <a:solidFill>
                      <a:srgbClr val="058DC7"/>
                    </a:solidFill>
                  </a:tcPr>
                </a:tc>
                <a:tc>
                  <a:txBody>
                    <a:bodyPr wrap="square"/>
                    <a:lstStyle/>
                    <a:p>
                      <a:pPr algn="l"/>
                      <a:r>
                        <a:rPr sz="800" b="1" i="0">
                          <a:solidFill>
                            <a:srgbClr val="FFFFFF"/>
                          </a:solidFill>
                          <a:latin typeface="Arial"/>
                        </a:rPr>
                        <a:t>Direct Generation</a:t>
                      </a:r>
                    </a:p>
                  </a:txBody>
                  <a:tcPr marL="54864" marR="54864" marT="27432" marB="27432" anchor="ctr">
                    <a:solidFill>
                      <a:srgbClr val="058DC7"/>
                    </a:solidFill>
                  </a:tcPr>
                </a:tc>
                <a:tc>
                  <a:txBody>
                    <a:bodyPr wrap="square"/>
                    <a:lstStyle/>
                    <a:p>
                      <a:pPr algn="l"/>
                      <a:r>
                        <a:rPr sz="800" b="1" i="0">
                          <a:solidFill>
                            <a:srgbClr val="FFFFFF"/>
                          </a:solidFill>
                          <a:latin typeface="Arial"/>
                        </a:rPr>
                        <a:t>Multi-Agent (ours)</a:t>
                      </a:r>
                    </a:p>
                  </a:txBody>
                  <a:tcPr marL="54864" marR="54864" marT="27432" marB="27432" anchor="ctr">
                    <a:solidFill>
                      <a:srgbClr val="058DC7"/>
                    </a:solidFill>
                  </a:tcPr>
                </a:tc>
              </a:tr>
              <a:tr h="283464">
                <a:tc>
                  <a:txBody>
                    <a:bodyPr wrap="square"/>
                    <a:lstStyle/>
                    <a:p>
                      <a:pPr algn="l"/>
                      <a:r>
                        <a:rPr sz="800" b="1" i="0">
                          <a:solidFill>
                            <a:srgbClr val="222222"/>
                          </a:solidFill>
                          <a:latin typeface="Arial"/>
                        </a:rPr>
                        <a:t>Tech Spec</a:t>
                      </a:r>
                    </a:p>
                  </a:txBody>
                  <a:tcPr marL="54864" marR="54864" marT="27432" marB="27432" anchor="ctr">
                    <a:solidFill>
                      <a:srgbClr val="FFFFFF"/>
                    </a:solidFill>
                  </a:tcPr>
                </a:tc>
                <a:tc>
                  <a:txBody>
                    <a:bodyPr wrap="square"/>
                    <a:lstStyle/>
                    <a:p>
                      <a:pPr algn="l"/>
                      <a:r>
                        <a:rPr sz="800" b="0" i="0">
                          <a:solidFill>
                            <a:srgbClr val="222222"/>
                          </a:solidFill>
                          <a:latin typeface="Arial"/>
                        </a:rPr>
                        <a:t>Processed SPARQL CQ Coverage</a:t>
                      </a:r>
                    </a:p>
                  </a:txBody>
                  <a:tcPr marL="54864" marR="54864" marT="27432" marB="27432" anchor="ctr">
                    <a:solidFill>
                      <a:srgbClr val="FFFFFF"/>
                    </a:solidFill>
                  </a:tcPr>
                </a:tc>
                <a:tc>
                  <a:txBody>
                    <a:bodyPr wrap="square"/>
                    <a:lstStyle/>
                    <a:p>
                      <a:pPr algn="l"/>
                      <a:r>
                        <a:rPr sz="800" b="0" i="0">
                          <a:solidFill>
                            <a:srgbClr val="222222"/>
                          </a:solidFill>
                          <a:latin typeface="Arial"/>
                        </a:rPr>
                        <a:t>not run</a:t>
                      </a:r>
                    </a:p>
                  </a:txBody>
                  <a:tcPr marL="54864" marR="54864" marT="27432" marB="27432" anchor="ctr">
                    <a:solidFill>
                      <a:srgbClr val="FFFFFF"/>
                    </a:solidFill>
                  </a:tcPr>
                </a:tc>
                <a:tc>
                  <a:txBody>
                    <a:bodyPr wrap="square"/>
                    <a:lstStyle/>
                    <a:p>
                      <a:pPr algn="l"/>
                      <a:r>
                        <a:rPr sz="800" b="0" i="0">
                          <a:solidFill>
                            <a:srgbClr val="222222"/>
                          </a:solidFill>
                          <a:latin typeface="Arial"/>
                        </a:rPr>
                        <a:t>.7020</a:t>
                      </a:r>
                    </a:p>
                  </a:txBody>
                  <a:tcPr marL="54864" marR="54864" marT="27432" marB="27432" anchor="ctr">
                    <a:solidFill>
                      <a:srgbClr val="FFFFFF"/>
                    </a:solidFill>
                  </a:tcPr>
                </a:tc>
              </a:tr>
              <a:tr h="283464">
                <a:tc>
                  <a:txBody>
                    <a:bodyPr wrap="square"/>
                    <a:lstStyle/>
                    <a:p>
                      <a:pPr algn="l"/>
                      <a:r>
                        <a:rPr sz="800" b="1" i="0">
                          <a:solidFill>
                            <a:srgbClr val="222222"/>
                          </a:solidFill>
                          <a:latin typeface="Arial"/>
                        </a:rPr>
                        <a:t/>
                      </a:r>
                    </a:p>
                  </a:txBody>
                  <a:tcPr marL="54864" marR="54864" marT="27432" marB="27432" anchor="ctr">
                    <a:solidFill>
                      <a:srgbClr val="F3F3F3"/>
                    </a:solidFill>
                  </a:tcPr>
                </a:tc>
                <a:tc>
                  <a:txBody>
                    <a:bodyPr wrap="square"/>
                    <a:lstStyle/>
                    <a:p>
                      <a:pPr algn="l"/>
                      <a:r>
                        <a:rPr sz="800" b="0" i="0">
                          <a:solidFill>
                            <a:srgbClr val="222222"/>
                          </a:solidFill>
                          <a:latin typeface="Arial"/>
                        </a:rPr>
                        <a:t>RAG CQ Coverage</a:t>
                      </a:r>
                    </a:p>
                  </a:txBody>
                  <a:tcPr marL="54864" marR="54864" marT="27432" marB="27432" anchor="ctr">
                    <a:solidFill>
                      <a:srgbClr val="F3F3F3"/>
                    </a:solidFill>
                  </a:tcPr>
                </a:tc>
                <a:tc>
                  <a:txBody>
                    <a:bodyPr wrap="square"/>
                    <a:lstStyle/>
                    <a:p>
                      <a:pPr algn="l"/>
                      <a:r>
                        <a:rPr sz="800" b="0" i="0">
                          <a:solidFill>
                            <a:srgbClr val="222222"/>
                          </a:solidFill>
                          <a:latin typeface="Arial"/>
                        </a:rPr>
                        <a:t>not run</a:t>
                      </a:r>
                    </a:p>
                  </a:txBody>
                  <a:tcPr marL="54864" marR="54864" marT="27432" marB="27432" anchor="ctr">
                    <a:solidFill>
                      <a:srgbClr val="F3F3F3"/>
                    </a:solidFill>
                  </a:tcPr>
                </a:tc>
                <a:tc>
                  <a:txBody>
                    <a:bodyPr wrap="square"/>
                    <a:lstStyle/>
                    <a:p>
                      <a:pPr algn="l"/>
                      <a:r>
                        <a:rPr sz="800" b="0" i="0">
                          <a:solidFill>
                            <a:srgbClr val="222222"/>
                          </a:solidFill>
                          <a:latin typeface="Arial"/>
                        </a:rPr>
                        <a:t>.6083</a:t>
                      </a:r>
                    </a:p>
                  </a:txBody>
                  <a:tcPr marL="54864" marR="54864" marT="27432" marB="27432" anchor="ctr">
                    <a:solidFill>
                      <a:srgbClr val="F3F3F3"/>
                    </a:solidFill>
                  </a:tcPr>
                </a:tc>
              </a:tr>
              <a:tr h="283464">
                <a:tc>
                  <a:txBody>
                    <a:bodyPr wrap="square"/>
                    <a:lstStyle/>
                    <a:p>
                      <a:pPr algn="l"/>
                      <a:r>
                        <a:rPr sz="800" b="1" i="0">
                          <a:solidFill>
                            <a:srgbClr val="222222"/>
                          </a:solidFill>
                          <a:latin typeface="Arial"/>
                        </a:rPr>
                        <a:t>Product Desc.</a:t>
                      </a:r>
                    </a:p>
                  </a:txBody>
                  <a:tcPr marL="54864" marR="54864" marT="27432" marB="27432" anchor="ctr">
                    <a:solidFill>
                      <a:srgbClr val="FFFFFF"/>
                    </a:solidFill>
                  </a:tcPr>
                </a:tc>
                <a:tc>
                  <a:txBody>
                    <a:bodyPr wrap="square"/>
                    <a:lstStyle/>
                    <a:p>
                      <a:pPr algn="l"/>
                      <a:r>
                        <a:rPr sz="800" b="0" i="0">
                          <a:solidFill>
                            <a:srgbClr val="222222"/>
                          </a:solidFill>
                          <a:latin typeface="Arial"/>
                        </a:rPr>
                        <a:t>Processed SPARQL CQ Coverage</a:t>
                      </a:r>
                    </a:p>
                  </a:txBody>
                  <a:tcPr marL="54864" marR="54864" marT="27432" marB="27432" anchor="ctr">
                    <a:solidFill>
                      <a:srgbClr val="FFFFFF"/>
                    </a:solidFill>
                  </a:tcPr>
                </a:tc>
                <a:tc>
                  <a:txBody>
                    <a:bodyPr wrap="square"/>
                    <a:lstStyle/>
                    <a:p>
                      <a:pPr algn="l"/>
                      <a:r>
                        <a:rPr sz="800" b="0" i="0">
                          <a:solidFill>
                            <a:srgbClr val="222222"/>
                          </a:solidFill>
                          <a:latin typeface="Arial"/>
                        </a:rPr>
                        <a:t>not run</a:t>
                      </a:r>
                    </a:p>
                  </a:txBody>
                  <a:tcPr marL="54864" marR="54864" marT="27432" marB="27432" anchor="ctr">
                    <a:solidFill>
                      <a:srgbClr val="FFFFFF"/>
                    </a:solidFill>
                  </a:tcPr>
                </a:tc>
                <a:tc>
                  <a:txBody>
                    <a:bodyPr wrap="square"/>
                    <a:lstStyle/>
                    <a:p>
                      <a:pPr algn="l"/>
                      <a:r>
                        <a:rPr sz="800" b="0" i="0">
                          <a:solidFill>
                            <a:srgbClr val="222222"/>
                          </a:solidFill>
                          <a:latin typeface="Arial"/>
                        </a:rPr>
                        <a:t>.8580</a:t>
                      </a:r>
                    </a:p>
                  </a:txBody>
                  <a:tcPr marL="54864" marR="54864" marT="27432" marB="27432" anchor="ctr">
                    <a:solidFill>
                      <a:srgbClr val="FFFFFF"/>
                    </a:solidFill>
                  </a:tcPr>
                </a:tc>
              </a:tr>
              <a:tr h="283464">
                <a:tc>
                  <a:txBody>
                    <a:bodyPr wrap="square"/>
                    <a:lstStyle/>
                    <a:p>
                      <a:pPr algn="l"/>
                      <a:r>
                        <a:rPr sz="800" b="1" i="0">
                          <a:solidFill>
                            <a:srgbClr val="222222"/>
                          </a:solidFill>
                          <a:latin typeface="Arial"/>
                        </a:rPr>
                        <a:t/>
                      </a:r>
                    </a:p>
                  </a:txBody>
                  <a:tcPr marL="54864" marR="54864" marT="27432" marB="27432" anchor="ctr">
                    <a:solidFill>
                      <a:srgbClr val="F3F3F3"/>
                    </a:solidFill>
                  </a:tcPr>
                </a:tc>
                <a:tc>
                  <a:txBody>
                    <a:bodyPr wrap="square"/>
                    <a:lstStyle/>
                    <a:p>
                      <a:pPr algn="l"/>
                      <a:r>
                        <a:rPr sz="800" b="0" i="0">
                          <a:solidFill>
                            <a:srgbClr val="222222"/>
                          </a:solidFill>
                          <a:latin typeface="Arial"/>
                        </a:rPr>
                        <a:t>RAG CQ Coverage</a:t>
                      </a:r>
                    </a:p>
                  </a:txBody>
                  <a:tcPr marL="54864" marR="54864" marT="27432" marB="27432" anchor="ctr">
                    <a:solidFill>
                      <a:srgbClr val="F3F3F3"/>
                    </a:solidFill>
                  </a:tcPr>
                </a:tc>
                <a:tc>
                  <a:txBody>
                    <a:bodyPr wrap="square"/>
                    <a:lstStyle/>
                    <a:p>
                      <a:pPr algn="l"/>
                      <a:r>
                        <a:rPr sz="800" b="0" i="0">
                          <a:solidFill>
                            <a:srgbClr val="222222"/>
                          </a:solidFill>
                          <a:latin typeface="Arial"/>
                        </a:rPr>
                        <a:t>not run</a:t>
                      </a:r>
                    </a:p>
                  </a:txBody>
                  <a:tcPr marL="54864" marR="54864" marT="27432" marB="27432" anchor="ctr">
                    <a:solidFill>
                      <a:srgbClr val="F3F3F3"/>
                    </a:solidFill>
                  </a:tcPr>
                </a:tc>
                <a:tc>
                  <a:txBody>
                    <a:bodyPr wrap="square"/>
                    <a:lstStyle/>
                    <a:p>
                      <a:pPr algn="l"/>
                      <a:r>
                        <a:rPr sz="800" b="0" i="0">
                          <a:solidFill>
                            <a:srgbClr val="222222"/>
                          </a:solidFill>
                          <a:latin typeface="Arial"/>
                        </a:rPr>
                        <a:t>.5917</a:t>
                      </a:r>
                    </a:p>
                  </a:txBody>
                  <a:tcPr marL="54864" marR="54864" marT="27432" marB="27432" anchor="ctr">
                    <a:solidFill>
                      <a:srgbClr val="F3F3F3"/>
                    </a:solidFill>
                  </a:tcPr>
                </a:tc>
              </a:tr>
              <a:tr h="283464">
                <a:tc>
                  <a:txBody>
                    <a:bodyPr wrap="square"/>
                    <a:lstStyle/>
                    <a:p>
                      <a:pPr algn="l"/>
                      <a:r>
                        <a:rPr sz="800" b="1" i="0">
                          <a:solidFill>
                            <a:srgbClr val="222222"/>
                          </a:solidFill>
                          <a:latin typeface="Arial"/>
                        </a:rPr>
                        <a:t>Price List</a:t>
                      </a:r>
                    </a:p>
                  </a:txBody>
                  <a:tcPr marL="54864" marR="54864" marT="27432" marB="27432" anchor="ctr">
                    <a:solidFill>
                      <a:srgbClr val="FFFFFF"/>
                    </a:solidFill>
                  </a:tcPr>
                </a:tc>
                <a:tc>
                  <a:txBody>
                    <a:bodyPr wrap="square"/>
                    <a:lstStyle/>
                    <a:p>
                      <a:pPr algn="l"/>
                      <a:r>
                        <a:rPr sz="800" b="0" i="0">
                          <a:solidFill>
                            <a:srgbClr val="222222"/>
                          </a:solidFill>
                          <a:latin typeface="Arial"/>
                        </a:rPr>
                        <a:t>Processed SPARQL CQ Coverage</a:t>
                      </a:r>
                    </a:p>
                  </a:txBody>
                  <a:tcPr marL="54864" marR="54864" marT="27432" marB="27432" anchor="ctr">
                    <a:solidFill>
                      <a:srgbClr val="FFFFFF"/>
                    </a:solidFill>
                  </a:tcPr>
                </a:tc>
                <a:tc>
                  <a:txBody>
                    <a:bodyPr wrap="square"/>
                    <a:lstStyle/>
                    <a:p>
                      <a:pPr algn="l"/>
                      <a:r>
                        <a:rPr sz="800" b="0" i="0">
                          <a:solidFill>
                            <a:srgbClr val="222222"/>
                          </a:solidFill>
                          <a:latin typeface="Arial"/>
                        </a:rPr>
                        <a:t>not run</a:t>
                      </a:r>
                    </a:p>
                  </a:txBody>
                  <a:tcPr marL="54864" marR="54864" marT="27432" marB="27432" anchor="ctr">
                    <a:solidFill>
                      <a:srgbClr val="FFFFFF"/>
                    </a:solidFill>
                  </a:tcPr>
                </a:tc>
                <a:tc>
                  <a:txBody>
                    <a:bodyPr wrap="square"/>
                    <a:lstStyle/>
                    <a:p>
                      <a:pPr algn="l"/>
                      <a:r>
                        <a:rPr sz="800" b="0" i="0">
                          <a:solidFill>
                            <a:srgbClr val="222222"/>
                          </a:solidFill>
                          <a:latin typeface="Arial"/>
                        </a:rPr>
                        <a:t>.8200</a:t>
                      </a:r>
                    </a:p>
                  </a:txBody>
                  <a:tcPr marL="54864" marR="54864" marT="27432" marB="27432" anchor="ctr">
                    <a:solidFill>
                      <a:srgbClr val="FFFFFF"/>
                    </a:solidFill>
                  </a:tcPr>
                </a:tc>
              </a:tr>
              <a:tr h="283464">
                <a:tc>
                  <a:txBody>
                    <a:bodyPr wrap="square"/>
                    <a:lstStyle/>
                    <a:p>
                      <a:pPr algn="l"/>
                      <a:r>
                        <a:rPr sz="800" b="1" i="0">
                          <a:solidFill>
                            <a:srgbClr val="222222"/>
                          </a:solidFill>
                          <a:latin typeface="Arial"/>
                        </a:rPr>
                        <a:t/>
                      </a:r>
                    </a:p>
                  </a:txBody>
                  <a:tcPr marL="54864" marR="54864" marT="27432" marB="27432" anchor="ctr">
                    <a:solidFill>
                      <a:srgbClr val="F3F3F3"/>
                    </a:solidFill>
                  </a:tcPr>
                </a:tc>
                <a:tc>
                  <a:txBody>
                    <a:bodyPr wrap="square"/>
                    <a:lstStyle/>
                    <a:p>
                      <a:pPr algn="l"/>
                      <a:r>
                        <a:rPr sz="800" b="0" i="0">
                          <a:solidFill>
                            <a:srgbClr val="222222"/>
                          </a:solidFill>
                          <a:latin typeface="Arial"/>
                        </a:rPr>
                        <a:t>RAG CQ Coverage</a:t>
                      </a:r>
                    </a:p>
                  </a:txBody>
                  <a:tcPr marL="54864" marR="54864" marT="27432" marB="27432" anchor="ctr">
                    <a:solidFill>
                      <a:srgbClr val="F3F3F3"/>
                    </a:solidFill>
                  </a:tcPr>
                </a:tc>
                <a:tc>
                  <a:txBody>
                    <a:bodyPr wrap="square"/>
                    <a:lstStyle/>
                    <a:p>
                      <a:pPr algn="l"/>
                      <a:r>
                        <a:rPr sz="800" b="0" i="0">
                          <a:solidFill>
                            <a:srgbClr val="222222"/>
                          </a:solidFill>
                          <a:latin typeface="Arial"/>
                        </a:rPr>
                        <a:t>not run</a:t>
                      </a:r>
                    </a:p>
                  </a:txBody>
                  <a:tcPr marL="54864" marR="54864" marT="27432" marB="27432" anchor="ctr">
                    <a:solidFill>
                      <a:srgbClr val="F3F3F3"/>
                    </a:solidFill>
                  </a:tcPr>
                </a:tc>
                <a:tc>
                  <a:txBody>
                    <a:bodyPr wrap="square"/>
                    <a:lstStyle/>
                    <a:p>
                      <a:pPr algn="l"/>
                      <a:r>
                        <a:rPr sz="800" b="0" i="0">
                          <a:solidFill>
                            <a:srgbClr val="222222"/>
                          </a:solidFill>
                          <a:latin typeface="Arial"/>
                        </a:rPr>
                        <a:t>.3417</a:t>
                      </a:r>
                    </a:p>
                  </a:txBody>
                  <a:tcPr marL="54864" marR="54864" marT="27432" marB="27432" anchor="ctr">
                    <a:solidFill>
                      <a:srgbClr val="F3F3F3"/>
                    </a:solidFill>
                  </a:tcPr>
                </a:tc>
              </a:tr>
              <a:tr h="283464">
                <a:tc>
                  <a:txBody>
                    <a:bodyPr wrap="square"/>
                    <a:lstStyle/>
                    <a:p>
                      <a:pPr algn="l"/>
                      <a:r>
                        <a:rPr sz="800" b="1" i="0">
                          <a:solidFill>
                            <a:srgbClr val="222222"/>
                          </a:solidFill>
                          <a:latin typeface="Arial"/>
                        </a:rPr>
                        <a:t>Service Levels</a:t>
                      </a:r>
                    </a:p>
                  </a:txBody>
                  <a:tcPr marL="54864" marR="54864" marT="27432" marB="27432" anchor="ctr">
                    <a:solidFill>
                      <a:srgbClr val="FFFFFF"/>
                    </a:solidFill>
                  </a:tcPr>
                </a:tc>
                <a:tc>
                  <a:txBody>
                    <a:bodyPr wrap="square"/>
                    <a:lstStyle/>
                    <a:p>
                      <a:pPr algn="l"/>
                      <a:r>
                        <a:rPr sz="800" b="0" i="0">
                          <a:solidFill>
                            <a:srgbClr val="222222"/>
                          </a:solidFill>
                          <a:latin typeface="Arial"/>
                        </a:rPr>
                        <a:t>Processed SPARQL CQ Coverage</a:t>
                      </a:r>
                    </a:p>
                  </a:txBody>
                  <a:tcPr marL="54864" marR="54864" marT="27432" marB="27432" anchor="ctr">
                    <a:solidFill>
                      <a:srgbClr val="FFFFFF"/>
                    </a:solidFill>
                  </a:tcPr>
                </a:tc>
                <a:tc>
                  <a:txBody>
                    <a:bodyPr wrap="square"/>
                    <a:lstStyle/>
                    <a:p>
                      <a:pPr algn="l"/>
                      <a:r>
                        <a:rPr sz="800" b="0" i="0">
                          <a:solidFill>
                            <a:srgbClr val="222222"/>
                          </a:solidFill>
                          <a:latin typeface="Arial"/>
                        </a:rPr>
                        <a:t>not run</a:t>
                      </a:r>
                    </a:p>
                  </a:txBody>
                  <a:tcPr marL="54864" marR="54864" marT="27432" marB="27432" anchor="ctr">
                    <a:solidFill>
                      <a:srgbClr val="FFFFFF"/>
                    </a:solidFill>
                  </a:tcPr>
                </a:tc>
                <a:tc>
                  <a:txBody>
                    <a:bodyPr wrap="square"/>
                    <a:lstStyle/>
                    <a:p>
                      <a:pPr algn="l"/>
                      <a:r>
                        <a:rPr sz="800" b="0" i="0">
                          <a:solidFill>
                            <a:srgbClr val="222222"/>
                          </a:solidFill>
                          <a:latin typeface="Arial"/>
                        </a:rPr>
                        <a:t>.8990</a:t>
                      </a:r>
                    </a:p>
                  </a:txBody>
                  <a:tcPr marL="54864" marR="54864" marT="27432" marB="27432" anchor="ctr">
                    <a:solidFill>
                      <a:srgbClr val="FFFFFF"/>
                    </a:solidFill>
                  </a:tcPr>
                </a:tc>
              </a:tr>
              <a:tr h="283464">
                <a:tc>
                  <a:txBody>
                    <a:bodyPr wrap="square"/>
                    <a:lstStyle/>
                    <a:p>
                      <a:pPr algn="l"/>
                      <a:r>
                        <a:rPr sz="800" b="1" i="0">
                          <a:solidFill>
                            <a:srgbClr val="222222"/>
                          </a:solidFill>
                          <a:latin typeface="Arial"/>
                        </a:rPr>
                        <a:t/>
                      </a:r>
                    </a:p>
                  </a:txBody>
                  <a:tcPr marL="54864" marR="54864" marT="27432" marB="27432" anchor="ctr">
                    <a:solidFill>
                      <a:srgbClr val="F3F3F3"/>
                    </a:solidFill>
                  </a:tcPr>
                </a:tc>
                <a:tc>
                  <a:txBody>
                    <a:bodyPr wrap="square"/>
                    <a:lstStyle/>
                    <a:p>
                      <a:pPr algn="l"/>
                      <a:r>
                        <a:rPr sz="800" b="0" i="0">
                          <a:solidFill>
                            <a:srgbClr val="222222"/>
                          </a:solidFill>
                          <a:latin typeface="Arial"/>
                        </a:rPr>
                        <a:t>RAG CQ Coverage</a:t>
                      </a:r>
                    </a:p>
                  </a:txBody>
                  <a:tcPr marL="54864" marR="54864" marT="27432" marB="27432" anchor="ctr">
                    <a:solidFill>
                      <a:srgbClr val="F3F3F3"/>
                    </a:solidFill>
                  </a:tcPr>
                </a:tc>
                <a:tc>
                  <a:txBody>
                    <a:bodyPr wrap="square"/>
                    <a:lstStyle/>
                    <a:p>
                      <a:pPr algn="l"/>
                      <a:r>
                        <a:rPr sz="800" b="0" i="0">
                          <a:solidFill>
                            <a:srgbClr val="222222"/>
                          </a:solidFill>
                          <a:latin typeface="Arial"/>
                        </a:rPr>
                        <a:t>not run</a:t>
                      </a:r>
                    </a:p>
                  </a:txBody>
                  <a:tcPr marL="54864" marR="54864" marT="27432" marB="27432" anchor="ctr">
                    <a:solidFill>
                      <a:srgbClr val="F3F3F3"/>
                    </a:solidFill>
                  </a:tcPr>
                </a:tc>
                <a:tc>
                  <a:txBody>
                    <a:bodyPr wrap="square"/>
                    <a:lstStyle/>
                    <a:p>
                      <a:pPr algn="l"/>
                      <a:r>
                        <a:rPr sz="800" b="0" i="0">
                          <a:solidFill>
                            <a:srgbClr val="222222"/>
                          </a:solidFill>
                          <a:latin typeface="Arial"/>
                        </a:rPr>
                        <a:t>.7333</a:t>
                      </a:r>
                    </a:p>
                  </a:txBody>
                  <a:tcPr marL="54864" marR="54864" marT="27432" marB="27432" anchor="ctr">
                    <a:solidFill>
                      <a:srgbClr val="F3F3F3"/>
                    </a:solidFill>
                  </a:tcPr>
                </a:tc>
              </a:tr>
            </a:tbl>
          </a:graphicData>
        </a:graphic>
      </p:graphicFrame>
      <p:sp>
        <p:nvSpPr>
          <p:cNvPr id="5" name="Rounded Rectangle 4"/>
          <p:cNvSpPr/>
          <p:nvPr/>
        </p:nvSpPr>
        <p:spPr>
          <a:xfrm>
            <a:off x="310896" y="4069080"/>
            <a:ext cx="8522208" cy="77724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pPr>
            <a:r>
              <a:rPr sz="1000" b="1" i="0">
                <a:solidFill>
                  <a:srgbClr val="222222"/>
                </a:solidFill>
                <a:latin typeface="Arial"/>
              </a:rPr>
              <a:t>Same chart and table layout as the paper's Table 4. </a:t>
            </a:r>
            <a:r>
              <a:rPr sz="1000" b="0" i="0">
                <a:solidFill>
                  <a:srgbClr val="222222"/>
                </a:solidFill>
                <a:latin typeface="Arial"/>
              </a:rPr>
              <a:t>“Processed” = an empty query result counts as 0, as in the paper. We did not run the paper's direct-generation baseline, so that column is empty; RAG coverage was run on the existing ontologies (nothing was regenerated).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0896" y="201168"/>
            <a:ext cx="8522208" cy="566928"/>
          </a:xfrm>
        </p:spPr>
        <p:txBody>
          <a:bodyPr>
            <a:normAutofit/>
          </a:bodyPr>
          <a:lstStyle/>
          <a:p>
            <a:r>
              <a:rPr sz="2600">
                <a:solidFill>
                  <a:srgbClr val="222222"/>
                </a:solidFill>
                <a:latin typeface="Arial"/>
              </a:rPr>
              <a:t>Known problems and next steps</a:t>
            </a:r>
          </a:p>
        </p:txBody>
      </p:sp>
      <p:sp>
        <p:nvSpPr>
          <p:cNvPr id="3" name="Rounded Rectangle 2"/>
          <p:cNvSpPr/>
          <p:nvPr/>
        </p:nvSpPr>
        <p:spPr>
          <a:xfrm>
            <a:off x="310896" y="896112"/>
            <a:ext cx="2606040" cy="694944"/>
          </a:xfrm>
          <a:prstGeom prst="roundRect">
            <a:avLst>
              <a:gd name="adj" fmla="val 8000"/>
            </a:avLst>
          </a:prstGeom>
          <a:solidFill>
            <a:srgbClr val="ED5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150" b="1" i="0">
                <a:solidFill>
                  <a:srgbClr val="FFFFFF"/>
                </a:solidFill>
                <a:latin typeface="Arial"/>
              </a:rPr>
              <a:t>Price List is in another namespace</a:t>
            </a:r>
          </a:p>
        </p:txBody>
      </p:sp>
      <p:sp>
        <p:nvSpPr>
          <p:cNvPr id="4" name="Rounded Rectangle 3"/>
          <p:cNvSpPr/>
          <p:nvPr/>
        </p:nvSpPr>
        <p:spPr>
          <a:xfrm>
            <a:off x="3017520" y="896112"/>
            <a:ext cx="5815584" cy="694944"/>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050" b="0" i="0">
                <a:solidFill>
                  <a:srgbClr val="222222"/>
                </a:solidFill>
                <a:latin typeface="Arial"/>
              </a:rPr>
              <a:t>Its file uses a different namespace from the other three (cause not traced). The logs show the source-clause check flagging its :sourceClause values as “unsupported”, and only ~20% of its facts still have one. Its AVC, CVC… copies also count as duplicates. Fix: re-run it, or re-write the namespace and add the clauses back.</a:t>
            </a:r>
          </a:p>
        </p:txBody>
      </p:sp>
      <p:sp>
        <p:nvSpPr>
          <p:cNvPr id="5" name="Rounded Rectangle 4"/>
          <p:cNvSpPr/>
          <p:nvPr/>
        </p:nvSpPr>
        <p:spPr>
          <a:xfrm>
            <a:off x="310896" y="1682495"/>
            <a:ext cx="2606040" cy="694944"/>
          </a:xfrm>
          <a:prstGeom prst="roundRect">
            <a:avLst>
              <a:gd name="adj" fmla="val 8000"/>
            </a:avLst>
          </a:prstGeom>
          <a:solidFill>
            <a:srgbClr val="ED5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150" b="1" i="0">
                <a:solidFill>
                  <a:srgbClr val="FFFFFF"/>
                </a:solidFill>
                <a:latin typeface="Arial"/>
              </a:rPr>
              <a:t>Duplicates</a:t>
            </a:r>
          </a:p>
        </p:txBody>
      </p:sp>
      <p:sp>
        <p:nvSpPr>
          <p:cNvPr id="6" name="Rounded Rectangle 5"/>
          <p:cNvSpPr/>
          <p:nvPr/>
        </p:nvSpPr>
        <p:spPr>
          <a:xfrm>
            <a:off x="3017520" y="1682495"/>
            <a:ext cx="5815584" cy="694944"/>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050" b="0" i="0">
                <a:solidFill>
                  <a:srgbClr val="222222"/>
                </a:solidFill>
                <a:latin typeface="Arial"/>
              </a:rPr>
              <a:t>32 near-duplicate class pairs (Cl_AVC vs AVC). The model invents a variant instead of reusing. The paper reports the same weakness.</a:t>
            </a:r>
          </a:p>
        </p:txBody>
      </p:sp>
      <p:sp>
        <p:nvSpPr>
          <p:cNvPr id="7" name="Rounded Rectangle 6"/>
          <p:cNvSpPr/>
          <p:nvPr/>
        </p:nvSpPr>
        <p:spPr>
          <a:xfrm>
            <a:off x="310896" y="2468879"/>
            <a:ext cx="2606040" cy="694944"/>
          </a:xfrm>
          <a:prstGeom prst="roundRect">
            <a:avLst>
              <a:gd name="adj" fmla="val 8000"/>
            </a:avLst>
          </a:prstGeom>
          <a:solidFill>
            <a:srgbClr val="ED5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150" b="1" i="0">
                <a:solidFill>
                  <a:srgbClr val="FFFFFF"/>
                </a:solidFill>
                <a:latin typeface="Arial"/>
              </a:rPr>
              <a:t>Some pages are missing</a:t>
            </a:r>
          </a:p>
        </p:txBody>
      </p:sp>
      <p:sp>
        <p:nvSpPr>
          <p:cNvPr id="8" name="Rounded Rectangle 7"/>
          <p:cNvSpPr/>
          <p:nvPr/>
        </p:nvSpPr>
        <p:spPr>
          <a:xfrm>
            <a:off x="3017520" y="2468879"/>
            <a:ext cx="5815584" cy="694944"/>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050" b="0" i="0">
                <a:solidFill>
                  <a:srgbClr val="222222"/>
                </a:solidFill>
                <a:latin typeface="Arial"/>
              </a:rPr>
              <a:t>Pages 32, 41, 51 (Tech Spec); 9 (Product Desc.); 8 (Price List) failed or added nothing. Questions about those pages score far lower (Tech Spec 0.09, Product Desc. 0.55, Price List 0.79).</a:t>
            </a:r>
          </a:p>
        </p:txBody>
      </p:sp>
      <p:sp>
        <p:nvSpPr>
          <p:cNvPr id="9" name="Rounded Rectangle 8"/>
          <p:cNvSpPr/>
          <p:nvPr/>
        </p:nvSpPr>
        <p:spPr>
          <a:xfrm>
            <a:off x="310896" y="3255263"/>
            <a:ext cx="2606040" cy="694944"/>
          </a:xfrm>
          <a:prstGeom prst="roundRect">
            <a:avLst>
              <a:gd name="adj" fmla="val 8000"/>
            </a:avLst>
          </a:prstGeom>
          <a:solidFill>
            <a:srgbClr val="ED5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150" b="1" i="0">
                <a:solidFill>
                  <a:srgbClr val="FFFFFF"/>
                </a:solidFill>
                <a:latin typeface="Arial"/>
              </a:rPr>
              <a:t>Test questions are not fully blind</a:t>
            </a:r>
          </a:p>
        </p:txBody>
      </p:sp>
      <p:sp>
        <p:nvSpPr>
          <p:cNvPr id="10" name="Rounded Rectangle 9"/>
          <p:cNvSpPr/>
          <p:nvPr/>
        </p:nvSpPr>
        <p:spPr>
          <a:xfrm>
            <a:off x="3017520" y="3255263"/>
            <a:ext cx="5815584" cy="694944"/>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050" b="0" i="0">
                <a:solidFill>
                  <a:srgbClr val="222222"/>
                </a:solidFill>
                <a:latin typeface="Arial"/>
              </a:rPr>
              <a:t>One policy example leaked a value (fixed) and a few reference values sit in the seed, so the 8 held-out questions are only partly clean.</a:t>
            </a:r>
          </a:p>
        </p:txBody>
      </p:sp>
      <p:sp>
        <p:nvSpPr>
          <p:cNvPr id="11" name="Rounded Rectangle 10"/>
          <p:cNvSpPr/>
          <p:nvPr/>
        </p:nvSpPr>
        <p:spPr>
          <a:xfrm>
            <a:off x="310896" y="4041648"/>
            <a:ext cx="2606040" cy="694944"/>
          </a:xfrm>
          <a:prstGeom prst="roundRect">
            <a:avLst>
              <a:gd name="adj" fmla="val 8000"/>
            </a:avLst>
          </a:prstGeom>
          <a:solidFill>
            <a:srgbClr val="ED5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150" b="1" i="0">
                <a:solidFill>
                  <a:srgbClr val="FFFFFF"/>
                </a:solidFill>
                <a:latin typeface="Arial"/>
              </a:rPr>
              <a:t>Small evaluation</a:t>
            </a:r>
          </a:p>
        </p:txBody>
      </p:sp>
      <p:sp>
        <p:nvSpPr>
          <p:cNvPr id="12" name="Rounded Rectangle 11"/>
          <p:cNvSpPr/>
          <p:nvPr/>
        </p:nvSpPr>
        <p:spPr>
          <a:xfrm>
            <a:off x="3017520" y="4041648"/>
            <a:ext cx="5815584" cy="694944"/>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spcAft>
                <a:spcPts val="0"/>
              </a:spcAft>
            </a:pPr>
            <a:r>
              <a:rPr sz="1050" b="0" i="0">
                <a:solidFill>
                  <a:srgbClr val="222222"/>
                </a:solidFill>
                <a:latin typeface="Arial"/>
              </a:rPr>
              <a:t>60 CQs per document, one run, one judge model, questions from the same pages the ontology was built from. No direct-baseline comparison.</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